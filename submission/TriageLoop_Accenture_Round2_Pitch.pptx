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fa43b1bab64219" /><Relationship Type="http://schemas.openxmlformats.org/officeDocument/2006/relationships/extended-properties" Target="/docProps/app.xml" Id="R13c443d1aafd4494" /><Relationship Type="http://schemas.openxmlformats.org/officeDocument/2006/relationships/officeDocument" Target="/ppt/presentation.xml" Id="R078d0a75b4fd4754" /></Relationships>
</file>

<file path=ppt/presentation.xml><?xml version="1.0" encoding="utf-8"?>
<p:presentation xmlns:p="http://schemas.openxmlformats.org/presentationml/2006/main">
  <p:sldMasterIdLst>
    <p:sldMasterId xmlns:r="http://schemas.openxmlformats.org/officeDocument/2006/relationships" id="2147483648" r:id="Reb1ad6b2c6de4f0e"/>
  </p:sldMasterIdLst>
  <p:notesMasterIdLst>
    <p:notesMasterId xmlns:r="http://schemas.openxmlformats.org/officeDocument/2006/relationships" r:id="Rf23da0fad49f4218"/>
  </p:notesMasterIdLst>
  <p:sldIdLst>
    <p:sldId xmlns:r="http://schemas.openxmlformats.org/officeDocument/2006/relationships" id="256" r:id="Rd3bf71071edf48d0"/>
    <p:sldId xmlns:r="http://schemas.openxmlformats.org/officeDocument/2006/relationships" id="257" r:id="Re6e40cf195c54c0c"/>
    <p:sldId xmlns:r="http://schemas.openxmlformats.org/officeDocument/2006/relationships" id="258" r:id="R319fcf774124443d"/>
    <p:sldId xmlns:r="http://schemas.openxmlformats.org/officeDocument/2006/relationships" id="259" r:id="R98264d756f844022"/>
    <p:sldId xmlns:r="http://schemas.openxmlformats.org/officeDocument/2006/relationships" id="260" r:id="Re60ee1dd7cc24d11"/>
    <p:sldId xmlns:r="http://schemas.openxmlformats.org/officeDocument/2006/relationships" id="261" r:id="Rbf1ae1bdaee34a58"/>
    <p:sldId xmlns:r="http://schemas.openxmlformats.org/officeDocument/2006/relationships" id="262" r:id="Rdb2bd1fa717644ef"/>
    <p:sldId xmlns:r="http://schemas.openxmlformats.org/officeDocument/2006/relationships" id="263" r:id="Rf02560572a314f52"/>
    <p:sldId xmlns:r="http://schemas.openxmlformats.org/officeDocument/2006/relationships" id="264" r:id="Ra01d940ca5a640be"/>
    <p:sldId xmlns:r="http://schemas.openxmlformats.org/officeDocument/2006/relationships" id="265" r:id="R1da193ee0af942ec"/>
    <p:sldId xmlns:r="http://schemas.openxmlformats.org/officeDocument/2006/relationships" id="266" r:id="R5fb8ec83ac9548e0"/>
    <p:sldId xmlns:r="http://schemas.openxmlformats.org/officeDocument/2006/relationships" id="267" r:id="R5243c055532c4bc3"/>
    <p:sldId xmlns:r="http://schemas.openxmlformats.org/officeDocument/2006/relationships" id="268" r:id="R962ad82974c44ed9"/>
    <p:sldId xmlns:r="http://schemas.openxmlformats.org/officeDocument/2006/relationships" id="269" r:id="Rf95119f8b0fa446e"/>
    <p:sldId xmlns:r="http://schemas.openxmlformats.org/officeDocument/2006/relationships" id="270" r:id="Ra25c40790c6843f2"/>
    <p:sldId xmlns:r="http://schemas.openxmlformats.org/officeDocument/2006/relationships" id="271" r:id="R7a1a75231d664f5a"/>
    <p:sldId xmlns:r="http://schemas.openxmlformats.org/officeDocument/2006/relationships" id="272" r:id="Rcf96f640f04a4855"/>
    <p:sldId xmlns:r="http://schemas.openxmlformats.org/officeDocument/2006/relationships" id="273" r:id="R983c4ea4aa5042f7"/>
    <p:sldId xmlns:r="http://schemas.openxmlformats.org/officeDocument/2006/relationships" id="274" r:id="Rea824d55f4364f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836a7ec370547a7" /><Relationship Type="http://schemas.openxmlformats.org/officeDocument/2006/relationships/slideMaster" Target="/ppt/slideMasters/slideMaster1.xml" Id="Reb1ad6b2c6de4f0e" /><Relationship Type="http://schemas.openxmlformats.org/officeDocument/2006/relationships/notesMaster" Target="/ppt/notesMasters/notesMaster1.xml" Id="Rf23da0fad49f4218" /><Relationship Type="http://schemas.openxmlformats.org/officeDocument/2006/relationships/presProps" Target="/ppt/presProps.xml" Id="R9611449666934453" /><Relationship Type="http://schemas.openxmlformats.org/officeDocument/2006/relationships/tableStyles" Target="/ppt/tableStyles.xml" Id="R61e2f20752da4458" /><Relationship Type="http://schemas.openxmlformats.org/officeDocument/2006/relationships/slide" Target="/ppt/slides/slide1.xml" Id="Rd3bf71071edf48d0" /><Relationship Type="http://schemas.openxmlformats.org/officeDocument/2006/relationships/slide" Target="/ppt/slides/slide2.xml" Id="Re6e40cf195c54c0c" /><Relationship Type="http://schemas.openxmlformats.org/officeDocument/2006/relationships/slide" Target="/ppt/slides/slide3.xml" Id="R319fcf774124443d" /><Relationship Type="http://schemas.openxmlformats.org/officeDocument/2006/relationships/slide" Target="/ppt/slides/slide4.xml" Id="R98264d756f844022" /><Relationship Type="http://schemas.openxmlformats.org/officeDocument/2006/relationships/slide" Target="/ppt/slides/slide5.xml" Id="Re60ee1dd7cc24d11" /><Relationship Type="http://schemas.openxmlformats.org/officeDocument/2006/relationships/slide" Target="/ppt/slides/slide6.xml" Id="Rbf1ae1bdaee34a58" /><Relationship Type="http://schemas.openxmlformats.org/officeDocument/2006/relationships/slide" Target="/ppt/slides/slide7.xml" Id="Rdb2bd1fa717644ef" /><Relationship Type="http://schemas.openxmlformats.org/officeDocument/2006/relationships/slide" Target="/ppt/slides/slide8.xml" Id="Rf02560572a314f52" /><Relationship Type="http://schemas.openxmlformats.org/officeDocument/2006/relationships/slide" Target="/ppt/slides/slide9.xml" Id="Ra01d940ca5a640be" /><Relationship Type="http://schemas.openxmlformats.org/officeDocument/2006/relationships/slide" Target="/ppt/slides/slide10.xml" Id="R1da193ee0af942ec" /><Relationship Type="http://schemas.openxmlformats.org/officeDocument/2006/relationships/slide" Target="/ppt/slides/slide11.xml" Id="R5fb8ec83ac9548e0" /><Relationship Type="http://schemas.openxmlformats.org/officeDocument/2006/relationships/slide" Target="/ppt/slides/slide12.xml" Id="R5243c055532c4bc3" /><Relationship Type="http://schemas.openxmlformats.org/officeDocument/2006/relationships/slide" Target="/ppt/slides/slide13.xml" Id="R962ad82974c44ed9" /><Relationship Type="http://schemas.openxmlformats.org/officeDocument/2006/relationships/slide" Target="/ppt/slides/slide14.xml" Id="Rf95119f8b0fa446e" /><Relationship Type="http://schemas.openxmlformats.org/officeDocument/2006/relationships/slide" Target="/ppt/slides/slide15.xml" Id="Ra25c40790c6843f2" /><Relationship Type="http://schemas.openxmlformats.org/officeDocument/2006/relationships/slide" Target="/ppt/slides/slide16.xml" Id="R7a1a75231d664f5a" /><Relationship Type="http://schemas.openxmlformats.org/officeDocument/2006/relationships/slide" Target="/ppt/slides/slide17.xml" Id="Rcf96f640f04a4855" /><Relationship Type="http://schemas.openxmlformats.org/officeDocument/2006/relationships/slide" Target="/ppt/slides/slide18.xml" Id="R983c4ea4aa5042f7" /><Relationship Type="http://schemas.openxmlformats.org/officeDocument/2006/relationships/slide" Target="/ppt/slides/slide19.xml" Id="Rea824d55f4364f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09232bb2724d0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6fe2563677475a" /><Relationship Type="http://schemas.openxmlformats.org/officeDocument/2006/relationships/notesMaster" Target="/ppt/notesMasters/notesMaster1.xml" Id="Rab704688816b4ce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3aa840d0404102" /><Relationship Type="http://schemas.openxmlformats.org/officeDocument/2006/relationships/notesMaster" Target="/ppt/notesMasters/notesMaster1.xml" Id="R0b5288cb3e024f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841b12b0304c94" /><Relationship Type="http://schemas.openxmlformats.org/officeDocument/2006/relationships/notesMaster" Target="/ppt/notesMasters/notesMaster1.xml" Id="R3e38970e78d447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a29f93c6c5c4e70" /><Relationship Type="http://schemas.openxmlformats.org/officeDocument/2006/relationships/notesMaster" Target="/ppt/notesMasters/notesMaster1.xml" Id="R48a83d8b1eb24d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971ed541494916" /><Relationship Type="http://schemas.openxmlformats.org/officeDocument/2006/relationships/notesMaster" Target="/ppt/notesMasters/notesMaster1.xml" Id="R4a866feb1f3b40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e860339ea04ef6" /><Relationship Type="http://schemas.openxmlformats.org/officeDocument/2006/relationships/notesMaster" Target="/ppt/notesMasters/notesMaster1.xml" Id="Rc5ce8ed059cf40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183651dd3f4fde" /><Relationship Type="http://schemas.openxmlformats.org/officeDocument/2006/relationships/notesMaster" Target="/ppt/notesMasters/notesMaster1.xml" Id="Rf857b4c8be254e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dcebd94e7c4623" /><Relationship Type="http://schemas.openxmlformats.org/officeDocument/2006/relationships/notesMaster" Target="/ppt/notesMasters/notesMaster1.xml" Id="R281423c766b347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9f79cceaa04bd7" /><Relationship Type="http://schemas.openxmlformats.org/officeDocument/2006/relationships/notesMaster" Target="/ppt/notesMasters/notesMaster1.xml" Id="R7e8291fdf1d04cf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7c65647e891422e" /><Relationship Type="http://schemas.openxmlformats.org/officeDocument/2006/relationships/notesMaster" Target="/ppt/notesMasters/notesMaster1.xml" Id="Rb8138c301090456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e2b3be4f69b4feb" /><Relationship Type="http://schemas.openxmlformats.org/officeDocument/2006/relationships/notesMaster" Target="/ppt/notesMasters/notesMaster1.xml" Id="Rfce72a5629884cf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a30cd241e06490a" /><Relationship Type="http://schemas.openxmlformats.org/officeDocument/2006/relationships/notesMaster" Target="/ppt/notesMasters/notesMaster1.xml" Id="Ra74a5bbb0595403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770600271004ad0" /><Relationship Type="http://schemas.openxmlformats.org/officeDocument/2006/relationships/notesMaster" Target="/ppt/notesMasters/notesMaster1.xml" Id="R02942f3d6c184bb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fa8b5507ca34214" /><Relationship Type="http://schemas.openxmlformats.org/officeDocument/2006/relationships/notesMaster" Target="/ppt/notesMasters/notesMaster1.xml" Id="R2e3ec79247c34d3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08233cd66344668" /><Relationship Type="http://schemas.openxmlformats.org/officeDocument/2006/relationships/notesMaster" Target="/ppt/notesMasters/notesMaster1.xml" Id="R50ad1e74c79b456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e2303625d7b4e66" /><Relationship Type="http://schemas.openxmlformats.org/officeDocument/2006/relationships/notesMaster" Target="/ppt/notesMasters/notesMaster1.xml" Id="Reef101c61892448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b4a9c31c2d34974" /><Relationship Type="http://schemas.openxmlformats.org/officeDocument/2006/relationships/notesMaster" Target="/ppt/notesMasters/notesMaster1.xml" Id="Re720d2d4a4104a8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800e398374645b8" /><Relationship Type="http://schemas.openxmlformats.org/officeDocument/2006/relationships/notesMaster" Target="/ppt/notesMasters/notesMaster1.xml" Id="Red0353c12097449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7083b66370b4301" /><Relationship Type="http://schemas.openxmlformats.org/officeDocument/2006/relationships/notesMaster" Target="/ppt/notesMasters/notesMaster1.xml" Id="Ra791329076ad46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operating problem, not with AI. A triage category is a snapshot; the patient and the queue continue to change. TriageLoop makes that changing need operational as time and capacity.</a:t>
            </a:r>
          </a:p>
          <a:p xmlns:a="http://schemas.openxmlformats.org/drawingml/2006/main">
            <a:r>
              <a:t/>
            </a:r>
          </a:p>
          <a:p xmlns:a="http://schemas.openxmlformats.org/drawingml/2006/main">
            <a:r>
              <a:t>[Sources]</a:t>
            </a:r>
          </a:p>
          <a:p xmlns:a="http://schemas.openxmlformats.org/drawingml/2006/main">
            <a:r>
              <a:t>- Accenture Innovation Challenge 2026 Round 2 Patient Triage problem statement (supplied 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timeline to show why a single arrival category is insufficient. The problem statement explicitly asks teams to monitor patients already waiting, trigger reassessment on worsening vitals or safe-wait thresholds, represent uncertainty, preserve override and audit decisions.</a:t>
            </a:r>
          </a:p>
          <a:p xmlns:a="http://schemas.openxmlformats.org/drawingml/2006/main">
            <a:r>
              <a:t/>
            </a:r>
          </a:p>
          <a:p xmlns:a="http://schemas.openxmlformats.org/drawingml/2006/main">
            <a:r>
              <a:t>[Sources]</a:t>
            </a:r>
          </a:p>
          <a:p xmlns:a="http://schemas.openxmlformats.org/drawingml/2006/main">
            <a:r>
              <a:t>- Accenture Innovation Challenge 2026 Round 2 Patient Triage problem statement (supplied PDF), solution areas and complexities.</a:t>
            </a:r>
          </a:p>
          <a:p xmlns:a="http://schemas.openxmlformats.org/drawingml/2006/main">
            <a:r>
              <a:t>- Repeated vital-sign rationale: https://pubmed.ncbi.nlm.nih.gov/30005671/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Clinical Slack is the central operating object: Action Window minus projected time to action. Negative Slack is not a new triage category; it is a visible conflict between clinical need and operational capacity.</a:t>
            </a:r>
          </a:p>
          <a:p xmlns:a="http://schemas.openxmlformats.org/drawingml/2006/main">
            <a:r>
              <a:t/>
            </a:r>
          </a:p>
          <a:p xmlns:a="http://schemas.openxmlformats.org/drawingml/2006/main">
            <a:r>
              <a:t>[Sources]</a:t>
            </a:r>
          </a:p>
          <a:p xmlns:a="http://schemas.openxmlformats.org/drawingml/2006/main">
            <a:r>
              <a:t>- Deadline/laxity scheduling inspiration: https://people.eecs.berkeley.edu/~kubitron/courses/cs262a-F19/lectures/lec11-Scheduling.pdf</a:t>
            </a:r>
          </a:p>
          <a:p xmlns:a="http://schemas.openxmlformats.org/drawingml/2006/main">
            <a:r>
              <a:t>- Predictive-maintenance inspiration: https://ntrs.nasa.gov/api/citations/20140010623/downloads/20140010623.pdf?attachment=true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entire product story. Do not expand into a feature list. Move from patient need to time, from time to capacity, and from recommendation to clinician action.</a:t>
            </a:r>
          </a:p>
          <a:p xmlns:a="http://schemas.openxmlformats.org/drawingml/2006/main">
            <a:r>
              <a:t/>
            </a:r>
          </a:p>
          <a:p xmlns:a="http://schemas.openxmlformats.org/drawingml/2006/main">
            <a:r>
              <a:t>[Sources]</a:t>
            </a:r>
          </a:p>
          <a:p xmlns:a="http://schemas.openxmlformats.org/drawingml/2006/main">
            <a:r>
              <a:t>- Local architecture and product specifications: docs/architecture.md and PRODUCT.md.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real, working product view. Point to P-0009: immediate Action Window, ETA eight minutes, Clinical Slack minus eight. Then point to the patient inspector, which keeps explanation and clinician action in the workflow.</a:t>
            </a:r>
          </a:p>
          <a:p xmlns:a="http://schemas.openxmlformats.org/drawingml/2006/main">
            <a:r>
              <a:t/>
            </a:r>
          </a:p>
          <a:p xmlns:a="http://schemas.openxmlformats.org/drawingml/2006/main">
            <a:r>
              <a:t>[Sources]</a:t>
            </a:r>
          </a:p>
          <a:p xmlns:a="http://schemas.openxmlformats.org/drawingml/2006/main">
            <a:r>
              <a:t>- Local working prototype screenshot: docs/assets/tl-04-deadline-board.png.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demo, run the deterministic deterioration event. P-0009’s SpO2 falls to 88, respiratory rate rises to 37 and heart rate rises. The patient moves to position two, Action Window becomes now, ETA is eight minutes and Slack becomes minus eight.</a:t>
            </a:r>
          </a:p>
          <a:p xmlns:a="http://schemas.openxmlformats.org/drawingml/2006/main">
            <a:r>
              <a:t/>
            </a:r>
          </a:p>
          <a:p xmlns:a="http://schemas.openxmlformats.org/drawingml/2006/main">
            <a:r>
              <a:t>[Sources]</a:t>
            </a:r>
          </a:p>
          <a:p xmlns:a="http://schemas.openxmlformats.org/drawingml/2006/main">
            <a:r>
              <a:t>- Local deterministic demo flow and acceptance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quantitative model is one bounded component. Deterministic rules execute first. Uncertain or out-of-distribution inputs enter Safe Mode. The Queue Twin can only expose feasibility; it cannot move the deadline. The clinician owns the action.</a:t>
            </a:r>
          </a:p>
          <a:p xmlns:a="http://schemas.openxmlformats.org/drawingml/2006/main">
            <a:r>
              <a:t/>
            </a:r>
          </a:p>
          <a:p xmlns:a="http://schemas.openxmlformats.org/drawingml/2006/main">
            <a:r>
              <a:t>[Sources]</a:t>
            </a:r>
          </a:p>
          <a:p xmlns:a="http://schemas.openxmlformats.org/drawingml/2006/main">
            <a:r>
              <a:t>- WHO triage tools: https://www.who.int/tools/triage</a:t>
            </a:r>
          </a:p>
          <a:p xmlns:a="http://schemas.openxmlformats.org/drawingml/2006/main">
            <a:r>
              <a:t>- Conformal decision-support reference: https://pubmed.ncbi.nlm.nih.gov/40318497/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explicit that we are not claiming these underlying methods are new. The innovation is the product and safety recomposition: convert changing risk into a deadline, test the deadline against capacity, use uncertainty to guide review, and close the loop with a clinician.</a:t>
            </a:r>
          </a:p>
          <a:p xmlns:a="http://schemas.openxmlformats.org/drawingml/2006/main">
            <a:r>
              <a:t/>
            </a:r>
          </a:p>
          <a:p xmlns:a="http://schemas.openxmlformats.org/drawingml/2006/main">
            <a:r>
              <a:t>[Sources]</a:t>
            </a:r>
          </a:p>
          <a:p xmlns:a="http://schemas.openxmlformats.org/drawingml/2006/main">
            <a:r>
              <a:t>- NASA Systems Engineering Handbook: https://www.nasa.gov/reference/system-engineering-handbook-appendix/</a:t>
            </a:r>
          </a:p>
          <a:p xmlns:a="http://schemas.openxmlformats.org/drawingml/2006/main">
            <a:r>
              <a:t>- Deadline/laxity scheduling: https://www-inst.eecs.berkeley.edu/~cs162/sp21/static/lectures/11.pdf</a:t>
            </a:r>
          </a:p>
          <a:p xmlns:a="http://schemas.openxmlformats.org/drawingml/2006/main">
            <a:r>
              <a:t>- IBM active feature acquisition: https://research.ibm.com/projects/active-feature-acquisition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only with the stronger periodic-retriage comparator. In 1,200 paired synthetic verification shifts under three-times demand, the miss rate fell from 17.7 to 14.1 percent—a 20.5 percent relative reduction with a 95 percent confidence interval of 17.4 to 23.8 percent.</a:t>
            </a:r>
          </a:p>
          <a:p xmlns:a="http://schemas.openxmlformats.org/drawingml/2006/main">
            <a:r>
              <a:t/>
            </a:r>
          </a:p>
          <a:p xmlns:a="http://schemas.openxmlformats.org/drawingml/2006/main">
            <a:r>
              <a:t>[Sources]</a:t>
            </a:r>
          </a:p>
          <a:p xmlns:a="http://schemas.openxmlformats.org/drawingml/2006/main">
            <a:r>
              <a:t>- Local evidence: artifacts/tl-05-periodic-retriage.json and docs/tl-05-verification-report.md.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 trust-building moment. The NBO gate failed: far fewer observations, but a 7.1 percentage-point loss of operational critical recall versus a fixed eight-observation bundle. We did not hide the failure; we constrained the product and locked the fallback.</a:t>
            </a:r>
          </a:p>
          <a:p xmlns:a="http://schemas.openxmlformats.org/drawingml/2006/main">
            <a:r>
              <a:t/>
            </a:r>
          </a:p>
          <a:p xmlns:a="http://schemas.openxmlformats.org/drawingml/2006/main">
            <a:r>
              <a:t>[Sources]</a:t>
            </a:r>
          </a:p>
          <a:p xmlns:a="http://schemas.openxmlformats.org/drawingml/2006/main">
            <a:r>
              <a:t>- Local evidence: artifacts/tl-05-nbo-evaluation.json and docs/tl-05-verification-report.md.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answer if the jury asks whether every problem-statement point is covered. The categories span clinical complexity, data and uncertainty, site and surge variability, clinician oversight, adoption, privacy, integration and scale.</a:t>
            </a:r>
          </a:p>
          <a:p xmlns:a="http://schemas.openxmlformats.org/drawingml/2006/main">
            <a:r>
              <a:t/>
            </a:r>
          </a:p>
          <a:p xmlns:a="http://schemas.openxmlformats.org/drawingml/2006/main">
            <a:r>
              <a:t>[Sources]</a:t>
            </a:r>
          </a:p>
          <a:p xmlns:a="http://schemas.openxmlformats.org/drawingml/2006/main">
            <a:r>
              <a:t>- Official problem statement (supplied PDF).</a:t>
            </a:r>
          </a:p>
          <a:p xmlns:a="http://schemas.openxmlformats.org/drawingml/2006/main">
            <a:r>
              <a:t>- Local mapping: docs/requirements-traceability.md and proposal Appendix 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user is the triage nurse; the charge nurse resolves capacity conflicts. Current TL-05 synthetic surge workload is 0.86 to 1.12 alerts per waiting-patient-hour and 2.20 to 5.56 per reassessment-nurse-hour; Community is the warning case. These are simulation outputs, not evidence of acceptable nurse workload. Formal nurse and assistive-technology product testing remains external; the zero-finding automated accessibility result applies only to the proposal document.</a:t>
            </a:r>
          </a:p>
          <a:p xmlns:a="http://schemas.openxmlformats.org/drawingml/2006/main">
            <a:r>
              <a:t/>
            </a:r>
          </a:p>
          <a:p xmlns:a="http://schemas.openxmlformats.org/drawingml/2006/main">
            <a:r>
              <a:t>[Sources]</a:t>
            </a:r>
          </a:p>
          <a:p xmlns:a="http://schemas.openxmlformats.org/drawingml/2006/main">
            <a:r>
              <a:t>- Local product and design specifications: PRODUCT.md and DESIGN.md.</a:t>
            </a:r>
          </a:p>
          <a:p xmlns:a="http://schemas.openxmlformats.org/drawingml/2006/main">
            <a:r>
              <a:t>- Current workload evidence: artifacts/evaluation/tl-05-periodic-retriage-metrics.json.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supports low-, medium- and high-maturity sites through manual or batch input, a local adapter, or standards-aligned events. The system is not an EHR replacement. Failure states are explicit and conservative.</a:t>
            </a:r>
          </a:p>
          <a:p xmlns:a="http://schemas.openxmlformats.org/drawingml/2006/main">
            <a:r>
              <a:t/>
            </a:r>
          </a:p>
          <a:p xmlns:a="http://schemas.openxmlformats.org/drawingml/2006/main">
            <a:r>
              <a:t>[Sources]</a:t>
            </a:r>
          </a:p>
          <a:p xmlns:a="http://schemas.openxmlformats.org/drawingml/2006/main">
            <a:r>
              <a:t>- Local architecture: docs/architecture.md.</a:t>
            </a:r>
          </a:p>
          <a:p xmlns:a="http://schemas.openxmlformats.org/drawingml/2006/main">
            <a:r>
              <a:t>- Indian EHR Standards: https://www.mohfw.gov.in/sites/default/files/EMR-EHR_Standards_for_India_as_notified_by_MOHFW_2016_0.pdf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commercial posture is deliberately evidence-led. Start with a fixed-scope retrospective and shadow pilot. Use local baselines for process time, Action Window adherence, alert burden and capacity conflicts. Do not monetize patient harm from synthetic evidence.</a:t>
            </a:r>
          </a:p>
          <a:p xmlns:a="http://schemas.openxmlformats.org/drawingml/2006/main">
            <a:r>
              <a:t/>
            </a:r>
          </a:p>
          <a:p xmlns:a="http://schemas.openxmlformats.org/drawingml/2006/main">
            <a:r>
              <a:t>[Sources]</a:t>
            </a:r>
          </a:p>
          <a:p xmlns:a="http://schemas.openxmlformats.org/drawingml/2006/main">
            <a:r>
              <a:t>- Local business-case framework in TriageLoop detailed proposal, section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step is not production. It is a governed sequence: intended-use lock, retrospective validation, integration testing, shadow mode, then a limited controlled workflow pilot. Every phase has a stop gate.</a:t>
            </a:r>
          </a:p>
          <a:p xmlns:a="http://schemas.openxmlformats.org/drawingml/2006/main">
            <a:r>
              <a:t/>
            </a:r>
          </a:p>
          <a:p xmlns:a="http://schemas.openxmlformats.org/drawingml/2006/main">
            <a:r>
              <a:t>[Sources]</a:t>
            </a:r>
          </a:p>
          <a:p xmlns:a="http://schemas.openxmlformats.org/drawingml/2006/main">
            <a:r>
              <a:t>- Local phased roadmap in TriageLoop detailed proposal, section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operating problem. TriageLoop does not claim to create capacity or replace clinical judgment. It makes the gap between clinical need and operational reality visible early enough to act. Ask to advance into a governed local retrospective and shadow pilot.</a:t>
            </a:r>
          </a:p>
          <a:p xmlns:a="http://schemas.openxmlformats.org/drawingml/2006/main">
            <a:r>
              <a:t/>
            </a:r>
          </a:p>
          <a:p xmlns:a="http://schemas.openxmlformats.org/drawingml/2006/main">
            <a:r>
              <a:t>[Sources]</a:t>
            </a:r>
          </a:p>
          <a:p xmlns:a="http://schemas.openxmlformats.org/drawingml/2006/main">
            <a:r>
              <a:t>- TriageLoop TL-06 narrative lock and detailed business 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appendix for methodology questions. All model and queue assets were authored in the same project; the results show internal consistency under declared synthetic assumptions, not external clinical validity.</a:t>
            </a:r>
          </a:p>
          <a:p xmlns:a="http://schemas.openxmlformats.org/drawingml/2006/main">
            <a:r>
              <a:t/>
            </a:r>
          </a:p>
          <a:p xmlns:a="http://schemas.openxmlformats.org/drawingml/2006/main">
            <a:r>
              <a:t>[Sources]</a:t>
            </a:r>
          </a:p>
          <a:p xmlns:a="http://schemas.openxmlformats.org/drawingml/2006/main">
            <a:r>
              <a:t>- Local verification protocol and report: docs/tl-05-verification-report.md.</a:t>
            </a:r>
          </a:p>
          <a:p xmlns:a="http://schemas.openxmlformats.org/drawingml/2006/main">
            <a:r>
              <a:t>- MIMIC-IV demo: https://physionet.org/content/mimic-iv-demo/2.2/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design references, not a compliance claim. The DPDP Rules have phased commencement and must be checked again at the time of deployment. Hospital legal, privacy, information-security and clinical-governance review remain mandatory.</a:t>
            </a:r>
          </a:p>
          <a:p xmlns:a="http://schemas.openxmlformats.org/drawingml/2006/main">
            <a:r>
              <a:t/>
            </a:r>
          </a:p>
          <a:p xmlns:a="http://schemas.openxmlformats.org/drawingml/2006/main">
            <a:r>
              <a:t>[Sources]</a:t>
            </a:r>
          </a:p>
          <a:p xmlns:a="http://schemas.openxmlformats.org/drawingml/2006/main">
            <a:r>
              <a:t>- DPDP Act 2023: https://www.indiacode.nic.in/handle/123456789/22037?col=123456789%2F1362&amp;view_type=search</a:t>
            </a:r>
          </a:p>
          <a:p xmlns:a="http://schemas.openxmlformats.org/drawingml/2006/main">
            <a:r>
              <a:t>- DPDP Rules 2025: https://www.meity.gov.in/documents/act-and-policies/digital-personal-data-protection-rules-2025-gDOxUjMtQWa?pageTitle=Digital-Personal-Data-Protection-Rules-2025.pdf</a:t>
            </a:r>
          </a:p>
          <a:p xmlns:a="http://schemas.openxmlformats.org/drawingml/2006/main">
            <a:r>
              <a:t>- ABDM HDM Policy: https://abdm.gov.in/static/media/health_management_policy_bac9429a79.80f74bc3e039c00acd4f.pdf</a:t>
            </a:r>
          </a:p>
          <a:p xmlns:a="http://schemas.openxmlformats.org/drawingml/2006/main">
            <a:r>
              <a:t>- EHR Standards India: https://www.mohfw.gov.in/sites/default/files/EMR-EHR_Standards_for_India_as_notified_by_MOHFW_2016_0.pdf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appendix is a selected reading list; the proposal contains the complete source and evidence notes. Related work is used to bound our claims and show how the cross-domain ideas were translated into this specific workflow.</a:t>
            </a:r>
          </a:p>
          <a:p xmlns:a="http://schemas.openxmlformats.org/drawingml/2006/main">
            <a:r>
              <a:t/>
            </a:r>
          </a:p>
          <a:p xmlns:a="http://schemas.openxmlformats.org/drawingml/2006/main">
            <a:r>
              <a:t>[Sources]</a:t>
            </a:r>
          </a:p>
          <a:p xmlns:a="http://schemas.openxmlformats.org/drawingml/2006/main">
            <a:r>
              <a:t>- Repeated vital signs: https://pubmed.ncbi.nlm.nih.gov/30005671/</a:t>
            </a:r>
          </a:p>
          <a:p xmlns:a="http://schemas.openxmlformats.org/drawingml/2006/main">
            <a:r>
              <a:t>- Dynamic deterioration modeling: https://pubmed.ncbi.nlm.nih.gov/41827109/</a:t>
            </a:r>
          </a:p>
          <a:p xmlns:a="http://schemas.openxmlformats.org/drawingml/2006/main">
            <a:r>
              <a:t>- Prognosis-informed prioritisation: https://pubmed.ncbi.nlm.nih.gov/37318826/</a:t>
            </a:r>
          </a:p>
          <a:p xmlns:a="http://schemas.openxmlformats.org/drawingml/2006/main">
            <a:r>
              <a:t>- Conformal ED uncertainty: https://pubmed.ncbi.nlm.nih.gov/40318497/</a:t>
            </a:r>
          </a:p>
          <a:p xmlns:a="http://schemas.openxmlformats.org/drawingml/2006/main">
            <a:r>
              <a:t>- WHO triage tools: https://www.who.int/tools/triage</a:t>
            </a:r>
          </a:p>
          <a:p xmlns:a="http://schemas.openxmlformats.org/drawingml/2006/main">
            <a:r>
              <a:t>- Deadline/laxity scheduling: https://people.eecs.berkeley.edu/~kubitron/courses/cs262a-F19/lectures/lec11-Scheduling.pdf</a:t>
            </a:r>
          </a:p>
          <a:p xmlns:a="http://schemas.openxmlformats.org/drawingml/2006/main">
            <a:r>
              <a:t>- Predictive maintenance / RUL: https://ntrs.nasa.gov/api/citations/20140010623/downloads/20140010623.pdf?attachment=true</a:t>
            </a:r>
          </a:p>
          <a:p xmlns:a="http://schemas.openxmlformats.org/drawingml/2006/main">
            <a:r>
              <a:t>- Active feature acquisition: https://research.ibm.com/projects/active-feature-acquisition</a:t>
            </a:r>
          </a:p>
          <a:p xmlns:a="http://schemas.openxmlformats.org/drawingml/2006/main">
            <a:r>
              <a:t>- MIMIC-IV demo: https://physionet.org/content/mimic-iv-demo/2.2/</a:t>
            </a:r>
          </a:p>
          <a:p xmlns:a="http://schemas.openxmlformats.org/drawingml/2006/main">
            <a:r>
              <a:t>- Official competition page: https://unstop.com/competitions/accenture-innovation-challenge-2026-accenture-1714566/amp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088f855f0b4d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6cf8f6b684445c" /><Relationship Type="http://schemas.openxmlformats.org/officeDocument/2006/relationships/slideLayout" Target="/ppt/slideLayouts/slideLayout1.xml" Id="Re62b00cd887249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2b00cd887249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5a33bf953c408c" /><Relationship Type="http://schemas.openxmlformats.org/officeDocument/2006/relationships/notesSlide" Target="/ppt/notesSlides/notesSlide1.xml" Id="Rd029e38a75034e0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564d83ec5a74bb9" /><Relationship Type="http://schemas.openxmlformats.org/officeDocument/2006/relationships/notesSlide" Target="/ppt/notesSlides/notesSlide2.xml" Id="Rc2814cbb5918428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d2668775ab44029" /><Relationship Type="http://schemas.openxmlformats.org/officeDocument/2006/relationships/notesSlide" Target="/ppt/notesSlides/notesSlide3.xml" Id="Rc85c6f4f83574a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1f1ce685dea4c07" /><Relationship Type="http://schemas.openxmlformats.org/officeDocument/2006/relationships/notesSlide" Target="/ppt/notesSlides/notesSlide4.xml" Id="R899133411c8142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23c7b032d6a4a67" /><Relationship Type="http://schemas.openxmlformats.org/officeDocument/2006/relationships/image" Target="/ppt/media/image.jpeg" Id="Rb743533d802b4423" /><Relationship Type="http://schemas.openxmlformats.org/officeDocument/2006/relationships/notesSlide" Target="/ppt/notesSlides/notesSlide5.xml" Id="Rbefb2b8c464147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c82aaa404ec4361" /><Relationship Type="http://schemas.openxmlformats.org/officeDocument/2006/relationships/notesSlide" Target="/ppt/notesSlides/notesSlide6.xml" Id="Rfd1a24beb3b542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642e1e576be4ec0" /><Relationship Type="http://schemas.openxmlformats.org/officeDocument/2006/relationships/notesSlide" Target="/ppt/notesSlides/notesSlide7.xml" Id="R60cffa9883d745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620b36ab5174854" /><Relationship Type="http://schemas.openxmlformats.org/officeDocument/2006/relationships/notesSlide" Target="/ppt/notesSlides/notesSlide8.xml" Id="R21b8109cf7104e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767be28a9df405a" /><Relationship Type="http://schemas.openxmlformats.org/officeDocument/2006/relationships/notesSlide" Target="/ppt/notesSlides/notesSlide9.xml" Id="R8b20319d7c5a44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244c346f1f348b1" /><Relationship Type="http://schemas.openxmlformats.org/officeDocument/2006/relationships/notesSlide" Target="/ppt/notesSlides/notesSlide10.xml" Id="R76a1d11a56db4d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fe1b8332c984665" /><Relationship Type="http://schemas.openxmlformats.org/officeDocument/2006/relationships/notesSlide" Target="/ppt/notesSlides/notesSlide11.xml" Id="Reb9f6bd184b24b2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81cfccc05d8421c" /><Relationship Type="http://schemas.openxmlformats.org/officeDocument/2006/relationships/notesSlide" Target="/ppt/notesSlides/notesSlide12.xml" Id="Rb60a63388e7246a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20d75c213694647" /><Relationship Type="http://schemas.openxmlformats.org/officeDocument/2006/relationships/notesSlide" Target="/ppt/notesSlides/notesSlide13.xml" Id="R4f90c8c19b79412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1a0ba235dca4ca7" /><Relationship Type="http://schemas.openxmlformats.org/officeDocument/2006/relationships/notesSlide" Target="/ppt/notesSlides/notesSlide14.xml" Id="R331f3405b74e4d7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ba9261874da47b6" /><Relationship Type="http://schemas.openxmlformats.org/officeDocument/2006/relationships/notesSlide" Target="/ppt/notesSlides/notesSlide15.xml" Id="Rcb214726424f453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c5d52a697694956" /><Relationship Type="http://schemas.openxmlformats.org/officeDocument/2006/relationships/notesSlide" Target="/ppt/notesSlides/notesSlide16.xml" Id="R0617219dcf7f411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a238cae3b5b4beb" /><Relationship Type="http://schemas.openxmlformats.org/officeDocument/2006/relationships/notesSlide" Target="/ppt/notesSlides/notesSlide17.xml" Id="Rab80dbbcc91b4a3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85076e0f2fa4705" /><Relationship Type="http://schemas.openxmlformats.org/officeDocument/2006/relationships/notesSlide" Target="/ppt/notesSlides/notesSlide18.xml" Id="R1fb7662a1b50469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2fea7a5a14f4364" /><Relationship Type="http://schemas.openxmlformats.org/officeDocument/2006/relationships/notesSlide" Target="/ppt/notesSlides/notesSlide19.xml" Id="R77543fd109b348c7" /></Relationships>
</file>

<file path=ppt/slides/slide1.xml><?xml version="1.0" encoding="utf-8"?>
<p:sld xmlns:p="http://schemas.openxmlformats.org/presentationml/2006/main">
  <p:cSld>
    <p:bg>
      <p:bgPr>
        <a:solidFill xmlns:a="http://schemas.openxmlformats.org/drawingml/2006/main">
          <a:srgbClr val="FBFAF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27A9D56-A573-4196-BB35-CFED997F770A}"/>
              </a:ext>
            </a:extLst>
          </p:cNvPr>
          <p:cNvSpPr>
            <a:spLocks xmlns:a="http://schemas.openxmlformats.org/drawingml/2006/main" noGrp="1"/>
          </p:cNvSpPr>
          <p:nvPr/>
        </p:nvSpPr>
        <p:spPr>
          <a:xfrm xmlns:a="http://schemas.openxmlformats.org/drawingml/2006/main">
            <a:off x="0" y="0"/>
            <a:ext cx="247650" cy="6858000"/>
          </a:xfrm>
          <a:prstGeom xmlns:a="http://schemas.openxmlformats.org/drawingml/2006/main" prst="rect">
            <a:avLst/>
          </a:prstGeom>
          <a:solidFill xmlns:a="http://schemas.openxmlformats.org/drawingml/2006/main">
            <a:srgbClr val="52163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723CD5C-35C0-4DF8-AC72-D52EC3B99A9E}"/>
              </a:ext>
            </a:extLst>
          </p:cNvPr>
          <p:cNvSpPr>
            <a:spLocks xmlns:a="http://schemas.openxmlformats.org/drawingml/2006/main" noGrp="1"/>
          </p:cNvSpPr>
          <p:nvPr/>
        </p:nvSpPr>
        <p:spPr>
          <a:xfrm xmlns:a="http://schemas.openxmlformats.org/drawingml/2006/main">
            <a:off x="685800" y="5143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A1F5C"/>
                </a:solidFill>
              </a:defRPr>
            </a:pPr>
            <a:r>
              <a:rPr sz="825" b="1">
                <a:solidFill>
                  <a:srgbClr val="7A1F5C"/>
                </a:solidFill>
              </a:rPr>
              <a:t>ACCENTURE INNOVATION CHALLENGE 2026  /  ROUND 2</a:t>
            </a:r>
          </a:p>
        </p:txBody>
      </p:sp>
      <p:sp>
        <p:nvSpPr>
          <p:cNvPr id="3" name="">
            <a:extLst xmlns:a="http://schemas.openxmlformats.org/drawingml/2006/main">
              <a:ext uri="{FF2B5EF4-FFF2-40B4-BE49-F238E27FC236}">
                <a16:creationId xmlns:a16="http://schemas.microsoft.com/office/drawing/2014/main" id="{E1E6A607-F73E-49E1-A530-ADB175873C23}"/>
              </a:ext>
            </a:extLst>
          </p:cNvPr>
          <p:cNvSpPr>
            <a:spLocks xmlns:a="http://schemas.openxmlformats.org/drawingml/2006/main" noGrp="1"/>
          </p:cNvSpPr>
          <p:nvPr/>
        </p:nvSpPr>
        <p:spPr>
          <a:xfrm xmlns:a="http://schemas.openxmlformats.org/drawingml/2006/main">
            <a:off x="685800" y="144780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1">
                <a:solidFill>
                  <a:srgbClr val="52163E"/>
                </a:solidFill>
              </a:defRPr>
            </a:pPr>
            <a:r>
              <a:rPr sz="3750" b="1">
                <a:solidFill>
                  <a:srgbClr val="52163E"/>
                </a:solidFill>
              </a:rPr>
              <a:t>TriageLoop.ai</a:t>
            </a:r>
          </a:p>
        </p:txBody>
      </p:sp>
      <p:sp>
        <p:nvSpPr>
          <p:cNvPr id="4" name="">
            <a:extLst xmlns:a="http://schemas.openxmlformats.org/drawingml/2006/main">
              <a:ext uri="{FF2B5EF4-FFF2-40B4-BE49-F238E27FC236}">
                <a16:creationId xmlns:a16="http://schemas.microsoft.com/office/drawing/2014/main" id="{E64823EE-D030-4DAA-BE51-C5C4F3155558}"/>
              </a:ext>
            </a:extLst>
          </p:cNvPr>
          <p:cNvSpPr>
            <a:spLocks xmlns:a="http://schemas.openxmlformats.org/drawingml/2006/main" noGrp="1"/>
          </p:cNvSpPr>
          <p:nvPr/>
        </p:nvSpPr>
        <p:spPr>
          <a:xfrm xmlns:a="http://schemas.openxmlformats.org/drawingml/2006/main">
            <a:off x="685800" y="2190750"/>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211C27"/>
                </a:solidFill>
              </a:defRPr>
            </a:pPr>
            <a:r>
              <a:rPr sz="2100" b="1">
                <a:solidFill>
                  <a:srgbClr val="211C27"/>
                </a:solidFill>
              </a:rPr>
              <a:t>The deadline-aware operating layer</a:t>
            </a:r>
          </a:p>
          <a:p xmlns:a="http://schemas.openxmlformats.org/drawingml/2006/main">
            <a:pPr algn="l">
              <a:defRPr sz="2100" b="1">
                <a:solidFill>
                  <a:srgbClr val="211C27"/>
                </a:solidFill>
              </a:defRPr>
            </a:pPr>
            <a:r>
              <a:rPr sz="2100" b="1">
                <a:solidFill>
                  <a:srgbClr val="211C27"/>
                </a:solidFill>
              </a:rPr>
              <a:t>for emergency-department waiting rooms</a:t>
            </a:r>
          </a:p>
        </p:txBody>
      </p:sp>
      <p:sp>
        <p:nvSpPr>
          <p:cNvPr id="5" name="">
            <a:extLst xmlns:a="http://schemas.openxmlformats.org/drawingml/2006/main">
              <a:ext uri="{FF2B5EF4-FFF2-40B4-BE49-F238E27FC236}">
                <a16:creationId xmlns:a16="http://schemas.microsoft.com/office/drawing/2014/main" id="{C65799CD-0FB5-42AA-BBBF-40C31A004322}"/>
              </a:ext>
            </a:extLst>
          </p:cNvPr>
          <p:cNvSpPr>
            <a:spLocks xmlns:a="http://schemas.openxmlformats.org/drawingml/2006/main" noGrp="1"/>
          </p:cNvSpPr>
          <p:nvPr/>
        </p:nvSpPr>
        <p:spPr>
          <a:xfrm xmlns:a="http://schemas.openxmlformats.org/drawingml/2006/main">
            <a:off x="685800" y="3657600"/>
            <a:ext cx="6953250" cy="1066800"/>
          </a:xfrm>
          <a:prstGeom xmlns:a="http://schemas.openxmlformats.org/drawingml/2006/main" prst="roundRect">
            <a:avLst>
              <a:gd name="adj" fmla="val 16071"/>
            </a:avLst>
          </a:prstGeom>
          <a:solidFill xmlns:a="http://schemas.openxmlformats.org/drawingml/2006/main">
            <a:srgbClr val="F7EEF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304B489-440E-4E74-A93F-A7F4390B06D3}"/>
              </a:ext>
            </a:extLst>
          </p:cNvPr>
          <p:cNvSpPr>
            <a:spLocks xmlns:a="http://schemas.openxmlformats.org/drawingml/2006/main" noGrp="1"/>
          </p:cNvSpPr>
          <p:nvPr/>
        </p:nvSpPr>
        <p:spPr>
          <a:xfrm xmlns:a="http://schemas.openxmlformats.org/drawingml/2006/main">
            <a:off x="914400" y="3867150"/>
            <a:ext cx="638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52163E"/>
                </a:solidFill>
              </a:defRPr>
            </a:pPr>
            <a:r>
              <a:rPr sz="1350" b="1">
                <a:solidFill>
                  <a:srgbClr val="52163E"/>
                </a:solidFill>
              </a:rPr>
              <a:t>A changing patient creates a changing clinical deadline.</a:t>
            </a:r>
          </a:p>
        </p:txBody>
      </p:sp>
      <p:sp>
        <p:nvSpPr>
          <p:cNvPr id="7" name="">
            <a:extLst xmlns:a="http://schemas.openxmlformats.org/drawingml/2006/main">
              <a:ext uri="{FF2B5EF4-FFF2-40B4-BE49-F238E27FC236}">
                <a16:creationId xmlns:a16="http://schemas.microsoft.com/office/drawing/2014/main" id="{2739A36E-3721-4C3A-9AD3-357CB8F4BFC5}"/>
              </a:ext>
            </a:extLst>
          </p:cNvPr>
          <p:cNvSpPr>
            <a:spLocks xmlns:a="http://schemas.openxmlformats.org/drawingml/2006/main" noGrp="1"/>
          </p:cNvSpPr>
          <p:nvPr/>
        </p:nvSpPr>
        <p:spPr>
          <a:xfrm xmlns:a="http://schemas.openxmlformats.org/drawingml/2006/main">
            <a:off x="914400" y="4229100"/>
            <a:ext cx="628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11C27"/>
                </a:solidFill>
              </a:defRPr>
            </a:pPr>
            <a:r>
              <a:rPr sz="1200" b="0">
                <a:solidFill>
                  <a:srgbClr val="211C27"/>
                </a:solidFill>
              </a:rPr>
              <a:t>We turn that need into an Action Window, test the live queue, and expose any shortfall as Clinical Slack.</a:t>
            </a:r>
          </a:p>
        </p:txBody>
      </p:sp>
      <p:sp>
        <p:nvSpPr>
          <p:cNvPr id="8" name="">
            <a:extLst xmlns:a="http://schemas.openxmlformats.org/drawingml/2006/main">
              <a:ext uri="{FF2B5EF4-FFF2-40B4-BE49-F238E27FC236}">
                <a16:creationId xmlns:a16="http://schemas.microsoft.com/office/drawing/2014/main" id="{9FA2551B-B8D9-4FA0-B5CA-A4025E985DEF}"/>
              </a:ext>
            </a:extLst>
          </p:cNvPr>
          <p:cNvSpPr>
            <a:spLocks xmlns:a="http://schemas.openxmlformats.org/drawingml/2006/main" noGrp="1"/>
          </p:cNvSpPr>
          <p:nvPr/>
        </p:nvSpPr>
        <p:spPr>
          <a:xfrm xmlns:a="http://schemas.openxmlformats.org/drawingml/2006/main">
            <a:off x="8858250" y="171450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625B67"/>
                </a:solidFill>
              </a:defRPr>
            </a:pPr>
            <a:r>
              <a:rPr sz="900" b="1">
                <a:solidFill>
                  <a:srgbClr val="625B67"/>
                </a:solidFill>
              </a:rPr>
              <a:t>PATIENT NEED</a:t>
            </a:r>
          </a:p>
        </p:txBody>
      </p:sp>
      <p:sp>
        <p:nvSpPr>
          <p:cNvPr id="9" name="">
            <a:extLst xmlns:a="http://schemas.openxmlformats.org/drawingml/2006/main">
              <a:ext uri="{FF2B5EF4-FFF2-40B4-BE49-F238E27FC236}">
                <a16:creationId xmlns:a16="http://schemas.microsoft.com/office/drawing/2014/main" id="{AA2FAFC3-7DE6-401F-B514-1E4F1F1D5E3E}"/>
              </a:ext>
            </a:extLst>
          </p:cNvPr>
          <p:cNvSpPr>
            <a:spLocks xmlns:a="http://schemas.openxmlformats.org/drawingml/2006/main" noGrp="1"/>
          </p:cNvSpPr>
          <p:nvPr/>
        </p:nvSpPr>
        <p:spPr>
          <a:xfrm xmlns:a="http://schemas.openxmlformats.org/drawingml/2006/main">
            <a:off x="9620250" y="19812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7A1F5C"/>
                </a:solidFill>
              </a:defRPr>
            </a:pPr>
            <a:r>
              <a:rPr sz="2100" b="1">
                <a:solidFill>
                  <a:srgbClr val="7A1F5C"/>
                </a:solidFill>
              </a:rPr>
              <a:t>↓</a:t>
            </a:r>
          </a:p>
        </p:txBody>
      </p:sp>
      <p:sp>
        <p:nvSpPr>
          <p:cNvPr id="10" name="">
            <a:extLst xmlns:a="http://schemas.openxmlformats.org/drawingml/2006/main">
              <a:ext uri="{FF2B5EF4-FFF2-40B4-BE49-F238E27FC236}">
                <a16:creationId xmlns:a16="http://schemas.microsoft.com/office/drawing/2014/main" id="{16E0ED3E-0120-4580-8B1D-FA8900A71E92}"/>
              </a:ext>
            </a:extLst>
          </p:cNvPr>
          <p:cNvSpPr>
            <a:spLocks xmlns:a="http://schemas.openxmlformats.org/drawingml/2006/main" noGrp="1"/>
          </p:cNvSpPr>
          <p:nvPr/>
        </p:nvSpPr>
        <p:spPr>
          <a:xfrm xmlns:a="http://schemas.openxmlformats.org/drawingml/2006/main">
            <a:off x="8972550" y="2419350"/>
            <a:ext cx="1866900" cy="266700"/>
          </a:xfrm>
          <a:prstGeom xmlns:a="http://schemas.openxmlformats.org/drawingml/2006/main" prst="roundRect">
            <a:avLst>
              <a:gd name="adj" fmla="val 50000"/>
            </a:avLst>
          </a:prstGeom>
          <a:solidFill xmlns:a="http://schemas.openxmlformats.org/drawingml/2006/main">
            <a:srgbClr val="F7EEF4"/>
          </a:solidFill>
          <a:ln xmlns:a="http://schemas.openxmlformats.org/drawingml/2006/main" w="9525">
            <a:solidFill>
              <a:srgbClr val="F7EEF4"/>
            </a:solidFill>
            <a:prstDash val="solid"/>
          </a:ln>
        </p:spPr>
        <p:txBody>
          <a:bodyPr xmlns:a="http://schemas.openxmlformats.org/drawingml/2006/main"/>
          <a:lstStyle xmlns:a="http://schemas.openxmlformats.org/drawingml/2006/main"/>
          <a:p xmlns:a="http://schemas.openxmlformats.org/drawingml/2006/main">
            <a:pPr algn="ctr">
              <a:defRPr sz="825" b="1">
                <a:solidFill>
                  <a:srgbClr val="7A1F5C"/>
                </a:solidFill>
              </a:defRPr>
            </a:pPr>
            <a:r>
              <a:rPr sz="825" b="1">
                <a:solidFill>
                  <a:srgbClr val="7A1F5C"/>
                </a:solidFill>
              </a:rPr>
              <a:t>ACTION WINDOW</a:t>
            </a:r>
          </a:p>
        </p:txBody>
      </p:sp>
      <p:sp>
        <p:nvSpPr>
          <p:cNvPr id="11" name="">
            <a:extLst xmlns:a="http://schemas.openxmlformats.org/drawingml/2006/main">
              <a:ext uri="{FF2B5EF4-FFF2-40B4-BE49-F238E27FC236}">
                <a16:creationId xmlns:a16="http://schemas.microsoft.com/office/drawing/2014/main" id="{EEA68DBA-4D70-4DDC-A7B1-0CC821036DB7}"/>
              </a:ext>
            </a:extLst>
          </p:cNvPr>
          <p:cNvSpPr>
            <a:spLocks xmlns:a="http://schemas.openxmlformats.org/drawingml/2006/main" noGrp="1"/>
          </p:cNvSpPr>
          <p:nvPr/>
        </p:nvSpPr>
        <p:spPr>
          <a:xfrm xmlns:a="http://schemas.openxmlformats.org/drawingml/2006/main">
            <a:off x="9620250" y="2867025"/>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625B67"/>
                </a:solidFill>
              </a:defRPr>
            </a:pPr>
            <a:r>
              <a:rPr sz="2100" b="1">
                <a:solidFill>
                  <a:srgbClr val="625B67"/>
                </a:solidFill>
              </a:rPr>
              <a:t>−</a:t>
            </a:r>
          </a:p>
        </p:txBody>
      </p:sp>
      <p:sp>
        <p:nvSpPr>
          <p:cNvPr id="12" name="">
            <a:extLst xmlns:a="http://schemas.openxmlformats.org/drawingml/2006/main">
              <a:ext uri="{FF2B5EF4-FFF2-40B4-BE49-F238E27FC236}">
                <a16:creationId xmlns:a16="http://schemas.microsoft.com/office/drawing/2014/main" id="{4F5E465D-3EE0-4939-AE37-79A42BFCF5BA}"/>
              </a:ext>
            </a:extLst>
          </p:cNvPr>
          <p:cNvSpPr>
            <a:spLocks xmlns:a="http://schemas.openxmlformats.org/drawingml/2006/main" noGrp="1"/>
          </p:cNvSpPr>
          <p:nvPr/>
        </p:nvSpPr>
        <p:spPr>
          <a:xfrm xmlns:a="http://schemas.openxmlformats.org/drawingml/2006/main">
            <a:off x="9105900" y="3314700"/>
            <a:ext cx="1600200" cy="266700"/>
          </a:xfrm>
          <a:prstGeom xmlns:a="http://schemas.openxmlformats.org/drawingml/2006/main" prst="roundRect">
            <a:avLst>
              <a:gd name="adj" fmla="val 50000"/>
            </a:avLst>
          </a:prstGeom>
          <a:solidFill xmlns:a="http://schemas.openxmlformats.org/drawingml/2006/main">
            <a:srgbClr val="F6F3F5"/>
          </a:solidFill>
          <a:ln xmlns:a="http://schemas.openxmlformats.org/drawingml/2006/main" w="9525">
            <a:solidFill>
              <a:srgbClr val="E5DFE5"/>
            </a:solidFill>
            <a:prstDash val="solid"/>
          </a:ln>
        </p:spPr>
        <p:txBody>
          <a:bodyPr xmlns:a="http://schemas.openxmlformats.org/drawingml/2006/main"/>
          <a:lstStyle xmlns:a="http://schemas.openxmlformats.org/drawingml/2006/main"/>
          <a:p xmlns:a="http://schemas.openxmlformats.org/drawingml/2006/main">
            <a:pPr algn="ctr">
              <a:defRPr sz="825" b="1">
                <a:solidFill>
                  <a:srgbClr val="211C27"/>
                </a:solidFill>
              </a:defRPr>
            </a:pPr>
            <a:r>
              <a:rPr sz="825" b="1">
                <a:solidFill>
                  <a:srgbClr val="211C27"/>
                </a:solidFill>
              </a:rPr>
              <a:t>QUEUE ETA</a:t>
            </a:r>
          </a:p>
        </p:txBody>
      </p:sp>
      <p:sp>
        <p:nvSpPr>
          <p:cNvPr id="13" name="">
            <a:extLst xmlns:a="http://schemas.openxmlformats.org/drawingml/2006/main">
              <a:ext uri="{FF2B5EF4-FFF2-40B4-BE49-F238E27FC236}">
                <a16:creationId xmlns:a16="http://schemas.microsoft.com/office/drawing/2014/main" id="{0682329C-6563-4867-BE43-C1CBA50F779B}"/>
              </a:ext>
            </a:extLst>
          </p:cNvPr>
          <p:cNvSpPr>
            <a:spLocks xmlns:a="http://schemas.openxmlformats.org/drawingml/2006/main" noGrp="1"/>
          </p:cNvSpPr>
          <p:nvPr/>
        </p:nvSpPr>
        <p:spPr>
          <a:xfrm xmlns:a="http://schemas.openxmlformats.org/drawingml/2006/main">
            <a:off x="9620250" y="3762375"/>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625B67"/>
                </a:solidFill>
              </a:defRPr>
            </a:pPr>
            <a:r>
              <a:rPr sz="2100" b="1">
                <a:solidFill>
                  <a:srgbClr val="625B67"/>
                </a:solidFill>
              </a:rPr>
              <a:t>=</a:t>
            </a:r>
          </a:p>
        </p:txBody>
      </p:sp>
      <p:sp>
        <p:nvSpPr>
          <p:cNvPr id="14" name="">
            <a:extLst xmlns:a="http://schemas.openxmlformats.org/drawingml/2006/main">
              <a:ext uri="{FF2B5EF4-FFF2-40B4-BE49-F238E27FC236}">
                <a16:creationId xmlns:a16="http://schemas.microsoft.com/office/drawing/2014/main" id="{B961DDD1-C856-4BFA-8C62-151489A135B9}"/>
              </a:ext>
            </a:extLst>
          </p:cNvPr>
          <p:cNvSpPr>
            <a:spLocks xmlns:a="http://schemas.openxmlformats.org/drawingml/2006/main" noGrp="1"/>
          </p:cNvSpPr>
          <p:nvPr/>
        </p:nvSpPr>
        <p:spPr>
          <a:xfrm xmlns:a="http://schemas.openxmlformats.org/drawingml/2006/main">
            <a:off x="8972550" y="4210050"/>
            <a:ext cx="1866900" cy="266700"/>
          </a:xfrm>
          <a:prstGeom xmlns:a="http://schemas.openxmlformats.org/drawingml/2006/main" prst="roundRect">
            <a:avLst>
              <a:gd name="adj" fmla="val 50000"/>
            </a:avLst>
          </a:prstGeom>
          <a:solidFill xmlns:a="http://schemas.openxmlformats.org/drawingml/2006/main">
            <a:srgbClr val="FEECEB"/>
          </a:solidFill>
          <a:ln xmlns:a="http://schemas.openxmlformats.org/drawingml/2006/main" w="9525">
            <a:solidFill>
              <a:srgbClr val="FEECEB"/>
            </a:solidFill>
            <a:prstDash val="solid"/>
          </a:ln>
        </p:spPr>
        <p:txBody>
          <a:bodyPr xmlns:a="http://schemas.openxmlformats.org/drawingml/2006/main"/>
          <a:lstStyle xmlns:a="http://schemas.openxmlformats.org/drawingml/2006/main"/>
          <a:p xmlns:a="http://schemas.openxmlformats.org/drawingml/2006/main">
            <a:pPr algn="ctr">
              <a:defRPr sz="825" b="1">
                <a:solidFill>
                  <a:srgbClr val="B42318"/>
                </a:solidFill>
              </a:defRPr>
            </a:pPr>
            <a:r>
              <a:rPr sz="825" b="1">
                <a:solidFill>
                  <a:srgbClr val="B42318"/>
                </a:solidFill>
              </a:rPr>
              <a:t>CLINICAL SLACK</a:t>
            </a:r>
          </a:p>
        </p:txBody>
      </p:sp>
      <p:sp>
        <p:nvSpPr>
          <p:cNvPr id="15" name="">
            <a:extLst xmlns:a="http://schemas.openxmlformats.org/drawingml/2006/main">
              <a:ext uri="{FF2B5EF4-FFF2-40B4-BE49-F238E27FC236}">
                <a16:creationId xmlns:a16="http://schemas.microsoft.com/office/drawing/2014/main" id="{0BF08CA6-D7E5-40E0-929C-7913F4DC0FA5}"/>
              </a:ext>
            </a:extLst>
          </p:cNvPr>
          <p:cNvSpPr>
            <a:spLocks xmlns:a="http://schemas.openxmlformats.org/drawingml/2006/main" noGrp="1"/>
          </p:cNvSpPr>
          <p:nvPr/>
        </p:nvSpPr>
        <p:spPr>
          <a:xfrm xmlns:a="http://schemas.openxmlformats.org/drawingml/2006/main">
            <a:off x="685800" y="6019800"/>
            <a:ext cx="628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25B67"/>
                </a:solidFill>
              </a:defRPr>
            </a:pPr>
            <a:r>
              <a:rPr sz="900" b="0">
                <a:solidFill>
                  <a:srgbClr val="625B67"/>
                </a:solidFill>
              </a:rPr>
              <a:t>Prepared for the Accenture jury  •  22 August 2026</a:t>
            </a:r>
          </a:p>
        </p:txBody>
      </p:sp>
      <p:sp>
        <p:nvSpPr>
          <p:cNvPr id="16" name="">
            <a:extLst xmlns:a="http://schemas.openxmlformats.org/drawingml/2006/main">
              <a:ext uri="{FF2B5EF4-FFF2-40B4-BE49-F238E27FC236}">
                <a16:creationId xmlns:a16="http://schemas.microsoft.com/office/drawing/2014/main" id="{98509DA7-4F31-46A3-AF70-C229993F527C}"/>
              </a:ext>
            </a:extLst>
          </p:cNvPr>
          <p:cNvSpPr>
            <a:spLocks xmlns:a="http://schemas.openxmlformats.org/drawingml/2006/main" noGrp="1"/>
          </p:cNvSpPr>
          <p:nvPr/>
        </p:nvSpPr>
        <p:spPr>
          <a:xfrm xmlns:a="http://schemas.openxmlformats.org/drawingml/2006/main">
            <a:off x="8629650" y="6019800"/>
            <a:ext cx="2609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25B67"/>
                </a:solidFill>
              </a:defRPr>
            </a:pPr>
            <a:r>
              <a:rPr sz="825" b="1">
                <a:solidFill>
                  <a:srgbClr val="625B67"/>
                </a:solidFill>
              </a:rPr>
              <a:t>Research prototype  /  Synthetic data</a:t>
            </a:r>
          </a:p>
        </p:txBody>
      </p:sp>
    </p:spTree>
    <p:extLst>
      <p:ext uri="{BB962C8B-B14F-4D97-AF65-F5344CB8AC3E}">
        <p14:creationId xmlns:p14="http://schemas.microsoft.com/office/powerpoint/2010/main" val="4985927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CD18146-E326-4A90-A8D7-3925D4DA402B}"/>
              </a:ext>
            </a:extLst>
          </p:cNvPr>
          <p:cNvSpPr>
            <a:spLocks xmlns:a="http://schemas.openxmlformats.org/drawingml/2006/main" noGrp="1"/>
          </p:cNvSpPr>
          <p:nvPr/>
        </p:nvSpPr>
        <p:spPr>
          <a:xfrm xmlns:a="http://schemas.openxmlformats.org/drawingml/2006/main">
            <a:off x="609600" y="3429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A1F5C"/>
                </a:solidFill>
              </a:defRPr>
            </a:pPr>
            <a:r>
              <a:rPr sz="825" b="1">
                <a:solidFill>
                  <a:srgbClr val="7A1F5C"/>
                </a:solidFill>
              </a:rPr>
              <a:t>THE HIDDEN FAILURE</a:t>
            </a:r>
          </a:p>
        </p:txBody>
      </p:sp>
      <p:sp>
        <p:nvSpPr>
          <p:cNvPr id="2" name="">
            <a:extLst xmlns:a="http://schemas.openxmlformats.org/drawingml/2006/main">
              <a:ext uri="{FF2B5EF4-FFF2-40B4-BE49-F238E27FC236}">
                <a16:creationId xmlns:a16="http://schemas.microsoft.com/office/drawing/2014/main" id="{54506F9C-942F-4A0C-BE75-CFD729C8EE1D}"/>
              </a:ext>
            </a:extLst>
          </p:cNvPr>
          <p:cNvSpPr>
            <a:spLocks xmlns:a="http://schemas.openxmlformats.org/drawingml/2006/main" noGrp="1"/>
          </p:cNvSpPr>
          <p:nvPr/>
        </p:nvSpPr>
        <p:spPr>
          <a:xfrm xmlns:a="http://schemas.openxmlformats.org/drawingml/2006/main">
            <a:off x="609600" y="62865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211C27"/>
                </a:solidFill>
              </a:defRPr>
            </a:pPr>
            <a:r>
              <a:rPr sz="2550" b="1">
                <a:solidFill>
                  <a:srgbClr val="211C27"/>
                </a:solidFill>
              </a:rPr>
              <a:t>Triage is captured once. Risk keeps moving.</a:t>
            </a:r>
          </a:p>
        </p:txBody>
      </p:sp>
      <p:sp>
        <p:nvSpPr>
          <p:cNvPr id="3" name="">
            <a:extLst xmlns:a="http://schemas.openxmlformats.org/drawingml/2006/main">
              <a:ext uri="{FF2B5EF4-FFF2-40B4-BE49-F238E27FC236}">
                <a16:creationId xmlns:a16="http://schemas.microsoft.com/office/drawing/2014/main" id="{248FC615-1158-4739-BE01-6043ECCAC33E}"/>
              </a:ext>
            </a:extLst>
          </p:cNvPr>
          <p:cNvSpPr>
            <a:spLocks xmlns:a="http://schemas.openxmlformats.org/drawingml/2006/main" noGrp="1"/>
          </p:cNvSpPr>
          <p:nvPr/>
        </p:nvSpPr>
        <p:spPr>
          <a:xfrm xmlns:a="http://schemas.openxmlformats.org/drawingml/2006/main">
            <a:off x="609600" y="12192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5B67"/>
                </a:solidFill>
              </a:defRPr>
            </a:pPr>
            <a:r>
              <a:rPr sz="1275" b="0">
                <a:solidFill>
                  <a:srgbClr val="625B67"/>
                </a:solidFill>
              </a:rPr>
              <a:t>A category can stay frozen while both the patient and the queue change underneath it.</a:t>
            </a:r>
          </a:p>
        </p:txBody>
      </p:sp>
      <p:sp>
        <p:nvSpPr>
          <p:cNvPr id="4" name="">
            <a:extLst xmlns:a="http://schemas.openxmlformats.org/drawingml/2006/main">
              <a:ext uri="{FF2B5EF4-FFF2-40B4-BE49-F238E27FC236}">
                <a16:creationId xmlns:a16="http://schemas.microsoft.com/office/drawing/2014/main" id="{225A870A-F776-4774-9E7E-80F9C460F1FD}"/>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5" name="">
            <a:extLst xmlns:a="http://schemas.openxmlformats.org/drawingml/2006/main">
              <a:ext uri="{FF2B5EF4-FFF2-40B4-BE49-F238E27FC236}">
                <a16:creationId xmlns:a16="http://schemas.microsoft.com/office/drawing/2014/main" id="{0DEF8308-F9FA-45F8-B64D-44295C8BAA46}"/>
              </a:ext>
            </a:extLst>
          </p:cNvPr>
          <p:cNvSpPr>
            <a:spLocks xmlns:a="http://schemas.openxmlformats.org/drawingml/2006/main" noGrp="1"/>
          </p:cNvSpPr>
          <p:nvPr/>
        </p:nvSpPr>
        <p:spPr>
          <a:xfrm xmlns:a="http://schemas.openxmlformats.org/drawingml/2006/main">
            <a:off x="609600" y="6581775"/>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625B67"/>
                </a:solidFill>
              </a:defRPr>
            </a:pPr>
            <a:r>
              <a:rPr sz="675" b="0">
                <a:solidFill>
                  <a:srgbClr val="625B67"/>
                </a:solidFill>
              </a:rPr>
              <a:t>Synthetic decision-support prototype — not validated for clinical use</a:t>
            </a:r>
          </a:p>
        </p:txBody>
      </p:sp>
      <p:sp>
        <p:nvSpPr>
          <p:cNvPr id="6" name="">
            <a:extLst xmlns:a="http://schemas.openxmlformats.org/drawingml/2006/main">
              <a:ext uri="{FF2B5EF4-FFF2-40B4-BE49-F238E27FC236}">
                <a16:creationId xmlns:a16="http://schemas.microsoft.com/office/drawing/2014/main" id="{62AE9D8E-FD90-4D33-92BE-C23CCE8FCCDA}"/>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625B67"/>
                </a:solidFill>
              </a:defRPr>
            </a:pPr>
            <a:r>
              <a:rPr sz="750" b="1">
                <a:solidFill>
                  <a:srgbClr val="625B67"/>
                </a:solidFill>
              </a:rPr>
              <a:t>02</a:t>
            </a:r>
          </a:p>
        </p:txBody>
      </p:sp>
      <p:sp>
        <p:nvSpPr>
          <p:cNvPr id="7" name="">
            <a:extLst xmlns:a="http://schemas.openxmlformats.org/drawingml/2006/main">
              <a:ext uri="{FF2B5EF4-FFF2-40B4-BE49-F238E27FC236}">
                <a16:creationId xmlns:a16="http://schemas.microsoft.com/office/drawing/2014/main" id="{7F6B6109-7650-450A-B849-0A4F1F8D533E}"/>
              </a:ext>
            </a:extLst>
          </p:cNvPr>
          <p:cNvSpPr>
            <a:spLocks xmlns:a="http://schemas.openxmlformats.org/drawingml/2006/main" noGrp="1"/>
          </p:cNvSpPr>
          <p:nvPr/>
        </p:nvSpPr>
        <p:spPr>
          <a:xfrm xmlns:a="http://schemas.openxmlformats.org/drawingml/2006/main">
            <a:off x="723900" y="19431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25B67"/>
                </a:solidFill>
              </a:defRPr>
            </a:pPr>
            <a:r>
              <a:rPr sz="900" b="1">
                <a:solidFill>
                  <a:srgbClr val="625B67"/>
                </a:solidFill>
              </a:rPr>
              <a:t>ARRIVAL SNAPSHOT</a:t>
            </a:r>
          </a:p>
        </p:txBody>
      </p:sp>
      <p:sp>
        <p:nvSpPr>
          <p:cNvPr id="8" name="">
            <a:extLst xmlns:a="http://schemas.openxmlformats.org/drawingml/2006/main">
              <a:ext uri="{FF2B5EF4-FFF2-40B4-BE49-F238E27FC236}">
                <a16:creationId xmlns:a16="http://schemas.microsoft.com/office/drawing/2014/main" id="{68A98737-CE4A-43B0-88FB-CE490B275399}"/>
              </a:ext>
            </a:extLst>
          </p:cNvPr>
          <p:cNvSpPr>
            <a:spLocks xmlns:a="http://schemas.openxmlformats.org/drawingml/2006/main" noGrp="1"/>
          </p:cNvSpPr>
          <p:nvPr/>
        </p:nvSpPr>
        <p:spPr>
          <a:xfrm xmlns:a="http://schemas.openxmlformats.org/drawingml/2006/main">
            <a:off x="723900" y="2324100"/>
            <a:ext cx="2857500" cy="2705100"/>
          </a:xfrm>
          <a:prstGeom xmlns:a="http://schemas.openxmlformats.org/drawingml/2006/main" prst="roundRect">
            <a:avLst>
              <a:gd name="adj" fmla="val 6338"/>
            </a:avLst>
          </a:prstGeom>
          <a:solidFill xmlns:a="http://schemas.openxmlformats.org/drawingml/2006/main">
            <a:srgbClr val="F6F3F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960E8A9-EEC1-401A-8A7F-39C6857D42FE}"/>
              </a:ext>
            </a:extLst>
          </p:cNvPr>
          <p:cNvSpPr>
            <a:spLocks xmlns:a="http://schemas.openxmlformats.org/drawingml/2006/main" noGrp="1"/>
          </p:cNvSpPr>
          <p:nvPr/>
        </p:nvSpPr>
        <p:spPr>
          <a:xfrm xmlns:a="http://schemas.openxmlformats.org/drawingml/2006/main">
            <a:off x="990600" y="2571750"/>
            <a:ext cx="2324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211C27"/>
                </a:solidFill>
              </a:defRPr>
            </a:pPr>
            <a:r>
              <a:rPr sz="2100" b="1">
                <a:solidFill>
                  <a:srgbClr val="211C27"/>
                </a:solidFill>
              </a:rPr>
              <a:t>Level 3</a:t>
            </a:r>
          </a:p>
        </p:txBody>
      </p:sp>
      <p:sp>
        <p:nvSpPr>
          <p:cNvPr id="10" name="">
            <a:extLst xmlns:a="http://schemas.openxmlformats.org/drawingml/2006/main">
              <a:ext uri="{FF2B5EF4-FFF2-40B4-BE49-F238E27FC236}">
                <a16:creationId xmlns:a16="http://schemas.microsoft.com/office/drawing/2014/main" id="{44A0B0B4-F5D0-48F3-B171-DBBCF5021828}"/>
              </a:ext>
            </a:extLst>
          </p:cNvPr>
          <p:cNvSpPr>
            <a:spLocks xmlns:a="http://schemas.openxmlformats.org/drawingml/2006/main" noGrp="1"/>
          </p:cNvSpPr>
          <p:nvPr/>
        </p:nvSpPr>
        <p:spPr>
          <a:xfrm xmlns:a="http://schemas.openxmlformats.org/drawingml/2006/main">
            <a:off x="990600" y="3048000"/>
            <a:ext cx="2324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25B67"/>
                </a:solidFill>
              </a:defRPr>
            </a:pPr>
            <a:r>
              <a:rPr sz="1050" b="0">
                <a:solidFill>
                  <a:srgbClr val="625B67"/>
                </a:solidFill>
              </a:rPr>
              <a:t>Recorded at 20:05</a:t>
            </a:r>
          </a:p>
        </p:txBody>
      </p:sp>
      <p:sp>
        <p:nvSpPr>
          <p:cNvPr id="11" name="">
            <a:extLst xmlns:a="http://schemas.openxmlformats.org/drawingml/2006/main">
              <a:ext uri="{FF2B5EF4-FFF2-40B4-BE49-F238E27FC236}">
                <a16:creationId xmlns:a16="http://schemas.microsoft.com/office/drawing/2014/main" id="{DA97A0B8-7AF3-4CB7-BCE7-9F7C7E6CF8DC}"/>
              </a:ext>
            </a:extLst>
          </p:cNvPr>
          <p:cNvSpPr>
            <a:spLocks xmlns:a="http://schemas.openxmlformats.org/drawingml/2006/main" noGrp="1"/>
          </p:cNvSpPr>
          <p:nvPr/>
        </p:nvSpPr>
        <p:spPr>
          <a:xfrm xmlns:a="http://schemas.openxmlformats.org/drawingml/2006/main">
            <a:off x="990600" y="3543300"/>
            <a:ext cx="23241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12" name="">
            <a:extLst xmlns:a="http://schemas.openxmlformats.org/drawingml/2006/main">
              <a:ext uri="{FF2B5EF4-FFF2-40B4-BE49-F238E27FC236}">
                <a16:creationId xmlns:a16="http://schemas.microsoft.com/office/drawing/2014/main" id="{B66B102F-C19F-4588-9513-442E0FED82CC}"/>
              </a:ext>
            </a:extLst>
          </p:cNvPr>
          <p:cNvSpPr>
            <a:spLocks xmlns:a="http://schemas.openxmlformats.org/drawingml/2006/main" noGrp="1"/>
          </p:cNvSpPr>
          <p:nvPr/>
        </p:nvSpPr>
        <p:spPr>
          <a:xfrm xmlns:a="http://schemas.openxmlformats.org/drawingml/2006/main">
            <a:off x="990600" y="3790950"/>
            <a:ext cx="2324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11C27"/>
                </a:solidFill>
              </a:defRPr>
            </a:pPr>
            <a:r>
              <a:rPr sz="1275" b="1">
                <a:solidFill>
                  <a:srgbClr val="211C27"/>
                </a:solidFill>
              </a:rPr>
              <a:t>The category answers:</a:t>
            </a:r>
          </a:p>
          <a:p xmlns:a="http://schemas.openxmlformats.org/drawingml/2006/main">
            <a:pPr algn="l">
              <a:defRPr sz="1275" b="1">
                <a:solidFill>
                  <a:srgbClr val="211C27"/>
                </a:solidFill>
              </a:defRPr>
            </a:pPr>
            <a:r>
              <a:rPr sz="1275" b="1">
                <a:solidFill>
                  <a:srgbClr val="211C27"/>
                </a:solidFill>
              </a:rPr>
              <a:t>‘How urgent at intake?’</a:t>
            </a:r>
          </a:p>
        </p:txBody>
      </p:sp>
      <p:sp>
        <p:nvSpPr>
          <p:cNvPr id="13" name="">
            <a:extLst xmlns:a="http://schemas.openxmlformats.org/drawingml/2006/main">
              <a:ext uri="{FF2B5EF4-FFF2-40B4-BE49-F238E27FC236}">
                <a16:creationId xmlns:a16="http://schemas.microsoft.com/office/drawing/2014/main" id="{0BED0A63-28D0-4688-B470-83F8F79A448D}"/>
              </a:ext>
            </a:extLst>
          </p:cNvPr>
          <p:cNvSpPr>
            <a:spLocks xmlns:a="http://schemas.openxmlformats.org/drawingml/2006/main" noGrp="1"/>
          </p:cNvSpPr>
          <p:nvPr/>
        </p:nvSpPr>
        <p:spPr>
          <a:xfrm xmlns:a="http://schemas.openxmlformats.org/drawingml/2006/main">
            <a:off x="990600" y="45720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625B67"/>
                </a:solidFill>
              </a:defRPr>
            </a:pPr>
            <a:r>
              <a:rPr sz="975" b="0">
                <a:solidFill>
                  <a:srgbClr val="625B67"/>
                </a:solidFill>
              </a:rPr>
              <a:t>It does not continuously answer when the patient must be reassessed—or whether the ED can act in time.</a:t>
            </a:r>
          </a:p>
        </p:txBody>
      </p:sp>
      <p:sp>
        <p:nvSpPr>
          <p:cNvPr id="14" name="">
            <a:extLst xmlns:a="http://schemas.openxmlformats.org/drawingml/2006/main">
              <a:ext uri="{FF2B5EF4-FFF2-40B4-BE49-F238E27FC236}">
                <a16:creationId xmlns:a16="http://schemas.microsoft.com/office/drawing/2014/main" id="{304BC5BA-602E-4FDC-85F5-44E28DE6D0F3}"/>
              </a:ext>
            </a:extLst>
          </p:cNvPr>
          <p:cNvSpPr>
            <a:spLocks xmlns:a="http://schemas.openxmlformats.org/drawingml/2006/main" noGrp="1"/>
          </p:cNvSpPr>
          <p:nvPr/>
        </p:nvSpPr>
        <p:spPr>
          <a:xfrm xmlns:a="http://schemas.openxmlformats.org/drawingml/2006/main">
            <a:off x="4324350" y="1943100"/>
            <a:ext cx="552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1F5C"/>
                </a:solidFill>
              </a:defRPr>
            </a:pPr>
            <a:r>
              <a:rPr sz="900" b="1">
                <a:solidFill>
                  <a:srgbClr val="7A1F5C"/>
                </a:solidFill>
              </a:rPr>
              <a:t>THE SYSTEM KEEPS MOVING</a:t>
            </a:r>
          </a:p>
        </p:txBody>
      </p:sp>
      <p:sp>
        <p:nvSpPr>
          <p:cNvPr id="15" name="">
            <a:extLst xmlns:a="http://schemas.openxmlformats.org/drawingml/2006/main">
              <a:ext uri="{FF2B5EF4-FFF2-40B4-BE49-F238E27FC236}">
                <a16:creationId xmlns:a16="http://schemas.microsoft.com/office/drawing/2014/main" id="{4ED36B50-F663-46C7-BD09-0405829C9131}"/>
              </a:ext>
            </a:extLst>
          </p:cNvPr>
          <p:cNvSpPr>
            <a:spLocks xmlns:a="http://schemas.openxmlformats.org/drawingml/2006/main" noGrp="1"/>
          </p:cNvSpPr>
          <p:nvPr/>
        </p:nvSpPr>
        <p:spPr>
          <a:xfrm xmlns:a="http://schemas.openxmlformats.org/drawingml/2006/main">
            <a:off x="4476750" y="2990850"/>
            <a:ext cx="6096000" cy="0"/>
          </a:xfrm>
          <a:prstGeom xmlns:a="http://schemas.openxmlformats.org/drawingml/2006/main" prst="line">
            <a:avLst/>
          </a:prstGeom>
          <a:noFill xmlns:a="http://schemas.openxmlformats.org/drawingml/2006/main"/>
          <a:ln xmlns:a="http://schemas.openxmlformats.org/drawingml/2006/main" w="38100">
            <a:solidFill>
              <a:srgbClr val="E5DFE5"/>
            </a:solidFill>
            <a:prstDash val="solid"/>
          </a:ln>
        </p:spPr>
      </p:sp>
      <p:sp>
        <p:nvSpPr>
          <p:cNvPr id="16" name="">
            <a:extLst xmlns:a="http://schemas.openxmlformats.org/drawingml/2006/main">
              <a:ext uri="{FF2B5EF4-FFF2-40B4-BE49-F238E27FC236}">
                <a16:creationId xmlns:a16="http://schemas.microsoft.com/office/drawing/2014/main" id="{CF4522E2-D05D-42A1-BE50-5D6CE3811B35}"/>
              </a:ext>
            </a:extLst>
          </p:cNvPr>
          <p:cNvSpPr>
            <a:spLocks xmlns:a="http://schemas.openxmlformats.org/drawingml/2006/main" noGrp="1"/>
          </p:cNvSpPr>
          <p:nvPr/>
        </p:nvSpPr>
        <p:spPr>
          <a:xfrm xmlns:a="http://schemas.openxmlformats.org/drawingml/2006/main">
            <a:off x="4667250" y="2819400"/>
            <a:ext cx="323850" cy="323850"/>
          </a:xfrm>
          <a:prstGeom xmlns:a="http://schemas.openxmlformats.org/drawingml/2006/main" prst="roundRect">
            <a:avLst>
              <a:gd name="adj" fmla="val 50000"/>
            </a:avLst>
          </a:prstGeom>
          <a:solidFill xmlns:a="http://schemas.openxmlformats.org/drawingml/2006/main">
            <a:srgbClr val="3267A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55920EF-8E9B-49CF-A7A4-90C3F3F5BB9D}"/>
              </a:ext>
            </a:extLst>
          </p:cNvPr>
          <p:cNvSpPr>
            <a:spLocks xmlns:a="http://schemas.openxmlformats.org/drawingml/2006/main" noGrp="1"/>
          </p:cNvSpPr>
          <p:nvPr/>
        </p:nvSpPr>
        <p:spPr>
          <a:xfrm xmlns:a="http://schemas.openxmlformats.org/drawingml/2006/main">
            <a:off x="4362450" y="32766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3267A8"/>
                </a:solidFill>
              </a:defRPr>
            </a:pPr>
            <a:r>
              <a:rPr sz="1050" b="1">
                <a:solidFill>
                  <a:srgbClr val="3267A8"/>
                </a:solidFill>
              </a:rPr>
              <a:t>20:05</a:t>
            </a:r>
          </a:p>
        </p:txBody>
      </p:sp>
      <p:sp>
        <p:nvSpPr>
          <p:cNvPr id="18" name="">
            <a:extLst xmlns:a="http://schemas.openxmlformats.org/drawingml/2006/main">
              <a:ext uri="{FF2B5EF4-FFF2-40B4-BE49-F238E27FC236}">
                <a16:creationId xmlns:a16="http://schemas.microsoft.com/office/drawing/2014/main" id="{F493722D-FFD0-47C1-A5FC-B61A26F785DE}"/>
              </a:ext>
            </a:extLst>
          </p:cNvPr>
          <p:cNvSpPr>
            <a:spLocks xmlns:a="http://schemas.openxmlformats.org/drawingml/2006/main" noGrp="1"/>
          </p:cNvSpPr>
          <p:nvPr/>
        </p:nvSpPr>
        <p:spPr>
          <a:xfrm xmlns:a="http://schemas.openxmlformats.org/drawingml/2006/main">
            <a:off x="4114800" y="356235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211C27"/>
                </a:solidFill>
              </a:defRPr>
            </a:pPr>
            <a:r>
              <a:rPr sz="1050" b="1">
                <a:solidFill>
                  <a:srgbClr val="211C27"/>
                </a:solidFill>
              </a:rPr>
              <a:t>Triage</a:t>
            </a:r>
          </a:p>
        </p:txBody>
      </p:sp>
      <p:sp>
        <p:nvSpPr>
          <p:cNvPr id="19" name="">
            <a:extLst xmlns:a="http://schemas.openxmlformats.org/drawingml/2006/main">
              <a:ext uri="{FF2B5EF4-FFF2-40B4-BE49-F238E27FC236}">
                <a16:creationId xmlns:a16="http://schemas.microsoft.com/office/drawing/2014/main" id="{29853521-9FE2-4912-A58E-CA96E8F13FAE}"/>
              </a:ext>
            </a:extLst>
          </p:cNvPr>
          <p:cNvSpPr>
            <a:spLocks xmlns:a="http://schemas.openxmlformats.org/drawingml/2006/main" noGrp="1"/>
          </p:cNvSpPr>
          <p:nvPr/>
        </p:nvSpPr>
        <p:spPr>
          <a:xfrm xmlns:a="http://schemas.openxmlformats.org/drawingml/2006/main">
            <a:off x="6572250" y="2819400"/>
            <a:ext cx="323850" cy="323850"/>
          </a:xfrm>
          <a:prstGeom xmlns:a="http://schemas.openxmlformats.org/drawingml/2006/main" prst="roundRect">
            <a:avLst>
              <a:gd name="adj" fmla="val 50000"/>
            </a:avLst>
          </a:prstGeom>
          <a:solidFill xmlns:a="http://schemas.openxmlformats.org/drawingml/2006/main">
            <a:srgbClr val="A15C0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BC5C52C-A397-4FB6-8667-2C19DF133063}"/>
              </a:ext>
            </a:extLst>
          </p:cNvPr>
          <p:cNvSpPr>
            <a:spLocks xmlns:a="http://schemas.openxmlformats.org/drawingml/2006/main" noGrp="1"/>
          </p:cNvSpPr>
          <p:nvPr/>
        </p:nvSpPr>
        <p:spPr>
          <a:xfrm xmlns:a="http://schemas.openxmlformats.org/drawingml/2006/main">
            <a:off x="6267450" y="32766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A15C00"/>
                </a:solidFill>
              </a:defRPr>
            </a:pPr>
            <a:r>
              <a:rPr sz="1050" b="1">
                <a:solidFill>
                  <a:srgbClr val="A15C00"/>
                </a:solidFill>
              </a:rPr>
              <a:t>20:22</a:t>
            </a:r>
          </a:p>
        </p:txBody>
      </p:sp>
      <p:sp>
        <p:nvSpPr>
          <p:cNvPr id="21" name="">
            <a:extLst xmlns:a="http://schemas.openxmlformats.org/drawingml/2006/main">
              <a:ext uri="{FF2B5EF4-FFF2-40B4-BE49-F238E27FC236}">
                <a16:creationId xmlns:a16="http://schemas.microsoft.com/office/drawing/2014/main" id="{5419A48B-81F5-4A9A-A244-8D2BE6669D65}"/>
              </a:ext>
            </a:extLst>
          </p:cNvPr>
          <p:cNvSpPr>
            <a:spLocks xmlns:a="http://schemas.openxmlformats.org/drawingml/2006/main" noGrp="1"/>
          </p:cNvSpPr>
          <p:nvPr/>
        </p:nvSpPr>
        <p:spPr>
          <a:xfrm xmlns:a="http://schemas.openxmlformats.org/drawingml/2006/main">
            <a:off x="6019800" y="356235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211C27"/>
                </a:solidFill>
              </a:defRPr>
            </a:pPr>
            <a:r>
              <a:rPr sz="1050" b="1">
                <a:solidFill>
                  <a:srgbClr val="211C27"/>
                </a:solidFill>
              </a:rPr>
              <a:t>Wait threshold</a:t>
            </a:r>
          </a:p>
        </p:txBody>
      </p:sp>
      <p:sp>
        <p:nvSpPr>
          <p:cNvPr id="22" name="">
            <a:extLst xmlns:a="http://schemas.openxmlformats.org/drawingml/2006/main">
              <a:ext uri="{FF2B5EF4-FFF2-40B4-BE49-F238E27FC236}">
                <a16:creationId xmlns:a16="http://schemas.microsoft.com/office/drawing/2014/main" id="{77E1A074-3AF9-44FC-BD77-A414158FD504}"/>
              </a:ext>
            </a:extLst>
          </p:cNvPr>
          <p:cNvSpPr>
            <a:spLocks xmlns:a="http://schemas.openxmlformats.org/drawingml/2006/main" noGrp="1"/>
          </p:cNvSpPr>
          <p:nvPr/>
        </p:nvSpPr>
        <p:spPr>
          <a:xfrm xmlns:a="http://schemas.openxmlformats.org/drawingml/2006/main">
            <a:off x="8572500" y="2819400"/>
            <a:ext cx="323850" cy="323850"/>
          </a:xfrm>
          <a:prstGeom xmlns:a="http://schemas.openxmlformats.org/drawingml/2006/main" prst="roundRect">
            <a:avLst>
              <a:gd name="adj" fmla="val 50000"/>
            </a:avLst>
          </a:prstGeom>
          <a:solidFill xmlns:a="http://schemas.openxmlformats.org/drawingml/2006/main">
            <a:srgbClr val="B4231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F114DD4-96B1-4932-9620-F63F0AED4107}"/>
              </a:ext>
            </a:extLst>
          </p:cNvPr>
          <p:cNvSpPr>
            <a:spLocks xmlns:a="http://schemas.openxmlformats.org/drawingml/2006/main" noGrp="1"/>
          </p:cNvSpPr>
          <p:nvPr/>
        </p:nvSpPr>
        <p:spPr>
          <a:xfrm xmlns:a="http://schemas.openxmlformats.org/drawingml/2006/main">
            <a:off x="8267700" y="32766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B42318"/>
                </a:solidFill>
              </a:defRPr>
            </a:pPr>
            <a:r>
              <a:rPr sz="1050" b="1">
                <a:solidFill>
                  <a:srgbClr val="B42318"/>
                </a:solidFill>
              </a:rPr>
              <a:t>20:31</a:t>
            </a:r>
          </a:p>
        </p:txBody>
      </p:sp>
      <p:sp>
        <p:nvSpPr>
          <p:cNvPr id="24" name="">
            <a:extLst xmlns:a="http://schemas.openxmlformats.org/drawingml/2006/main">
              <a:ext uri="{FF2B5EF4-FFF2-40B4-BE49-F238E27FC236}">
                <a16:creationId xmlns:a16="http://schemas.microsoft.com/office/drawing/2014/main" id="{6247E10E-4A11-412D-8827-1E39746442DD}"/>
              </a:ext>
            </a:extLst>
          </p:cNvPr>
          <p:cNvSpPr>
            <a:spLocks xmlns:a="http://schemas.openxmlformats.org/drawingml/2006/main" noGrp="1"/>
          </p:cNvSpPr>
          <p:nvPr/>
        </p:nvSpPr>
        <p:spPr>
          <a:xfrm xmlns:a="http://schemas.openxmlformats.org/drawingml/2006/main">
            <a:off x="8020050" y="356235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211C27"/>
                </a:solidFill>
              </a:defRPr>
            </a:pPr>
            <a:r>
              <a:rPr sz="1050" b="1">
                <a:solidFill>
                  <a:srgbClr val="211C27"/>
                </a:solidFill>
              </a:rPr>
              <a:t>Vitals worsen</a:t>
            </a:r>
          </a:p>
        </p:txBody>
      </p:sp>
      <p:sp>
        <p:nvSpPr>
          <p:cNvPr id="25" name="">
            <a:extLst xmlns:a="http://schemas.openxmlformats.org/drawingml/2006/main">
              <a:ext uri="{FF2B5EF4-FFF2-40B4-BE49-F238E27FC236}">
                <a16:creationId xmlns:a16="http://schemas.microsoft.com/office/drawing/2014/main" id="{5E98FE30-CBBB-4B9C-BA86-920ABE7806B5}"/>
              </a:ext>
            </a:extLst>
          </p:cNvPr>
          <p:cNvSpPr>
            <a:spLocks xmlns:a="http://schemas.openxmlformats.org/drawingml/2006/main" noGrp="1"/>
          </p:cNvSpPr>
          <p:nvPr/>
        </p:nvSpPr>
        <p:spPr>
          <a:xfrm xmlns:a="http://schemas.openxmlformats.org/drawingml/2006/main">
            <a:off x="10382250" y="2819400"/>
            <a:ext cx="323850" cy="323850"/>
          </a:xfrm>
          <a:prstGeom xmlns:a="http://schemas.openxmlformats.org/drawingml/2006/main" prst="roundRect">
            <a:avLst>
              <a:gd name="adj" fmla="val 50000"/>
            </a:avLst>
          </a:prstGeom>
          <a:solidFill xmlns:a="http://schemas.openxmlformats.org/drawingml/2006/main">
            <a:srgbClr val="7A1F5C"/>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0920F9E-6A22-47D8-B053-AB2EB80B881E}"/>
              </a:ext>
            </a:extLst>
          </p:cNvPr>
          <p:cNvSpPr>
            <a:spLocks xmlns:a="http://schemas.openxmlformats.org/drawingml/2006/main" noGrp="1"/>
          </p:cNvSpPr>
          <p:nvPr/>
        </p:nvSpPr>
        <p:spPr>
          <a:xfrm xmlns:a="http://schemas.openxmlformats.org/drawingml/2006/main">
            <a:off x="10077450" y="32766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A1F5C"/>
                </a:solidFill>
              </a:defRPr>
            </a:pPr>
            <a:r>
              <a:rPr sz="1050" b="1">
                <a:solidFill>
                  <a:srgbClr val="7A1F5C"/>
                </a:solidFill>
              </a:rPr>
              <a:t>20:39</a:t>
            </a:r>
          </a:p>
        </p:txBody>
      </p:sp>
      <p:sp>
        <p:nvSpPr>
          <p:cNvPr id="27" name="">
            <a:extLst xmlns:a="http://schemas.openxmlformats.org/drawingml/2006/main">
              <a:ext uri="{FF2B5EF4-FFF2-40B4-BE49-F238E27FC236}">
                <a16:creationId xmlns:a16="http://schemas.microsoft.com/office/drawing/2014/main" id="{1C60AB52-A8A5-45C9-AB55-4362F006CD82}"/>
              </a:ext>
            </a:extLst>
          </p:cNvPr>
          <p:cNvSpPr>
            <a:spLocks xmlns:a="http://schemas.openxmlformats.org/drawingml/2006/main" noGrp="1"/>
          </p:cNvSpPr>
          <p:nvPr/>
        </p:nvSpPr>
        <p:spPr>
          <a:xfrm xmlns:a="http://schemas.openxmlformats.org/drawingml/2006/main">
            <a:off x="9829800" y="3562350"/>
            <a:ext cx="1428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211C27"/>
                </a:solidFill>
              </a:defRPr>
            </a:pPr>
            <a:r>
              <a:rPr sz="1050" b="1">
                <a:solidFill>
                  <a:srgbClr val="211C27"/>
                </a:solidFill>
              </a:rPr>
              <a:t>Capacity conflict</a:t>
            </a:r>
          </a:p>
        </p:txBody>
      </p:sp>
      <p:sp>
        <p:nvSpPr>
          <p:cNvPr id="28" name="">
            <a:extLst xmlns:a="http://schemas.openxmlformats.org/drawingml/2006/main">
              <a:ext uri="{FF2B5EF4-FFF2-40B4-BE49-F238E27FC236}">
                <a16:creationId xmlns:a16="http://schemas.microsoft.com/office/drawing/2014/main" id="{8C788A61-05D8-47E8-B922-D66B4D43EC84}"/>
              </a:ext>
            </a:extLst>
          </p:cNvPr>
          <p:cNvSpPr>
            <a:spLocks xmlns:a="http://schemas.openxmlformats.org/drawingml/2006/main" noGrp="1"/>
          </p:cNvSpPr>
          <p:nvPr/>
        </p:nvSpPr>
        <p:spPr>
          <a:xfrm xmlns:a="http://schemas.openxmlformats.org/drawingml/2006/main">
            <a:off x="4324350" y="4305300"/>
            <a:ext cx="6705600" cy="1066800"/>
          </a:xfrm>
          <a:prstGeom xmlns:a="http://schemas.openxmlformats.org/drawingml/2006/main" prst="roundRect">
            <a:avLst>
              <a:gd name="adj" fmla="val 14286"/>
            </a:avLst>
          </a:prstGeom>
          <a:solidFill xmlns:a="http://schemas.openxmlformats.org/drawingml/2006/main">
            <a:srgbClr val="FEECE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9033E88-EE68-4EDF-91BE-22AA464BECD9}"/>
              </a:ext>
            </a:extLst>
          </p:cNvPr>
          <p:cNvSpPr>
            <a:spLocks xmlns:a="http://schemas.openxmlformats.org/drawingml/2006/main" noGrp="1"/>
          </p:cNvSpPr>
          <p:nvPr/>
        </p:nvSpPr>
        <p:spPr>
          <a:xfrm xmlns:a="http://schemas.openxmlformats.org/drawingml/2006/main">
            <a:off x="4552950" y="44958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B42318"/>
                </a:solidFill>
              </a:defRPr>
            </a:pPr>
            <a:r>
              <a:rPr sz="975" b="1">
                <a:solidFill>
                  <a:srgbClr val="B42318"/>
                </a:solidFill>
              </a:rPr>
              <a:t>The operational question</a:t>
            </a:r>
          </a:p>
        </p:txBody>
      </p:sp>
      <p:sp>
        <p:nvSpPr>
          <p:cNvPr id="30" name="">
            <a:extLst xmlns:a="http://schemas.openxmlformats.org/drawingml/2006/main">
              <a:ext uri="{FF2B5EF4-FFF2-40B4-BE49-F238E27FC236}">
                <a16:creationId xmlns:a16="http://schemas.microsoft.com/office/drawing/2014/main" id="{B4925C56-6644-41DA-A978-58276B280AA6}"/>
              </a:ext>
            </a:extLst>
          </p:cNvPr>
          <p:cNvSpPr>
            <a:spLocks xmlns:a="http://schemas.openxmlformats.org/drawingml/2006/main" noGrp="1"/>
          </p:cNvSpPr>
          <p:nvPr/>
        </p:nvSpPr>
        <p:spPr>
          <a:xfrm xmlns:a="http://schemas.openxmlformats.org/drawingml/2006/main">
            <a:off x="4552950" y="4800600"/>
            <a:ext cx="6134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211C27"/>
                </a:solidFill>
              </a:defRPr>
            </a:pPr>
            <a:r>
              <a:rPr sz="1425" b="1">
                <a:solidFill>
                  <a:srgbClr val="211C27"/>
                </a:solidFill>
              </a:rPr>
              <a:t>Who is becoming unsafe to wait, by when must we act, and can the department meet that need?</a:t>
            </a:r>
          </a:p>
        </p:txBody>
      </p:sp>
    </p:spTree>
    <p:extLst>
      <p:ext uri="{BB962C8B-B14F-4D97-AF65-F5344CB8AC3E}">
        <p14:creationId xmlns:p14="http://schemas.microsoft.com/office/powerpoint/2010/main" val="6052993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72964DC-BB35-4472-A9C8-7EF896733434}"/>
              </a:ext>
            </a:extLst>
          </p:cNvPr>
          <p:cNvSpPr>
            <a:spLocks xmlns:a="http://schemas.openxmlformats.org/drawingml/2006/main" noGrp="1"/>
          </p:cNvSpPr>
          <p:nvPr/>
        </p:nvSpPr>
        <p:spPr>
          <a:xfrm xmlns:a="http://schemas.openxmlformats.org/drawingml/2006/main">
            <a:off x="609600" y="3429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A1F5C"/>
                </a:solidFill>
              </a:defRPr>
            </a:pPr>
            <a:r>
              <a:rPr sz="825" b="1">
                <a:solidFill>
                  <a:srgbClr val="7A1F5C"/>
                </a:solidFill>
              </a:rPr>
              <a:t>THE NEW UNIT OF WORK</a:t>
            </a:r>
          </a:p>
        </p:txBody>
      </p:sp>
      <p:sp>
        <p:nvSpPr>
          <p:cNvPr id="2" name="">
            <a:extLst xmlns:a="http://schemas.openxmlformats.org/drawingml/2006/main">
              <a:ext uri="{FF2B5EF4-FFF2-40B4-BE49-F238E27FC236}">
                <a16:creationId xmlns:a16="http://schemas.microsoft.com/office/drawing/2014/main" id="{1A24948F-015F-4EA3-AAFE-752172295E79}"/>
              </a:ext>
            </a:extLst>
          </p:cNvPr>
          <p:cNvSpPr>
            <a:spLocks xmlns:a="http://schemas.openxmlformats.org/drawingml/2006/main" noGrp="1"/>
          </p:cNvSpPr>
          <p:nvPr/>
        </p:nvSpPr>
        <p:spPr>
          <a:xfrm xmlns:a="http://schemas.openxmlformats.org/drawingml/2006/main">
            <a:off x="609600" y="62865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211C27"/>
                </a:solidFill>
              </a:defRPr>
            </a:pPr>
            <a:r>
              <a:rPr sz="2550" b="1">
                <a:solidFill>
                  <a:srgbClr val="211C27"/>
                </a:solidFill>
              </a:rPr>
              <a:t>A score describes risk. A deadline organizes action.</a:t>
            </a:r>
          </a:p>
        </p:txBody>
      </p:sp>
      <p:sp>
        <p:nvSpPr>
          <p:cNvPr id="3" name="">
            <a:extLst xmlns:a="http://schemas.openxmlformats.org/drawingml/2006/main">
              <a:ext uri="{FF2B5EF4-FFF2-40B4-BE49-F238E27FC236}">
                <a16:creationId xmlns:a16="http://schemas.microsoft.com/office/drawing/2014/main" id="{59BEEC45-F1B5-454E-96F7-98B8ECFB069A}"/>
              </a:ext>
            </a:extLst>
          </p:cNvPr>
          <p:cNvSpPr>
            <a:spLocks xmlns:a="http://schemas.openxmlformats.org/drawingml/2006/main" noGrp="1"/>
          </p:cNvSpPr>
          <p:nvPr/>
        </p:nvSpPr>
        <p:spPr>
          <a:xfrm xmlns:a="http://schemas.openxmlformats.org/drawingml/2006/main">
            <a:off x="609600" y="12192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5B67"/>
                </a:solidFill>
              </a:defRPr>
            </a:pPr>
            <a:r>
              <a:rPr sz="1275" b="0">
                <a:solidFill>
                  <a:srgbClr val="625B67"/>
                </a:solidFill>
              </a:rPr>
              <a:t>TriageLoop turns changing evidence into a conservative time requirement—then refuses to confuse ranking with capacity.</a:t>
            </a:r>
          </a:p>
        </p:txBody>
      </p:sp>
      <p:sp>
        <p:nvSpPr>
          <p:cNvPr id="4" name="">
            <a:extLst xmlns:a="http://schemas.openxmlformats.org/drawingml/2006/main">
              <a:ext uri="{FF2B5EF4-FFF2-40B4-BE49-F238E27FC236}">
                <a16:creationId xmlns:a16="http://schemas.microsoft.com/office/drawing/2014/main" id="{1E15DBE3-D76F-4A18-A36C-4495C643675D}"/>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5" name="">
            <a:extLst xmlns:a="http://schemas.openxmlformats.org/drawingml/2006/main">
              <a:ext uri="{FF2B5EF4-FFF2-40B4-BE49-F238E27FC236}">
                <a16:creationId xmlns:a16="http://schemas.microsoft.com/office/drawing/2014/main" id="{98B6CCF4-F9ED-4EA7-8049-344E4BA53396}"/>
              </a:ext>
            </a:extLst>
          </p:cNvPr>
          <p:cNvSpPr>
            <a:spLocks xmlns:a="http://schemas.openxmlformats.org/drawingml/2006/main" noGrp="1"/>
          </p:cNvSpPr>
          <p:nvPr/>
        </p:nvSpPr>
        <p:spPr>
          <a:xfrm xmlns:a="http://schemas.openxmlformats.org/drawingml/2006/main">
            <a:off x="609600" y="6581775"/>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625B67"/>
                </a:solidFill>
              </a:defRPr>
            </a:pPr>
            <a:r>
              <a:rPr sz="675" b="0">
                <a:solidFill>
                  <a:srgbClr val="625B67"/>
                </a:solidFill>
              </a:rPr>
              <a:t>Synthetic decision-support prototype — not validated for clinical use</a:t>
            </a:r>
          </a:p>
        </p:txBody>
      </p:sp>
      <p:sp>
        <p:nvSpPr>
          <p:cNvPr id="6" name="">
            <a:extLst xmlns:a="http://schemas.openxmlformats.org/drawingml/2006/main">
              <a:ext uri="{FF2B5EF4-FFF2-40B4-BE49-F238E27FC236}">
                <a16:creationId xmlns:a16="http://schemas.microsoft.com/office/drawing/2014/main" id="{AEFCB4C0-53CB-4A7D-932D-16F6C4FE6380}"/>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625B67"/>
                </a:solidFill>
              </a:defRPr>
            </a:pPr>
            <a:r>
              <a:rPr sz="750" b="1">
                <a:solidFill>
                  <a:srgbClr val="625B67"/>
                </a:solidFill>
              </a:rPr>
              <a:t>03</a:t>
            </a:r>
          </a:p>
        </p:txBody>
      </p:sp>
      <p:sp>
        <p:nvSpPr>
          <p:cNvPr id="7" name="">
            <a:extLst xmlns:a="http://schemas.openxmlformats.org/drawingml/2006/main">
              <a:ext uri="{FF2B5EF4-FFF2-40B4-BE49-F238E27FC236}">
                <a16:creationId xmlns:a16="http://schemas.microsoft.com/office/drawing/2014/main" id="{68D2BB4F-CE87-4B64-82E9-88297C0930FE}"/>
              </a:ext>
            </a:extLst>
          </p:cNvPr>
          <p:cNvSpPr>
            <a:spLocks xmlns:a="http://schemas.openxmlformats.org/drawingml/2006/main" noGrp="1"/>
          </p:cNvSpPr>
          <p:nvPr/>
        </p:nvSpPr>
        <p:spPr>
          <a:xfrm xmlns:a="http://schemas.openxmlformats.org/drawingml/2006/main">
            <a:off x="685800" y="20002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1F5C"/>
                </a:solidFill>
              </a:defRPr>
            </a:pPr>
            <a:r>
              <a:rPr sz="900" b="1">
                <a:solidFill>
                  <a:srgbClr val="7A1F5C"/>
                </a:solidFill>
              </a:rPr>
              <a:t>PATIENT-SPECIFIC ACTION WINDOW</a:t>
            </a:r>
          </a:p>
        </p:txBody>
      </p:sp>
      <p:sp>
        <p:nvSpPr>
          <p:cNvPr id="8" name="">
            <a:extLst xmlns:a="http://schemas.openxmlformats.org/drawingml/2006/main">
              <a:ext uri="{FF2B5EF4-FFF2-40B4-BE49-F238E27FC236}">
                <a16:creationId xmlns:a16="http://schemas.microsoft.com/office/drawing/2014/main" id="{039A4F65-47FD-4432-B935-78B132A1810A}"/>
              </a:ext>
            </a:extLst>
          </p:cNvPr>
          <p:cNvSpPr>
            <a:spLocks xmlns:a="http://schemas.openxmlformats.org/drawingml/2006/main" noGrp="1"/>
          </p:cNvSpPr>
          <p:nvPr/>
        </p:nvSpPr>
        <p:spPr>
          <a:xfrm xmlns:a="http://schemas.openxmlformats.org/drawingml/2006/main">
            <a:off x="685800" y="2381250"/>
            <a:ext cx="10820400" cy="1104900"/>
          </a:xfrm>
          <a:prstGeom xmlns:a="http://schemas.openxmlformats.org/drawingml/2006/main" prst="roundRect">
            <a:avLst>
              <a:gd name="adj" fmla="val 15517"/>
            </a:avLst>
          </a:prstGeom>
          <a:solidFill xmlns:a="http://schemas.openxmlformats.org/drawingml/2006/main">
            <a:srgbClr val="F6F3F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CBAA077-CDF1-4FDA-B55F-EC42B3B6EE7C}"/>
              </a:ext>
            </a:extLst>
          </p:cNvPr>
          <p:cNvSpPr>
            <a:spLocks xmlns:a="http://schemas.openxmlformats.org/drawingml/2006/main" noGrp="1"/>
          </p:cNvSpPr>
          <p:nvPr/>
        </p:nvSpPr>
        <p:spPr>
          <a:xfrm xmlns:a="http://schemas.openxmlformats.org/drawingml/2006/main">
            <a:off x="1200150" y="2943225"/>
            <a:ext cx="9467850" cy="0"/>
          </a:xfrm>
          <a:prstGeom xmlns:a="http://schemas.openxmlformats.org/drawingml/2006/main" prst="line">
            <a:avLst/>
          </a:prstGeom>
          <a:noFill xmlns:a="http://schemas.openxmlformats.org/drawingml/2006/main"/>
          <a:ln xmlns:a="http://schemas.openxmlformats.org/drawingml/2006/main" w="76200">
            <a:solidFill>
              <a:srgbClr val="E5DFE5"/>
            </a:solidFill>
            <a:prstDash val="solid"/>
          </a:ln>
        </p:spPr>
      </p:sp>
      <p:sp>
        <p:nvSpPr>
          <p:cNvPr id="10" name="">
            <a:extLst xmlns:a="http://schemas.openxmlformats.org/drawingml/2006/main">
              <a:ext uri="{FF2B5EF4-FFF2-40B4-BE49-F238E27FC236}">
                <a16:creationId xmlns:a16="http://schemas.microsoft.com/office/drawing/2014/main" id="{A073833C-95D1-4E33-B3DE-8784CD719173}"/>
              </a:ext>
            </a:extLst>
          </p:cNvPr>
          <p:cNvSpPr>
            <a:spLocks xmlns:a="http://schemas.openxmlformats.org/drawingml/2006/main" noGrp="1"/>
          </p:cNvSpPr>
          <p:nvPr/>
        </p:nvSpPr>
        <p:spPr>
          <a:xfrm xmlns:a="http://schemas.openxmlformats.org/drawingml/2006/main">
            <a:off x="3676650" y="2752725"/>
            <a:ext cx="381000" cy="381000"/>
          </a:xfrm>
          <a:prstGeom xmlns:a="http://schemas.openxmlformats.org/drawingml/2006/main" prst="roundRect">
            <a:avLst>
              <a:gd name="adj" fmla="val 50000"/>
            </a:avLst>
          </a:prstGeom>
          <a:solidFill xmlns:a="http://schemas.openxmlformats.org/drawingml/2006/main">
            <a:srgbClr val="7A1F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94E5868-2DFD-4818-BFD4-4A31C4F7B0DA}"/>
              </a:ext>
            </a:extLst>
          </p:cNvPr>
          <p:cNvSpPr>
            <a:spLocks xmlns:a="http://schemas.openxmlformats.org/drawingml/2006/main" noGrp="1"/>
          </p:cNvSpPr>
          <p:nvPr/>
        </p:nvSpPr>
        <p:spPr>
          <a:xfrm xmlns:a="http://schemas.openxmlformats.org/drawingml/2006/main">
            <a:off x="7810500" y="2752725"/>
            <a:ext cx="381000" cy="381000"/>
          </a:xfrm>
          <a:prstGeom xmlns:a="http://schemas.openxmlformats.org/drawingml/2006/main" prst="roundRect">
            <a:avLst>
              <a:gd name="adj" fmla="val 50000"/>
            </a:avLst>
          </a:prstGeom>
          <a:solidFill xmlns:a="http://schemas.openxmlformats.org/drawingml/2006/main">
            <a:srgbClr val="B4231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A1FD50D-B9BF-4E38-BE32-E795AD9DD864}"/>
              </a:ext>
            </a:extLst>
          </p:cNvPr>
          <p:cNvSpPr>
            <a:spLocks xmlns:a="http://schemas.openxmlformats.org/drawingml/2006/main" noGrp="1"/>
          </p:cNvSpPr>
          <p:nvPr/>
        </p:nvSpPr>
        <p:spPr>
          <a:xfrm xmlns:a="http://schemas.openxmlformats.org/drawingml/2006/main">
            <a:off x="952500" y="2514600"/>
            <a:ext cx="800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25B67"/>
                </a:solidFill>
              </a:defRPr>
            </a:pPr>
            <a:r>
              <a:rPr sz="825" b="1">
                <a:solidFill>
                  <a:srgbClr val="625B67"/>
                </a:solidFill>
              </a:rPr>
              <a:t>NOW</a:t>
            </a:r>
          </a:p>
        </p:txBody>
      </p:sp>
      <p:sp>
        <p:nvSpPr>
          <p:cNvPr id="13" name="">
            <a:extLst xmlns:a="http://schemas.openxmlformats.org/drawingml/2006/main">
              <a:ext uri="{FF2B5EF4-FFF2-40B4-BE49-F238E27FC236}">
                <a16:creationId xmlns:a16="http://schemas.microsoft.com/office/drawing/2014/main" id="{F0008DDE-18B2-4162-90B0-6F55D151B3F8}"/>
              </a:ext>
            </a:extLst>
          </p:cNvPr>
          <p:cNvSpPr>
            <a:spLocks xmlns:a="http://schemas.openxmlformats.org/drawingml/2006/main" noGrp="1"/>
          </p:cNvSpPr>
          <p:nvPr/>
        </p:nvSpPr>
        <p:spPr>
          <a:xfrm xmlns:a="http://schemas.openxmlformats.org/drawingml/2006/main">
            <a:off x="2895600" y="3105150"/>
            <a:ext cx="1924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7A1F5C"/>
                </a:solidFill>
              </a:defRPr>
            </a:pPr>
            <a:r>
              <a:rPr sz="1050" b="1">
                <a:solidFill>
                  <a:srgbClr val="7A1F5C"/>
                </a:solidFill>
              </a:rPr>
              <a:t>ACTION WINDOW</a:t>
            </a:r>
          </a:p>
          <a:p xmlns:a="http://schemas.openxmlformats.org/drawingml/2006/main">
            <a:pPr algn="ctr">
              <a:defRPr sz="1050" b="1">
                <a:solidFill>
                  <a:srgbClr val="7A1F5C"/>
                </a:solidFill>
              </a:defRPr>
            </a:pPr>
            <a:r>
              <a:rPr sz="1050" b="1">
                <a:solidFill>
                  <a:srgbClr val="7A1F5C"/>
                </a:solidFill>
              </a:rPr>
              <a:t>18 min</a:t>
            </a:r>
          </a:p>
        </p:txBody>
      </p:sp>
      <p:sp>
        <p:nvSpPr>
          <p:cNvPr id="14" name="">
            <a:extLst xmlns:a="http://schemas.openxmlformats.org/drawingml/2006/main">
              <a:ext uri="{FF2B5EF4-FFF2-40B4-BE49-F238E27FC236}">
                <a16:creationId xmlns:a16="http://schemas.microsoft.com/office/drawing/2014/main" id="{17C3F067-CAAB-4EA1-B8B2-8DB4E1485B83}"/>
              </a:ext>
            </a:extLst>
          </p:cNvPr>
          <p:cNvSpPr>
            <a:spLocks xmlns:a="http://schemas.openxmlformats.org/drawingml/2006/main" noGrp="1"/>
          </p:cNvSpPr>
          <p:nvPr/>
        </p:nvSpPr>
        <p:spPr>
          <a:xfrm xmlns:a="http://schemas.openxmlformats.org/drawingml/2006/main">
            <a:off x="6991350" y="3105150"/>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B42318"/>
                </a:solidFill>
              </a:defRPr>
            </a:pPr>
            <a:r>
              <a:rPr sz="1050" b="1">
                <a:solidFill>
                  <a:srgbClr val="B42318"/>
                </a:solidFill>
              </a:rPr>
              <a:t>PREDICTED ACTION</a:t>
            </a:r>
          </a:p>
          <a:p xmlns:a="http://schemas.openxmlformats.org/drawingml/2006/main">
            <a:pPr algn="ctr">
              <a:defRPr sz="1050" b="1">
                <a:solidFill>
                  <a:srgbClr val="B42318"/>
                </a:solidFill>
              </a:defRPr>
            </a:pPr>
            <a:r>
              <a:rPr sz="1050" b="1">
                <a:solidFill>
                  <a:srgbClr val="B42318"/>
                </a:solidFill>
              </a:rPr>
              <a:t>26 min</a:t>
            </a:r>
          </a:p>
        </p:txBody>
      </p:sp>
      <p:sp>
        <p:nvSpPr>
          <p:cNvPr id="15" name="">
            <a:extLst xmlns:a="http://schemas.openxmlformats.org/drawingml/2006/main">
              <a:ext uri="{FF2B5EF4-FFF2-40B4-BE49-F238E27FC236}">
                <a16:creationId xmlns:a16="http://schemas.microsoft.com/office/drawing/2014/main" id="{B2124247-C100-4E3F-ABDD-A4CA02AE8806}"/>
              </a:ext>
            </a:extLst>
          </p:cNvPr>
          <p:cNvSpPr>
            <a:spLocks xmlns:a="http://schemas.openxmlformats.org/drawingml/2006/main" noGrp="1"/>
          </p:cNvSpPr>
          <p:nvPr/>
        </p:nvSpPr>
        <p:spPr>
          <a:xfrm xmlns:a="http://schemas.openxmlformats.org/drawingml/2006/main">
            <a:off x="2343150" y="4038600"/>
            <a:ext cx="7505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B42318"/>
                </a:solidFill>
              </a:defRPr>
            </a:pPr>
            <a:r>
              <a:rPr sz="2250" b="1">
                <a:solidFill>
                  <a:srgbClr val="B42318"/>
                </a:solidFill>
              </a:rPr>
              <a:t>Clinical Slack = 18 − 26 = −8 minutes</a:t>
            </a:r>
          </a:p>
        </p:txBody>
      </p:sp>
      <p:sp>
        <p:nvSpPr>
          <p:cNvPr id="16" name="">
            <a:extLst xmlns:a="http://schemas.openxmlformats.org/drawingml/2006/main">
              <a:ext uri="{FF2B5EF4-FFF2-40B4-BE49-F238E27FC236}">
                <a16:creationId xmlns:a16="http://schemas.microsoft.com/office/drawing/2014/main" id="{CB627D27-BF49-471C-881D-B5CD5BF4E6D1}"/>
              </a:ext>
            </a:extLst>
          </p:cNvPr>
          <p:cNvSpPr>
            <a:spLocks xmlns:a="http://schemas.openxmlformats.org/drawingml/2006/main" noGrp="1"/>
          </p:cNvSpPr>
          <p:nvPr/>
        </p:nvSpPr>
        <p:spPr>
          <a:xfrm xmlns:a="http://schemas.openxmlformats.org/drawingml/2006/main">
            <a:off x="3752850" y="4476750"/>
            <a:ext cx="4686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a:solidFill>
                  <a:srgbClr val="625B67"/>
                </a:solidFill>
              </a:defRPr>
            </a:pPr>
            <a:r>
              <a:rPr sz="750" b="1">
                <a:solidFill>
                  <a:srgbClr val="625B67"/>
                </a:solidFill>
              </a:rPr>
              <a:t>ILLUSTRATIVE EXAMPLE — DISTINCT FROM THE LIVE P-0009 CASE</a:t>
            </a:r>
          </a:p>
        </p:txBody>
      </p:sp>
      <p:sp>
        <p:nvSpPr>
          <p:cNvPr id="17" name="">
            <a:extLst xmlns:a="http://schemas.openxmlformats.org/drawingml/2006/main">
              <a:ext uri="{FF2B5EF4-FFF2-40B4-BE49-F238E27FC236}">
                <a16:creationId xmlns:a16="http://schemas.microsoft.com/office/drawing/2014/main" id="{F86FFE65-FCC2-40D5-90E4-11B2C5DF0EBF}"/>
              </a:ext>
            </a:extLst>
          </p:cNvPr>
          <p:cNvSpPr>
            <a:spLocks xmlns:a="http://schemas.openxmlformats.org/drawingml/2006/main" noGrp="1"/>
          </p:cNvSpPr>
          <p:nvPr/>
        </p:nvSpPr>
        <p:spPr>
          <a:xfrm xmlns:a="http://schemas.openxmlformats.org/drawingml/2006/main">
            <a:off x="2857500" y="4838700"/>
            <a:ext cx="6477000" cy="704850"/>
          </a:xfrm>
          <a:prstGeom xmlns:a="http://schemas.openxmlformats.org/drawingml/2006/main" prst="roundRect">
            <a:avLst>
              <a:gd name="adj" fmla="val 21622"/>
            </a:avLst>
          </a:prstGeom>
          <a:solidFill xmlns:a="http://schemas.openxmlformats.org/drawingml/2006/main">
            <a:srgbClr val="FEECE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DD25176-3738-4559-B6FE-8F99FF29D8AC}"/>
              </a:ext>
            </a:extLst>
          </p:cNvPr>
          <p:cNvSpPr>
            <a:spLocks xmlns:a="http://schemas.openxmlformats.org/drawingml/2006/main" noGrp="1"/>
          </p:cNvSpPr>
          <p:nvPr/>
        </p:nvSpPr>
        <p:spPr>
          <a:xfrm xmlns:a="http://schemas.openxmlformats.org/drawingml/2006/main">
            <a:off x="3105150" y="50292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B42318"/>
                </a:solidFill>
              </a:defRPr>
            </a:pPr>
            <a:r>
              <a:rPr sz="900" b="1">
                <a:solidFill>
                  <a:srgbClr val="B42318"/>
                </a:solidFill>
              </a:rPr>
              <a:t>CAPACITY CONFLICT</a:t>
            </a:r>
          </a:p>
        </p:txBody>
      </p:sp>
      <p:sp>
        <p:nvSpPr>
          <p:cNvPr id="19" name="">
            <a:extLst xmlns:a="http://schemas.openxmlformats.org/drawingml/2006/main">
              <a:ext uri="{FF2B5EF4-FFF2-40B4-BE49-F238E27FC236}">
                <a16:creationId xmlns:a16="http://schemas.microsoft.com/office/drawing/2014/main" id="{5CA46440-617F-4AB8-AE11-D75F103E0B0B}"/>
              </a:ext>
            </a:extLst>
          </p:cNvPr>
          <p:cNvSpPr>
            <a:spLocks xmlns:a="http://schemas.openxmlformats.org/drawingml/2006/main" noGrp="1"/>
          </p:cNvSpPr>
          <p:nvPr/>
        </p:nvSpPr>
        <p:spPr>
          <a:xfrm xmlns:a="http://schemas.openxmlformats.org/drawingml/2006/main">
            <a:off x="5238750" y="4962525"/>
            <a:ext cx="3790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11C27"/>
                </a:solidFill>
              </a:defRPr>
            </a:pPr>
            <a:r>
              <a:rPr sz="1275" b="1">
                <a:solidFill>
                  <a:srgbClr val="211C27"/>
                </a:solidFill>
              </a:rPr>
              <a:t>The clinical requirement stays fixed. The queue is declared infeasible.</a:t>
            </a:r>
          </a:p>
        </p:txBody>
      </p:sp>
    </p:spTree>
    <p:extLst>
      <p:ext uri="{BB962C8B-B14F-4D97-AF65-F5344CB8AC3E}">
        <p14:creationId xmlns:p14="http://schemas.microsoft.com/office/powerpoint/2010/main" val="5741466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9AA9637-924D-43EA-8926-56CA7FA9849F}"/>
              </a:ext>
            </a:extLst>
          </p:cNvPr>
          <p:cNvSpPr>
            <a:spLocks xmlns:a="http://schemas.openxmlformats.org/drawingml/2006/main" noGrp="1"/>
          </p:cNvSpPr>
          <p:nvPr/>
        </p:nvSpPr>
        <p:spPr>
          <a:xfrm xmlns:a="http://schemas.openxmlformats.org/drawingml/2006/main">
            <a:off x="609600" y="3429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A1F5C"/>
                </a:solidFill>
              </a:defRPr>
            </a:pPr>
            <a:r>
              <a:rPr sz="825" b="1">
                <a:solidFill>
                  <a:srgbClr val="7A1F5C"/>
                </a:solidFill>
              </a:rPr>
              <a:t>HOW IT WORKS</a:t>
            </a:r>
          </a:p>
        </p:txBody>
      </p:sp>
      <p:sp>
        <p:nvSpPr>
          <p:cNvPr id="2" name="">
            <a:extLst xmlns:a="http://schemas.openxmlformats.org/drawingml/2006/main">
              <a:ext uri="{FF2B5EF4-FFF2-40B4-BE49-F238E27FC236}">
                <a16:creationId xmlns:a16="http://schemas.microsoft.com/office/drawing/2014/main" id="{708E5EFB-5393-4FE2-B5C5-51445D3DA52D}"/>
              </a:ext>
            </a:extLst>
          </p:cNvPr>
          <p:cNvSpPr>
            <a:spLocks xmlns:a="http://schemas.openxmlformats.org/drawingml/2006/main" noGrp="1"/>
          </p:cNvSpPr>
          <p:nvPr/>
        </p:nvSpPr>
        <p:spPr>
          <a:xfrm xmlns:a="http://schemas.openxmlformats.org/drawingml/2006/main">
            <a:off x="609600" y="62865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211C27"/>
                </a:solidFill>
              </a:defRPr>
            </a:pPr>
            <a:r>
              <a:rPr sz="2550" b="1">
                <a:solidFill>
                  <a:srgbClr val="211C27"/>
                </a:solidFill>
              </a:rPr>
              <a:t>One closed loop, three moves.</a:t>
            </a:r>
          </a:p>
        </p:txBody>
      </p:sp>
      <p:sp>
        <p:nvSpPr>
          <p:cNvPr id="3" name="">
            <a:extLst xmlns:a="http://schemas.openxmlformats.org/drawingml/2006/main">
              <a:ext uri="{FF2B5EF4-FFF2-40B4-BE49-F238E27FC236}">
                <a16:creationId xmlns:a16="http://schemas.microsoft.com/office/drawing/2014/main" id="{9924F453-9790-4990-961A-055D807D7BF2}"/>
              </a:ext>
            </a:extLst>
          </p:cNvPr>
          <p:cNvSpPr>
            <a:spLocks xmlns:a="http://schemas.openxmlformats.org/drawingml/2006/main" noGrp="1"/>
          </p:cNvSpPr>
          <p:nvPr/>
        </p:nvSpPr>
        <p:spPr>
          <a:xfrm xmlns:a="http://schemas.openxmlformats.org/drawingml/2006/main">
            <a:off x="609600" y="12192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5B67"/>
                </a:solidFill>
              </a:defRPr>
            </a:pPr>
            <a:r>
              <a:rPr sz="1275" b="0">
                <a:solidFill>
                  <a:srgbClr val="625B67"/>
                </a:solidFill>
              </a:rPr>
              <a:t>The model is bounded by deterministic rules; the queue cannot redefine clinical need; the clinician remains accountable.</a:t>
            </a:r>
          </a:p>
        </p:txBody>
      </p:sp>
      <p:sp>
        <p:nvSpPr>
          <p:cNvPr id="4" name="">
            <a:extLst xmlns:a="http://schemas.openxmlformats.org/drawingml/2006/main">
              <a:ext uri="{FF2B5EF4-FFF2-40B4-BE49-F238E27FC236}">
                <a16:creationId xmlns:a16="http://schemas.microsoft.com/office/drawing/2014/main" id="{3CECEFBE-A3B7-4BCC-B4B5-D1D0382918A6}"/>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5" name="">
            <a:extLst xmlns:a="http://schemas.openxmlformats.org/drawingml/2006/main">
              <a:ext uri="{FF2B5EF4-FFF2-40B4-BE49-F238E27FC236}">
                <a16:creationId xmlns:a16="http://schemas.microsoft.com/office/drawing/2014/main" id="{9FE504F7-785D-4742-BD26-72886B6B8130}"/>
              </a:ext>
            </a:extLst>
          </p:cNvPr>
          <p:cNvSpPr>
            <a:spLocks xmlns:a="http://schemas.openxmlformats.org/drawingml/2006/main" noGrp="1"/>
          </p:cNvSpPr>
          <p:nvPr/>
        </p:nvSpPr>
        <p:spPr>
          <a:xfrm xmlns:a="http://schemas.openxmlformats.org/drawingml/2006/main">
            <a:off x="609600" y="6581775"/>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625B67"/>
                </a:solidFill>
              </a:defRPr>
            </a:pPr>
            <a:r>
              <a:rPr sz="675" b="0">
                <a:solidFill>
                  <a:srgbClr val="625B67"/>
                </a:solidFill>
              </a:rPr>
              <a:t>Synthetic decision-support prototype — not validated for clinical use</a:t>
            </a:r>
          </a:p>
        </p:txBody>
      </p:sp>
      <p:sp>
        <p:nvSpPr>
          <p:cNvPr id="6" name="">
            <a:extLst xmlns:a="http://schemas.openxmlformats.org/drawingml/2006/main">
              <a:ext uri="{FF2B5EF4-FFF2-40B4-BE49-F238E27FC236}">
                <a16:creationId xmlns:a16="http://schemas.microsoft.com/office/drawing/2014/main" id="{6625540C-52F0-408C-85BD-42ECC19F293E}"/>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625B67"/>
                </a:solidFill>
              </a:defRPr>
            </a:pPr>
            <a:r>
              <a:rPr sz="750" b="1">
                <a:solidFill>
                  <a:srgbClr val="625B67"/>
                </a:solidFill>
              </a:rPr>
              <a:t>04</a:t>
            </a:r>
          </a:p>
        </p:txBody>
      </p:sp>
      <p:sp>
        <p:nvSpPr>
          <p:cNvPr id="7" name="">
            <a:extLst xmlns:a="http://schemas.openxmlformats.org/drawingml/2006/main">
              <a:ext uri="{FF2B5EF4-FFF2-40B4-BE49-F238E27FC236}">
                <a16:creationId xmlns:a16="http://schemas.microsoft.com/office/drawing/2014/main" id="{7F6B394C-780B-4945-A42B-2C038DBC4A46}"/>
              </a:ext>
            </a:extLst>
          </p:cNvPr>
          <p:cNvSpPr>
            <a:spLocks xmlns:a="http://schemas.openxmlformats.org/drawingml/2006/main" noGrp="1"/>
          </p:cNvSpPr>
          <p:nvPr/>
        </p:nvSpPr>
        <p:spPr>
          <a:xfrm xmlns:a="http://schemas.openxmlformats.org/drawingml/2006/main">
            <a:off x="685800" y="2152650"/>
            <a:ext cx="3257550" cy="1657350"/>
          </a:xfrm>
          <a:prstGeom xmlns:a="http://schemas.openxmlformats.org/drawingml/2006/main" prst="roundRect">
            <a:avLst>
              <a:gd name="adj" fmla="val 10345"/>
            </a:avLst>
          </a:prstGeom>
          <a:solidFill xmlns:a="http://schemas.openxmlformats.org/drawingml/2006/main">
            <a:srgbClr val="F7EE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A51804D-0ABA-475E-A958-4CBC4F10A1A2}"/>
              </a:ext>
            </a:extLst>
          </p:cNvPr>
          <p:cNvSpPr>
            <a:spLocks xmlns:a="http://schemas.openxmlformats.org/drawingml/2006/main" noGrp="1"/>
          </p:cNvSpPr>
          <p:nvPr/>
        </p:nvSpPr>
        <p:spPr>
          <a:xfrm xmlns:a="http://schemas.openxmlformats.org/drawingml/2006/main">
            <a:off x="876300" y="23241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7A1F5C"/>
                </a:solidFill>
              </a:defRPr>
            </a:pPr>
            <a:r>
              <a:rPr sz="1500" b="1">
                <a:solidFill>
                  <a:srgbClr val="7A1F5C"/>
                </a:solidFill>
              </a:rPr>
              <a:t>1</a:t>
            </a:r>
          </a:p>
        </p:txBody>
      </p:sp>
      <p:sp>
        <p:nvSpPr>
          <p:cNvPr id="9" name="">
            <a:extLst xmlns:a="http://schemas.openxmlformats.org/drawingml/2006/main">
              <a:ext uri="{FF2B5EF4-FFF2-40B4-BE49-F238E27FC236}">
                <a16:creationId xmlns:a16="http://schemas.microsoft.com/office/drawing/2014/main" id="{F3285FE1-132E-49C0-B157-7112FF458321}"/>
              </a:ext>
            </a:extLst>
          </p:cNvPr>
          <p:cNvSpPr>
            <a:spLocks xmlns:a="http://schemas.openxmlformats.org/drawingml/2006/main" noGrp="1"/>
          </p:cNvSpPr>
          <p:nvPr/>
        </p:nvSpPr>
        <p:spPr>
          <a:xfrm xmlns:a="http://schemas.openxmlformats.org/drawingml/2006/main">
            <a:off x="1238250" y="2324100"/>
            <a:ext cx="2533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11C27"/>
                </a:solidFill>
              </a:defRPr>
            </a:pPr>
            <a:r>
              <a:rPr sz="1500" b="1">
                <a:solidFill>
                  <a:srgbClr val="211C27"/>
                </a:solidFill>
              </a:rPr>
              <a:t>Need becomes time</a:t>
            </a:r>
          </a:p>
        </p:txBody>
      </p:sp>
      <p:sp>
        <p:nvSpPr>
          <p:cNvPr id="10" name="">
            <a:extLst xmlns:a="http://schemas.openxmlformats.org/drawingml/2006/main">
              <a:ext uri="{FF2B5EF4-FFF2-40B4-BE49-F238E27FC236}">
                <a16:creationId xmlns:a16="http://schemas.microsoft.com/office/drawing/2014/main" id="{D2A0B7AB-1120-47BE-8C8A-15365636BFB1}"/>
              </a:ext>
            </a:extLst>
          </p:cNvPr>
          <p:cNvSpPr>
            <a:spLocks xmlns:a="http://schemas.openxmlformats.org/drawingml/2006/main" noGrp="1"/>
          </p:cNvSpPr>
          <p:nvPr/>
        </p:nvSpPr>
        <p:spPr>
          <a:xfrm xmlns:a="http://schemas.openxmlformats.org/drawingml/2006/main">
            <a:off x="876300" y="2762250"/>
            <a:ext cx="2876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25B67"/>
                </a:solidFill>
              </a:defRPr>
            </a:pPr>
            <a:r>
              <a:rPr sz="1125" b="0">
                <a:solidFill>
                  <a:srgbClr val="625B67"/>
                </a:solidFill>
              </a:rPr>
              <a:t>Age-aware rules, repeated observations, calibrated trajectory risk and uncertainty produce a bounded Action Window.</a:t>
            </a:r>
          </a:p>
        </p:txBody>
      </p:sp>
      <p:sp>
        <p:nvSpPr>
          <p:cNvPr id="11" name="">
            <a:extLst xmlns:a="http://schemas.openxmlformats.org/drawingml/2006/main">
              <a:ext uri="{FF2B5EF4-FFF2-40B4-BE49-F238E27FC236}">
                <a16:creationId xmlns:a16="http://schemas.microsoft.com/office/drawing/2014/main" id="{79D763CA-90BE-42EC-96E1-2ECC7C482336}"/>
              </a:ext>
            </a:extLst>
          </p:cNvPr>
          <p:cNvSpPr>
            <a:spLocks xmlns:a="http://schemas.openxmlformats.org/drawingml/2006/main" noGrp="1"/>
          </p:cNvSpPr>
          <p:nvPr/>
        </p:nvSpPr>
        <p:spPr>
          <a:xfrm xmlns:a="http://schemas.openxmlformats.org/drawingml/2006/main">
            <a:off x="4467225" y="2152650"/>
            <a:ext cx="3257550" cy="1657350"/>
          </a:xfrm>
          <a:prstGeom xmlns:a="http://schemas.openxmlformats.org/drawingml/2006/main" prst="roundRect">
            <a:avLst>
              <a:gd name="adj" fmla="val 10345"/>
            </a:avLst>
          </a:prstGeom>
          <a:solidFill xmlns:a="http://schemas.openxmlformats.org/drawingml/2006/main">
            <a:srgbClr val="EEF5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AC77357-74DF-4A1A-8E89-48FECD1E3AF2}"/>
              </a:ext>
            </a:extLst>
          </p:cNvPr>
          <p:cNvSpPr>
            <a:spLocks xmlns:a="http://schemas.openxmlformats.org/drawingml/2006/main" noGrp="1"/>
          </p:cNvSpPr>
          <p:nvPr/>
        </p:nvSpPr>
        <p:spPr>
          <a:xfrm xmlns:a="http://schemas.openxmlformats.org/drawingml/2006/main">
            <a:off x="4657725" y="23241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7A1F5C"/>
                </a:solidFill>
              </a:defRPr>
            </a:pPr>
            <a:r>
              <a:rPr sz="1500" b="1">
                <a:solidFill>
                  <a:srgbClr val="7A1F5C"/>
                </a:solidFill>
              </a:rPr>
              <a:t>2</a:t>
            </a:r>
          </a:p>
        </p:txBody>
      </p:sp>
      <p:sp>
        <p:nvSpPr>
          <p:cNvPr id="13" name="">
            <a:extLst xmlns:a="http://schemas.openxmlformats.org/drawingml/2006/main">
              <a:ext uri="{FF2B5EF4-FFF2-40B4-BE49-F238E27FC236}">
                <a16:creationId xmlns:a16="http://schemas.microsoft.com/office/drawing/2014/main" id="{9B075515-E096-486D-9F1F-390AB479B9F4}"/>
              </a:ext>
            </a:extLst>
          </p:cNvPr>
          <p:cNvSpPr>
            <a:spLocks xmlns:a="http://schemas.openxmlformats.org/drawingml/2006/main" noGrp="1"/>
          </p:cNvSpPr>
          <p:nvPr/>
        </p:nvSpPr>
        <p:spPr>
          <a:xfrm xmlns:a="http://schemas.openxmlformats.org/drawingml/2006/main">
            <a:off x="5019675" y="2324100"/>
            <a:ext cx="2533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11C27"/>
                </a:solidFill>
              </a:defRPr>
            </a:pPr>
            <a:r>
              <a:rPr sz="1500" b="1">
                <a:solidFill>
                  <a:srgbClr val="211C27"/>
                </a:solidFill>
              </a:rPr>
              <a:t>Time meets capacity</a:t>
            </a:r>
          </a:p>
        </p:txBody>
      </p:sp>
      <p:sp>
        <p:nvSpPr>
          <p:cNvPr id="14" name="">
            <a:extLst xmlns:a="http://schemas.openxmlformats.org/drawingml/2006/main">
              <a:ext uri="{FF2B5EF4-FFF2-40B4-BE49-F238E27FC236}">
                <a16:creationId xmlns:a16="http://schemas.microsoft.com/office/drawing/2014/main" id="{F9DC668A-BF93-4FED-8268-E6EEA5B09F2B}"/>
              </a:ext>
            </a:extLst>
          </p:cNvPr>
          <p:cNvSpPr>
            <a:spLocks xmlns:a="http://schemas.openxmlformats.org/drawingml/2006/main" noGrp="1"/>
          </p:cNvSpPr>
          <p:nvPr/>
        </p:nvSpPr>
        <p:spPr>
          <a:xfrm xmlns:a="http://schemas.openxmlformats.org/drawingml/2006/main">
            <a:off x="4657725" y="2762250"/>
            <a:ext cx="2876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25B67"/>
                </a:solidFill>
              </a:defRPr>
            </a:pPr>
            <a:r>
              <a:rPr sz="1125" b="0">
                <a:solidFill>
                  <a:srgbClr val="625B67"/>
                </a:solidFill>
              </a:rPr>
              <a:t>Queue Twin projects the next action. Action Window minus ETA becomes Clinical Slack.</a:t>
            </a:r>
          </a:p>
        </p:txBody>
      </p:sp>
      <p:sp>
        <p:nvSpPr>
          <p:cNvPr id="15" name="">
            <a:extLst xmlns:a="http://schemas.openxmlformats.org/drawingml/2006/main">
              <a:ext uri="{FF2B5EF4-FFF2-40B4-BE49-F238E27FC236}">
                <a16:creationId xmlns:a16="http://schemas.microsoft.com/office/drawing/2014/main" id="{1652D524-2152-423C-9E92-BF337E3E8810}"/>
              </a:ext>
            </a:extLst>
          </p:cNvPr>
          <p:cNvSpPr>
            <a:spLocks xmlns:a="http://schemas.openxmlformats.org/drawingml/2006/main" noGrp="1"/>
          </p:cNvSpPr>
          <p:nvPr/>
        </p:nvSpPr>
        <p:spPr>
          <a:xfrm xmlns:a="http://schemas.openxmlformats.org/drawingml/2006/main">
            <a:off x="8248650" y="2152650"/>
            <a:ext cx="3257550" cy="1657350"/>
          </a:xfrm>
          <a:prstGeom xmlns:a="http://schemas.openxmlformats.org/drawingml/2006/main" prst="roundRect">
            <a:avLst>
              <a:gd name="adj" fmla="val 10345"/>
            </a:avLst>
          </a:prstGeom>
          <a:solidFill xmlns:a="http://schemas.openxmlformats.org/drawingml/2006/main">
            <a:srgbClr val="EAF7F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F120B22-0AF4-4348-A95C-AF0A012BE0AA}"/>
              </a:ext>
            </a:extLst>
          </p:cNvPr>
          <p:cNvSpPr>
            <a:spLocks xmlns:a="http://schemas.openxmlformats.org/drawingml/2006/main" noGrp="1"/>
          </p:cNvSpPr>
          <p:nvPr/>
        </p:nvSpPr>
        <p:spPr>
          <a:xfrm xmlns:a="http://schemas.openxmlformats.org/drawingml/2006/main">
            <a:off x="8439150" y="2324100"/>
            <a:ext cx="32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7A1F5C"/>
                </a:solidFill>
              </a:defRPr>
            </a:pPr>
            <a:r>
              <a:rPr sz="1500" b="1">
                <a:solidFill>
                  <a:srgbClr val="7A1F5C"/>
                </a:solidFill>
              </a:rPr>
              <a:t>3</a:t>
            </a:r>
          </a:p>
        </p:txBody>
      </p:sp>
      <p:sp>
        <p:nvSpPr>
          <p:cNvPr id="17" name="">
            <a:extLst xmlns:a="http://schemas.openxmlformats.org/drawingml/2006/main">
              <a:ext uri="{FF2B5EF4-FFF2-40B4-BE49-F238E27FC236}">
                <a16:creationId xmlns:a16="http://schemas.microsoft.com/office/drawing/2014/main" id="{ED0F436B-41BB-40A8-96CD-27CE6E21EF06}"/>
              </a:ext>
            </a:extLst>
          </p:cNvPr>
          <p:cNvSpPr>
            <a:spLocks xmlns:a="http://schemas.openxmlformats.org/drawingml/2006/main" noGrp="1"/>
          </p:cNvSpPr>
          <p:nvPr/>
        </p:nvSpPr>
        <p:spPr>
          <a:xfrm xmlns:a="http://schemas.openxmlformats.org/drawingml/2006/main">
            <a:off x="8801100" y="2324100"/>
            <a:ext cx="2533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11C27"/>
                </a:solidFill>
              </a:defRPr>
            </a:pPr>
            <a:r>
              <a:rPr sz="1500" b="1">
                <a:solidFill>
                  <a:srgbClr val="211C27"/>
                </a:solidFill>
              </a:rPr>
              <a:t>Clinician closes the loop</a:t>
            </a:r>
          </a:p>
        </p:txBody>
      </p:sp>
      <p:sp>
        <p:nvSpPr>
          <p:cNvPr id="18" name="">
            <a:extLst xmlns:a="http://schemas.openxmlformats.org/drawingml/2006/main">
              <a:ext uri="{FF2B5EF4-FFF2-40B4-BE49-F238E27FC236}">
                <a16:creationId xmlns:a16="http://schemas.microsoft.com/office/drawing/2014/main" id="{3B5967D4-9982-48DE-B3A1-26D19D481BD3}"/>
              </a:ext>
            </a:extLst>
          </p:cNvPr>
          <p:cNvSpPr>
            <a:spLocks xmlns:a="http://schemas.openxmlformats.org/drawingml/2006/main" noGrp="1"/>
          </p:cNvSpPr>
          <p:nvPr/>
        </p:nvSpPr>
        <p:spPr>
          <a:xfrm xmlns:a="http://schemas.openxmlformats.org/drawingml/2006/main">
            <a:off x="8439150" y="2762250"/>
            <a:ext cx="28765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25B67"/>
                </a:solidFill>
              </a:defRPr>
            </a:pPr>
            <a:r>
              <a:rPr sz="1125" b="0">
                <a:solidFill>
                  <a:srgbClr val="625B67"/>
                </a:solidFill>
              </a:rPr>
              <a:t>Accept, modify or override with a reason; deterioration and decisions trigger recomputation and audit.</a:t>
            </a:r>
          </a:p>
        </p:txBody>
      </p:sp>
      <p:sp>
        <p:nvSpPr>
          <p:cNvPr id="19" name="">
            <a:extLst xmlns:a="http://schemas.openxmlformats.org/drawingml/2006/main">
              <a:ext uri="{FF2B5EF4-FFF2-40B4-BE49-F238E27FC236}">
                <a16:creationId xmlns:a16="http://schemas.microsoft.com/office/drawing/2014/main" id="{97971A0A-DA7A-4BA3-A2BC-FB8A1BCD08F0}"/>
              </a:ext>
            </a:extLst>
          </p:cNvPr>
          <p:cNvSpPr>
            <a:spLocks xmlns:a="http://schemas.openxmlformats.org/drawingml/2006/main" noGrp="1"/>
          </p:cNvSpPr>
          <p:nvPr/>
        </p:nvSpPr>
        <p:spPr>
          <a:xfrm xmlns:a="http://schemas.openxmlformats.org/drawingml/2006/main">
            <a:off x="3990975" y="2686050"/>
            <a:ext cx="400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7A1F5C"/>
                </a:solidFill>
              </a:defRPr>
            </a:pPr>
            <a:r>
              <a:rPr sz="2400" b="1">
                <a:solidFill>
                  <a:srgbClr val="7A1F5C"/>
                </a:solidFill>
              </a:rPr>
              <a:t>→</a:t>
            </a:r>
          </a:p>
        </p:txBody>
      </p:sp>
      <p:sp>
        <p:nvSpPr>
          <p:cNvPr id="20" name="">
            <a:extLst xmlns:a="http://schemas.openxmlformats.org/drawingml/2006/main">
              <a:ext uri="{FF2B5EF4-FFF2-40B4-BE49-F238E27FC236}">
                <a16:creationId xmlns:a16="http://schemas.microsoft.com/office/drawing/2014/main" id="{C048CDB1-6882-4099-AB2F-21F621A9F1BB}"/>
              </a:ext>
            </a:extLst>
          </p:cNvPr>
          <p:cNvSpPr>
            <a:spLocks xmlns:a="http://schemas.openxmlformats.org/drawingml/2006/main" noGrp="1"/>
          </p:cNvSpPr>
          <p:nvPr/>
        </p:nvSpPr>
        <p:spPr>
          <a:xfrm xmlns:a="http://schemas.openxmlformats.org/drawingml/2006/main">
            <a:off x="7772400" y="2686050"/>
            <a:ext cx="400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7A1F5C"/>
                </a:solidFill>
              </a:defRPr>
            </a:pPr>
            <a:r>
              <a:rPr sz="2400" b="1">
                <a:solidFill>
                  <a:srgbClr val="7A1F5C"/>
                </a:solidFill>
              </a:rPr>
              <a:t>→</a:t>
            </a:r>
          </a:p>
        </p:txBody>
      </p:sp>
      <p:sp>
        <p:nvSpPr>
          <p:cNvPr id="21" name="">
            <a:extLst xmlns:a="http://schemas.openxmlformats.org/drawingml/2006/main">
              <a:ext uri="{FF2B5EF4-FFF2-40B4-BE49-F238E27FC236}">
                <a16:creationId xmlns:a16="http://schemas.microsoft.com/office/drawing/2014/main" id="{A9B5B581-15D5-4BA2-80DE-AA619AF37848}"/>
              </a:ext>
            </a:extLst>
          </p:cNvPr>
          <p:cNvSpPr>
            <a:spLocks xmlns:a="http://schemas.openxmlformats.org/drawingml/2006/main" noGrp="1"/>
          </p:cNvSpPr>
          <p:nvPr/>
        </p:nvSpPr>
        <p:spPr>
          <a:xfrm xmlns:a="http://schemas.openxmlformats.org/drawingml/2006/main">
            <a:off x="1809750" y="4419600"/>
            <a:ext cx="8572500" cy="723900"/>
          </a:xfrm>
          <a:prstGeom xmlns:a="http://schemas.openxmlformats.org/drawingml/2006/main" prst="roundRect">
            <a:avLst>
              <a:gd name="adj" fmla="val 21053"/>
            </a:avLst>
          </a:prstGeom>
          <a:solidFill xmlns:a="http://schemas.openxmlformats.org/drawingml/2006/main">
            <a:srgbClr val="F6F3F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360F43F-10CF-4768-A409-96BB87EE40C2}"/>
              </a:ext>
            </a:extLst>
          </p:cNvPr>
          <p:cNvSpPr>
            <a:spLocks xmlns:a="http://schemas.openxmlformats.org/drawingml/2006/main" noGrp="1"/>
          </p:cNvSpPr>
          <p:nvPr/>
        </p:nvSpPr>
        <p:spPr>
          <a:xfrm xmlns:a="http://schemas.openxmlformats.org/drawingml/2006/main">
            <a:off x="2114550" y="4610100"/>
            <a:ext cx="7962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11C27"/>
                </a:solidFill>
              </a:defRPr>
            </a:pPr>
            <a:r>
              <a:rPr sz="1350" b="1">
                <a:solidFill>
                  <a:srgbClr val="211C27"/>
                </a:solidFill>
              </a:rPr>
              <a:t>Every new observation can update the deadline. Every updated deadline recomputes the queue. Every action creates a receipt.</a:t>
            </a:r>
          </a:p>
        </p:txBody>
      </p:sp>
      <p:sp>
        <p:nvSpPr>
          <p:cNvPr id="23" name="">
            <a:extLst xmlns:a="http://schemas.openxmlformats.org/drawingml/2006/main">
              <a:ext uri="{FF2B5EF4-FFF2-40B4-BE49-F238E27FC236}">
                <a16:creationId xmlns:a16="http://schemas.microsoft.com/office/drawing/2014/main" id="{657D7F53-D9B8-46E4-80EF-A6F512AE410D}"/>
              </a:ext>
            </a:extLst>
          </p:cNvPr>
          <p:cNvSpPr>
            <a:spLocks xmlns:a="http://schemas.openxmlformats.org/drawingml/2006/main" noGrp="1"/>
          </p:cNvSpPr>
          <p:nvPr/>
        </p:nvSpPr>
        <p:spPr>
          <a:xfrm xmlns:a="http://schemas.openxmlformats.org/drawingml/2006/main">
            <a:off x="4248150" y="5524500"/>
            <a:ext cx="3695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B42318"/>
                </a:solidFill>
              </a:defRPr>
            </a:pPr>
            <a:r>
              <a:rPr sz="900" b="1">
                <a:solidFill>
                  <a:srgbClr val="B42318"/>
                </a:solidFill>
              </a:rPr>
              <a:t>NO AUTONOMOUS DOWNGRADE</a:t>
            </a:r>
          </a:p>
        </p:txBody>
      </p:sp>
    </p:spTree>
    <p:extLst>
      <p:ext uri="{BB962C8B-B14F-4D97-AF65-F5344CB8AC3E}">
        <p14:creationId xmlns:p14="http://schemas.microsoft.com/office/powerpoint/2010/main" val="122442153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F68FB8B-8DFC-415C-B3F2-9C9D3DE5D608}"/>
              </a:ext>
            </a:extLst>
          </p:cNvPr>
          <p:cNvSpPr>
            <a:spLocks xmlns:a="http://schemas.openxmlformats.org/drawingml/2006/main" noGrp="1"/>
          </p:cNvSpPr>
          <p:nvPr/>
        </p:nvSpPr>
        <p:spPr>
          <a:xfrm xmlns:a="http://schemas.openxmlformats.org/drawingml/2006/main">
            <a:off x="609600" y="3429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A1F5C"/>
                </a:solidFill>
              </a:defRPr>
            </a:pPr>
            <a:r>
              <a:rPr sz="825" b="1">
                <a:solidFill>
                  <a:srgbClr val="7A1F5C"/>
                </a:solidFill>
              </a:rPr>
              <a:t>WORKING PROTOTYPE</a:t>
            </a:r>
          </a:p>
        </p:txBody>
      </p:sp>
      <p:sp>
        <p:nvSpPr>
          <p:cNvPr id="2" name="">
            <a:extLst xmlns:a="http://schemas.openxmlformats.org/drawingml/2006/main">
              <a:ext uri="{FF2B5EF4-FFF2-40B4-BE49-F238E27FC236}">
                <a16:creationId xmlns:a16="http://schemas.microsoft.com/office/drawing/2014/main" id="{C86D6B30-FF44-4EC8-9CBA-932DE45CB8FA}"/>
              </a:ext>
            </a:extLst>
          </p:cNvPr>
          <p:cNvSpPr>
            <a:spLocks xmlns:a="http://schemas.openxmlformats.org/drawingml/2006/main" noGrp="1"/>
          </p:cNvSpPr>
          <p:nvPr/>
        </p:nvSpPr>
        <p:spPr>
          <a:xfrm xmlns:a="http://schemas.openxmlformats.org/drawingml/2006/main">
            <a:off x="609600" y="62865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211C27"/>
                </a:solidFill>
              </a:defRPr>
            </a:pPr>
            <a:r>
              <a:rPr sz="2550" b="1">
                <a:solidFill>
                  <a:srgbClr val="211C27"/>
                </a:solidFill>
              </a:rPr>
              <a:t>The Deadline Board is the product—not a decorative dashboard.</a:t>
            </a:r>
          </a:p>
        </p:txBody>
      </p:sp>
      <p:sp>
        <p:nvSpPr>
          <p:cNvPr id="3" name="">
            <a:extLst xmlns:a="http://schemas.openxmlformats.org/drawingml/2006/main">
              <a:ext uri="{FF2B5EF4-FFF2-40B4-BE49-F238E27FC236}">
                <a16:creationId xmlns:a16="http://schemas.microsoft.com/office/drawing/2014/main" id="{4F74D0D3-13ED-40AF-90AA-380F1706CF14}"/>
              </a:ext>
            </a:extLst>
          </p:cNvPr>
          <p:cNvSpPr>
            <a:spLocks xmlns:a="http://schemas.openxmlformats.org/drawingml/2006/main" noGrp="1"/>
          </p:cNvSpPr>
          <p:nvPr/>
        </p:nvSpPr>
        <p:spPr>
          <a:xfrm xmlns:a="http://schemas.openxmlformats.org/drawingml/2006/main">
            <a:off x="609600" y="12192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5B67"/>
                </a:solidFill>
              </a:defRPr>
            </a:pPr>
            <a:r>
              <a:rPr sz="1275" b="0">
                <a:solidFill>
                  <a:srgbClr val="625B67"/>
                </a:solidFill>
              </a:rPr>
              <a:t>One quiet operations surface answers who, by when, why, whether capacity is feasible, and what the clinician decided.</a:t>
            </a:r>
          </a:p>
        </p:txBody>
      </p:sp>
      <p:sp>
        <p:nvSpPr>
          <p:cNvPr id="4" name="">
            <a:extLst xmlns:a="http://schemas.openxmlformats.org/drawingml/2006/main">
              <a:ext uri="{FF2B5EF4-FFF2-40B4-BE49-F238E27FC236}">
                <a16:creationId xmlns:a16="http://schemas.microsoft.com/office/drawing/2014/main" id="{55C84D7B-885C-416D-BA9E-16DD2E1CC532}"/>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5" name="">
            <a:extLst xmlns:a="http://schemas.openxmlformats.org/drawingml/2006/main">
              <a:ext uri="{FF2B5EF4-FFF2-40B4-BE49-F238E27FC236}">
                <a16:creationId xmlns:a16="http://schemas.microsoft.com/office/drawing/2014/main" id="{B412B992-677A-4DE1-8095-7DB7A76AA40A}"/>
              </a:ext>
            </a:extLst>
          </p:cNvPr>
          <p:cNvSpPr>
            <a:spLocks xmlns:a="http://schemas.openxmlformats.org/drawingml/2006/main" noGrp="1"/>
          </p:cNvSpPr>
          <p:nvPr/>
        </p:nvSpPr>
        <p:spPr>
          <a:xfrm xmlns:a="http://schemas.openxmlformats.org/drawingml/2006/main">
            <a:off x="609600" y="6581775"/>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625B67"/>
                </a:solidFill>
              </a:defRPr>
            </a:pPr>
            <a:r>
              <a:rPr sz="675" b="0">
                <a:solidFill>
                  <a:srgbClr val="625B67"/>
                </a:solidFill>
              </a:rPr>
              <a:t>Synthetic decision-support prototype — not validated for clinical use</a:t>
            </a:r>
          </a:p>
        </p:txBody>
      </p:sp>
      <p:sp>
        <p:nvSpPr>
          <p:cNvPr id="6" name="">
            <a:extLst xmlns:a="http://schemas.openxmlformats.org/drawingml/2006/main">
              <a:ext uri="{FF2B5EF4-FFF2-40B4-BE49-F238E27FC236}">
                <a16:creationId xmlns:a16="http://schemas.microsoft.com/office/drawing/2014/main" id="{DE9A9784-1F75-4A2D-A6BF-22E00754AD52}"/>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625B67"/>
                </a:solidFill>
              </a:defRPr>
            </a:pPr>
            <a:r>
              <a:rPr sz="750" b="1">
                <a:solidFill>
                  <a:srgbClr val="625B67"/>
                </a:solidFill>
              </a:rPr>
              <a:t>05</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743533d802b4423"/>
          <a:stretch xmlns:a="http://schemas.openxmlformats.org/drawingml/2006/main"/>
        </p:blipFill>
        <p:spPr>
          <a:xfrm xmlns:a="http://schemas.openxmlformats.org/drawingml/2006/main">
            <a:off x="1007004" y="1809750"/>
            <a:ext cx="7653867" cy="4305300"/>
          </a:xfrm>
          <a:prstGeom xmlns:a="http://schemas.openxmlformats.org/drawingml/2006/main" prst="roundRect">
            <a:avLst>
              <a:gd name="adj" fmla="val 2655"/>
            </a:avLst>
          </a:prstGeom>
        </p:spPr>
      </p:pic>
      <p:sp>
        <p:nvSpPr>
          <p:cNvPr id="8" name="">
            <a:extLst xmlns:a="http://schemas.openxmlformats.org/drawingml/2006/main">
              <a:ext uri="{FF2B5EF4-FFF2-40B4-BE49-F238E27FC236}">
                <a16:creationId xmlns:a16="http://schemas.microsoft.com/office/drawing/2014/main" id="{536B7EB1-52FE-4596-9DB2-E8529BFCAFDB}"/>
              </a:ext>
            </a:extLst>
          </p:cNvPr>
          <p:cNvSpPr>
            <a:spLocks xmlns:a="http://schemas.openxmlformats.org/drawingml/2006/main" noGrp="1"/>
          </p:cNvSpPr>
          <p:nvPr/>
        </p:nvSpPr>
        <p:spPr>
          <a:xfrm xmlns:a="http://schemas.openxmlformats.org/drawingml/2006/main">
            <a:off x="9353550" y="18859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A1F5C"/>
                </a:solidFill>
              </a:defRPr>
            </a:pPr>
            <a:r>
              <a:rPr sz="825" b="1">
                <a:solidFill>
                  <a:srgbClr val="7A1F5C"/>
                </a:solidFill>
              </a:rPr>
              <a:t>WHAT THE NURSE SEES</a:t>
            </a:r>
          </a:p>
        </p:txBody>
      </p:sp>
      <p:sp>
        <p:nvSpPr>
          <p:cNvPr id="9" name="">
            <a:extLst xmlns:a="http://schemas.openxmlformats.org/drawingml/2006/main">
              <a:ext uri="{FF2B5EF4-FFF2-40B4-BE49-F238E27FC236}">
                <a16:creationId xmlns:a16="http://schemas.microsoft.com/office/drawing/2014/main" id="{7605034C-009A-4225-8433-AF638214F7B8}"/>
              </a:ext>
            </a:extLst>
          </p:cNvPr>
          <p:cNvSpPr>
            <a:spLocks xmlns:a="http://schemas.openxmlformats.org/drawingml/2006/main" noGrp="1"/>
          </p:cNvSpPr>
          <p:nvPr/>
        </p:nvSpPr>
        <p:spPr>
          <a:xfrm xmlns:a="http://schemas.openxmlformats.org/drawingml/2006/main">
            <a:off x="9353550" y="22479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1F5C"/>
                </a:solidFill>
              </a:defRPr>
            </a:pPr>
            <a:r>
              <a:rPr sz="900" b="1">
                <a:solidFill>
                  <a:srgbClr val="7A1F5C"/>
                </a:solidFill>
              </a:rPr>
              <a:t>01</a:t>
            </a:r>
          </a:p>
        </p:txBody>
      </p:sp>
      <p:sp>
        <p:nvSpPr>
          <p:cNvPr id="10" name="">
            <a:extLst xmlns:a="http://schemas.openxmlformats.org/drawingml/2006/main">
              <a:ext uri="{FF2B5EF4-FFF2-40B4-BE49-F238E27FC236}">
                <a16:creationId xmlns:a16="http://schemas.microsoft.com/office/drawing/2014/main" id="{BE42178A-9937-4B2C-ACEC-B35C942B3A95}"/>
              </a:ext>
            </a:extLst>
          </p:cNvPr>
          <p:cNvSpPr>
            <a:spLocks xmlns:a="http://schemas.openxmlformats.org/drawingml/2006/main" noGrp="1"/>
          </p:cNvSpPr>
          <p:nvPr/>
        </p:nvSpPr>
        <p:spPr>
          <a:xfrm xmlns:a="http://schemas.openxmlformats.org/drawingml/2006/main">
            <a:off x="9734550" y="2247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11C27"/>
                </a:solidFill>
              </a:defRPr>
            </a:pPr>
            <a:r>
              <a:rPr sz="1125" b="1">
                <a:solidFill>
                  <a:srgbClr val="211C27"/>
                </a:solidFill>
              </a:rPr>
              <a:t>Action + deadline</a:t>
            </a:r>
          </a:p>
        </p:txBody>
      </p:sp>
      <p:sp>
        <p:nvSpPr>
          <p:cNvPr id="11" name="">
            <a:extLst xmlns:a="http://schemas.openxmlformats.org/drawingml/2006/main">
              <a:ext uri="{FF2B5EF4-FFF2-40B4-BE49-F238E27FC236}">
                <a16:creationId xmlns:a16="http://schemas.microsoft.com/office/drawing/2014/main" id="{541890B1-3F1D-49BF-B4EE-98693822F8C2}"/>
              </a:ext>
            </a:extLst>
          </p:cNvPr>
          <p:cNvSpPr>
            <a:spLocks xmlns:a="http://schemas.openxmlformats.org/drawingml/2006/main" noGrp="1"/>
          </p:cNvSpPr>
          <p:nvPr/>
        </p:nvSpPr>
        <p:spPr>
          <a:xfrm xmlns:a="http://schemas.openxmlformats.org/drawingml/2006/main">
            <a:off x="9734550" y="24955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25B67"/>
                </a:solidFill>
              </a:defRPr>
            </a:pPr>
            <a:r>
              <a:rPr sz="900" b="0">
                <a:solidFill>
                  <a:srgbClr val="625B67"/>
                </a:solidFill>
              </a:rPr>
              <a:t>Lead with what must happen and by when.</a:t>
            </a:r>
          </a:p>
        </p:txBody>
      </p:sp>
      <p:sp>
        <p:nvSpPr>
          <p:cNvPr id="12" name="">
            <a:extLst xmlns:a="http://schemas.openxmlformats.org/drawingml/2006/main">
              <a:ext uri="{FF2B5EF4-FFF2-40B4-BE49-F238E27FC236}">
                <a16:creationId xmlns:a16="http://schemas.microsoft.com/office/drawing/2014/main" id="{B615F391-78B4-45EA-83DF-43106EFF883F}"/>
              </a:ext>
            </a:extLst>
          </p:cNvPr>
          <p:cNvSpPr>
            <a:spLocks xmlns:a="http://schemas.openxmlformats.org/drawingml/2006/main" noGrp="1"/>
          </p:cNvSpPr>
          <p:nvPr/>
        </p:nvSpPr>
        <p:spPr>
          <a:xfrm xmlns:a="http://schemas.openxmlformats.org/drawingml/2006/main">
            <a:off x="9353550" y="31432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1F5C"/>
                </a:solidFill>
              </a:defRPr>
            </a:pPr>
            <a:r>
              <a:rPr sz="900" b="1">
                <a:solidFill>
                  <a:srgbClr val="7A1F5C"/>
                </a:solidFill>
              </a:rPr>
              <a:t>02</a:t>
            </a:r>
          </a:p>
        </p:txBody>
      </p:sp>
      <p:sp>
        <p:nvSpPr>
          <p:cNvPr id="13" name="">
            <a:extLst xmlns:a="http://schemas.openxmlformats.org/drawingml/2006/main">
              <a:ext uri="{FF2B5EF4-FFF2-40B4-BE49-F238E27FC236}">
                <a16:creationId xmlns:a16="http://schemas.microsoft.com/office/drawing/2014/main" id="{97084D38-A84E-4739-AF76-F0BFB6D132F7}"/>
              </a:ext>
            </a:extLst>
          </p:cNvPr>
          <p:cNvSpPr>
            <a:spLocks xmlns:a="http://schemas.openxmlformats.org/drawingml/2006/main" noGrp="1"/>
          </p:cNvSpPr>
          <p:nvPr/>
        </p:nvSpPr>
        <p:spPr>
          <a:xfrm xmlns:a="http://schemas.openxmlformats.org/drawingml/2006/main">
            <a:off x="9734550" y="31432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11C27"/>
                </a:solidFill>
              </a:defRPr>
            </a:pPr>
            <a:r>
              <a:rPr sz="1125" b="1">
                <a:solidFill>
                  <a:srgbClr val="211C27"/>
                </a:solidFill>
              </a:rPr>
              <a:t>Clinical Slack</a:t>
            </a:r>
          </a:p>
        </p:txBody>
      </p:sp>
      <p:sp>
        <p:nvSpPr>
          <p:cNvPr id="14" name="">
            <a:extLst xmlns:a="http://schemas.openxmlformats.org/drawingml/2006/main">
              <a:ext uri="{FF2B5EF4-FFF2-40B4-BE49-F238E27FC236}">
                <a16:creationId xmlns:a16="http://schemas.microsoft.com/office/drawing/2014/main" id="{229719E5-BC5A-47B6-BFFF-FE0356C610BB}"/>
              </a:ext>
            </a:extLst>
          </p:cNvPr>
          <p:cNvSpPr>
            <a:spLocks xmlns:a="http://schemas.openxmlformats.org/drawingml/2006/main" noGrp="1"/>
          </p:cNvSpPr>
          <p:nvPr/>
        </p:nvSpPr>
        <p:spPr>
          <a:xfrm xmlns:a="http://schemas.openxmlformats.org/drawingml/2006/main">
            <a:off x="9734550" y="33909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25B67"/>
                </a:solidFill>
              </a:defRPr>
            </a:pPr>
            <a:r>
              <a:rPr sz="900" b="0">
                <a:solidFill>
                  <a:srgbClr val="625B67"/>
                </a:solidFill>
              </a:rPr>
              <a:t>Capacity failure is explicit, not hidden in rank.</a:t>
            </a:r>
          </a:p>
        </p:txBody>
      </p:sp>
      <p:sp>
        <p:nvSpPr>
          <p:cNvPr id="15" name="">
            <a:extLst xmlns:a="http://schemas.openxmlformats.org/drawingml/2006/main">
              <a:ext uri="{FF2B5EF4-FFF2-40B4-BE49-F238E27FC236}">
                <a16:creationId xmlns:a16="http://schemas.microsoft.com/office/drawing/2014/main" id="{881BC79F-9FD7-4F71-AED5-50BE8D247068}"/>
              </a:ext>
            </a:extLst>
          </p:cNvPr>
          <p:cNvSpPr>
            <a:spLocks xmlns:a="http://schemas.openxmlformats.org/drawingml/2006/main" noGrp="1"/>
          </p:cNvSpPr>
          <p:nvPr/>
        </p:nvSpPr>
        <p:spPr>
          <a:xfrm xmlns:a="http://schemas.openxmlformats.org/drawingml/2006/main">
            <a:off x="9353550" y="403860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1F5C"/>
                </a:solidFill>
              </a:defRPr>
            </a:pPr>
            <a:r>
              <a:rPr sz="900" b="1">
                <a:solidFill>
                  <a:srgbClr val="7A1F5C"/>
                </a:solidFill>
              </a:rPr>
              <a:t>03</a:t>
            </a:r>
          </a:p>
        </p:txBody>
      </p:sp>
      <p:sp>
        <p:nvSpPr>
          <p:cNvPr id="16" name="">
            <a:extLst xmlns:a="http://schemas.openxmlformats.org/drawingml/2006/main">
              <a:ext uri="{FF2B5EF4-FFF2-40B4-BE49-F238E27FC236}">
                <a16:creationId xmlns:a16="http://schemas.microsoft.com/office/drawing/2014/main" id="{330BEE74-192B-4C6E-A2EC-C5934B4EBDFA}"/>
              </a:ext>
            </a:extLst>
          </p:cNvPr>
          <p:cNvSpPr>
            <a:spLocks xmlns:a="http://schemas.openxmlformats.org/drawingml/2006/main" noGrp="1"/>
          </p:cNvSpPr>
          <p:nvPr/>
        </p:nvSpPr>
        <p:spPr>
          <a:xfrm xmlns:a="http://schemas.openxmlformats.org/drawingml/2006/main">
            <a:off x="9734550" y="40386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11C27"/>
                </a:solidFill>
              </a:defRPr>
            </a:pPr>
            <a:r>
              <a:rPr sz="1125" b="1">
                <a:solidFill>
                  <a:srgbClr val="211C27"/>
                </a:solidFill>
              </a:rPr>
              <a:t>What changed</a:t>
            </a:r>
          </a:p>
        </p:txBody>
      </p:sp>
      <p:sp>
        <p:nvSpPr>
          <p:cNvPr id="17" name="">
            <a:extLst xmlns:a="http://schemas.openxmlformats.org/drawingml/2006/main">
              <a:ext uri="{FF2B5EF4-FFF2-40B4-BE49-F238E27FC236}">
                <a16:creationId xmlns:a16="http://schemas.microsoft.com/office/drawing/2014/main" id="{486D408F-FD0D-409C-AD19-336D1F147566}"/>
              </a:ext>
            </a:extLst>
          </p:cNvPr>
          <p:cNvSpPr>
            <a:spLocks xmlns:a="http://schemas.openxmlformats.org/drawingml/2006/main" noGrp="1"/>
          </p:cNvSpPr>
          <p:nvPr/>
        </p:nvSpPr>
        <p:spPr>
          <a:xfrm xmlns:a="http://schemas.openxmlformats.org/drawingml/2006/main">
            <a:off x="9734550" y="42862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25B67"/>
                </a:solidFill>
              </a:defRPr>
            </a:pPr>
            <a:r>
              <a:rPr sz="900" b="0">
                <a:solidFill>
                  <a:srgbClr val="625B67"/>
                </a:solidFill>
              </a:rPr>
              <a:t>Trajectory, rules and uncertainty beside the action.</a:t>
            </a:r>
          </a:p>
        </p:txBody>
      </p:sp>
      <p:sp>
        <p:nvSpPr>
          <p:cNvPr id="18" name="">
            <a:extLst xmlns:a="http://schemas.openxmlformats.org/drawingml/2006/main">
              <a:ext uri="{FF2B5EF4-FFF2-40B4-BE49-F238E27FC236}">
                <a16:creationId xmlns:a16="http://schemas.microsoft.com/office/drawing/2014/main" id="{36D0A288-9026-4794-95A5-9CC2167B633F}"/>
              </a:ext>
            </a:extLst>
          </p:cNvPr>
          <p:cNvSpPr>
            <a:spLocks xmlns:a="http://schemas.openxmlformats.org/drawingml/2006/main" noGrp="1"/>
          </p:cNvSpPr>
          <p:nvPr/>
        </p:nvSpPr>
        <p:spPr>
          <a:xfrm xmlns:a="http://schemas.openxmlformats.org/drawingml/2006/main">
            <a:off x="9353550" y="4933950"/>
            <a:ext cx="323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1F5C"/>
                </a:solidFill>
              </a:defRPr>
            </a:pPr>
            <a:r>
              <a:rPr sz="900" b="1">
                <a:solidFill>
                  <a:srgbClr val="7A1F5C"/>
                </a:solidFill>
              </a:rPr>
              <a:t>04</a:t>
            </a:r>
          </a:p>
        </p:txBody>
      </p:sp>
      <p:sp>
        <p:nvSpPr>
          <p:cNvPr id="19" name="">
            <a:extLst xmlns:a="http://schemas.openxmlformats.org/drawingml/2006/main">
              <a:ext uri="{FF2B5EF4-FFF2-40B4-BE49-F238E27FC236}">
                <a16:creationId xmlns:a16="http://schemas.microsoft.com/office/drawing/2014/main" id="{6F2190C5-F779-4BC8-A46C-8D5DC4469615}"/>
              </a:ext>
            </a:extLst>
          </p:cNvPr>
          <p:cNvSpPr>
            <a:spLocks xmlns:a="http://schemas.openxmlformats.org/drawingml/2006/main" noGrp="1"/>
          </p:cNvSpPr>
          <p:nvPr/>
        </p:nvSpPr>
        <p:spPr>
          <a:xfrm xmlns:a="http://schemas.openxmlformats.org/drawingml/2006/main">
            <a:off x="9734550" y="4933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11C27"/>
                </a:solidFill>
              </a:defRPr>
            </a:pPr>
            <a:r>
              <a:rPr sz="1125" b="1">
                <a:solidFill>
                  <a:srgbClr val="211C27"/>
                </a:solidFill>
              </a:rPr>
              <a:t>Human decision</a:t>
            </a:r>
          </a:p>
        </p:txBody>
      </p:sp>
      <p:sp>
        <p:nvSpPr>
          <p:cNvPr id="20" name="">
            <a:extLst xmlns:a="http://schemas.openxmlformats.org/drawingml/2006/main">
              <a:ext uri="{FF2B5EF4-FFF2-40B4-BE49-F238E27FC236}">
                <a16:creationId xmlns:a16="http://schemas.microsoft.com/office/drawing/2014/main" id="{5E754F08-CE6F-46BA-86AE-8F378B7A0343}"/>
              </a:ext>
            </a:extLst>
          </p:cNvPr>
          <p:cNvSpPr>
            <a:spLocks xmlns:a="http://schemas.openxmlformats.org/drawingml/2006/main" noGrp="1"/>
          </p:cNvSpPr>
          <p:nvPr/>
        </p:nvSpPr>
        <p:spPr>
          <a:xfrm xmlns:a="http://schemas.openxmlformats.org/drawingml/2006/main">
            <a:off x="9734550" y="518160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625B67"/>
                </a:solidFill>
              </a:defRPr>
            </a:pPr>
            <a:r>
              <a:rPr sz="900" b="0">
                <a:solidFill>
                  <a:srgbClr val="625B67"/>
                </a:solidFill>
              </a:rPr>
              <a:t>Accept, modify or override with a reason.</a:t>
            </a:r>
          </a:p>
        </p:txBody>
      </p:sp>
    </p:spTree>
    <p:extLst>
      <p:ext uri="{BB962C8B-B14F-4D97-AF65-F5344CB8AC3E}">
        <p14:creationId xmlns:p14="http://schemas.microsoft.com/office/powerpoint/2010/main" val="17275271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D5081DC-948C-43E7-B526-AE4464753C19}"/>
              </a:ext>
            </a:extLst>
          </p:cNvPr>
          <p:cNvSpPr>
            <a:spLocks xmlns:a="http://schemas.openxmlformats.org/drawingml/2006/main" noGrp="1"/>
          </p:cNvSpPr>
          <p:nvPr/>
        </p:nvSpPr>
        <p:spPr>
          <a:xfrm xmlns:a="http://schemas.openxmlformats.org/drawingml/2006/main">
            <a:off x="609600" y="3429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A1F5C"/>
                </a:solidFill>
              </a:defRPr>
            </a:pPr>
            <a:r>
              <a:rPr sz="825" b="1">
                <a:solidFill>
                  <a:srgbClr val="7A1F5C"/>
                </a:solidFill>
              </a:rPr>
              <a:t>HERO JOURNEY</a:t>
            </a:r>
          </a:p>
        </p:txBody>
      </p:sp>
      <p:sp>
        <p:nvSpPr>
          <p:cNvPr id="2" name="">
            <a:extLst xmlns:a="http://schemas.openxmlformats.org/drawingml/2006/main">
              <a:ext uri="{FF2B5EF4-FFF2-40B4-BE49-F238E27FC236}">
                <a16:creationId xmlns:a16="http://schemas.microsoft.com/office/drawing/2014/main" id="{F27A79DB-9B57-434A-BC0B-4CA3EE95B22D}"/>
              </a:ext>
            </a:extLst>
          </p:cNvPr>
          <p:cNvSpPr>
            <a:spLocks xmlns:a="http://schemas.openxmlformats.org/drawingml/2006/main" noGrp="1"/>
          </p:cNvSpPr>
          <p:nvPr/>
        </p:nvSpPr>
        <p:spPr>
          <a:xfrm xmlns:a="http://schemas.openxmlformats.org/drawingml/2006/main">
            <a:off x="609600" y="62865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211C27"/>
                </a:solidFill>
              </a:defRPr>
            </a:pPr>
            <a:r>
              <a:rPr sz="2550" b="1">
                <a:solidFill>
                  <a:srgbClr val="211C27"/>
                </a:solidFill>
              </a:rPr>
              <a:t>One worsening observation changes the queue—and exposes capacity.</a:t>
            </a:r>
          </a:p>
        </p:txBody>
      </p:sp>
      <p:sp>
        <p:nvSpPr>
          <p:cNvPr id="3" name="">
            <a:extLst xmlns:a="http://schemas.openxmlformats.org/drawingml/2006/main">
              <a:ext uri="{FF2B5EF4-FFF2-40B4-BE49-F238E27FC236}">
                <a16:creationId xmlns:a16="http://schemas.microsoft.com/office/drawing/2014/main" id="{BBBE4378-D5C5-4B46-B179-92F406CF29FD}"/>
              </a:ext>
            </a:extLst>
          </p:cNvPr>
          <p:cNvSpPr>
            <a:spLocks xmlns:a="http://schemas.openxmlformats.org/drawingml/2006/main" noGrp="1"/>
          </p:cNvSpPr>
          <p:nvPr/>
        </p:nvSpPr>
        <p:spPr>
          <a:xfrm xmlns:a="http://schemas.openxmlformats.org/drawingml/2006/main">
            <a:off x="609600" y="12192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5B67"/>
                </a:solidFill>
              </a:defRPr>
            </a:pPr>
            <a:r>
              <a:rPr sz="1275" b="0">
                <a:solidFill>
                  <a:srgbClr val="625B67"/>
                </a:solidFill>
              </a:rPr>
              <a:t>The system does not label the patient ‘safe.’ It shows the changed evidence, required action and infeasible response.</a:t>
            </a:r>
          </a:p>
        </p:txBody>
      </p:sp>
      <p:sp>
        <p:nvSpPr>
          <p:cNvPr id="4" name="">
            <a:extLst xmlns:a="http://schemas.openxmlformats.org/drawingml/2006/main">
              <a:ext uri="{FF2B5EF4-FFF2-40B4-BE49-F238E27FC236}">
                <a16:creationId xmlns:a16="http://schemas.microsoft.com/office/drawing/2014/main" id="{B37473CB-71DB-4A3D-9F49-528CD7518AB0}"/>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5" name="">
            <a:extLst xmlns:a="http://schemas.openxmlformats.org/drawingml/2006/main">
              <a:ext uri="{FF2B5EF4-FFF2-40B4-BE49-F238E27FC236}">
                <a16:creationId xmlns:a16="http://schemas.microsoft.com/office/drawing/2014/main" id="{BCBF7148-A1C2-4927-9B42-6F1D537163A8}"/>
              </a:ext>
            </a:extLst>
          </p:cNvPr>
          <p:cNvSpPr>
            <a:spLocks xmlns:a="http://schemas.openxmlformats.org/drawingml/2006/main" noGrp="1"/>
          </p:cNvSpPr>
          <p:nvPr/>
        </p:nvSpPr>
        <p:spPr>
          <a:xfrm xmlns:a="http://schemas.openxmlformats.org/drawingml/2006/main">
            <a:off x="609600" y="6581775"/>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625B67"/>
                </a:solidFill>
              </a:defRPr>
            </a:pPr>
            <a:r>
              <a:rPr sz="675" b="0">
                <a:solidFill>
                  <a:srgbClr val="625B67"/>
                </a:solidFill>
              </a:rPr>
              <a:t>Synthetic decision-support prototype — not validated for clinical use</a:t>
            </a:r>
          </a:p>
        </p:txBody>
      </p:sp>
      <p:sp>
        <p:nvSpPr>
          <p:cNvPr id="6" name="">
            <a:extLst xmlns:a="http://schemas.openxmlformats.org/drawingml/2006/main">
              <a:ext uri="{FF2B5EF4-FFF2-40B4-BE49-F238E27FC236}">
                <a16:creationId xmlns:a16="http://schemas.microsoft.com/office/drawing/2014/main" id="{69E4923F-2993-4E82-AE06-A8393D25A3D2}"/>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625B67"/>
                </a:solidFill>
              </a:defRPr>
            </a:pPr>
            <a:r>
              <a:rPr sz="750" b="1">
                <a:solidFill>
                  <a:srgbClr val="625B67"/>
                </a:solidFill>
              </a:rPr>
              <a:t>06</a:t>
            </a:r>
          </a:p>
        </p:txBody>
      </p:sp>
      <p:sp>
        <p:nvSpPr>
          <p:cNvPr id="7" name="">
            <a:extLst xmlns:a="http://schemas.openxmlformats.org/drawingml/2006/main">
              <a:ext uri="{FF2B5EF4-FFF2-40B4-BE49-F238E27FC236}">
                <a16:creationId xmlns:a16="http://schemas.microsoft.com/office/drawing/2014/main" id="{C92B074F-D6FD-40CB-9900-0755AE26DC44}"/>
              </a:ext>
            </a:extLst>
          </p:cNvPr>
          <p:cNvSpPr>
            <a:spLocks xmlns:a="http://schemas.openxmlformats.org/drawingml/2006/main" noGrp="1"/>
          </p:cNvSpPr>
          <p:nvPr/>
        </p:nvSpPr>
        <p:spPr>
          <a:xfrm xmlns:a="http://schemas.openxmlformats.org/drawingml/2006/main">
            <a:off x="723900" y="20002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25B67"/>
                </a:solidFill>
              </a:defRPr>
            </a:pPr>
            <a:r>
              <a:rPr sz="900" b="1">
                <a:solidFill>
                  <a:srgbClr val="625B67"/>
                </a:solidFill>
              </a:rPr>
              <a:t>BEFORE</a:t>
            </a:r>
          </a:p>
        </p:txBody>
      </p:sp>
      <p:sp>
        <p:nvSpPr>
          <p:cNvPr id="8" name="">
            <a:extLst xmlns:a="http://schemas.openxmlformats.org/drawingml/2006/main">
              <a:ext uri="{FF2B5EF4-FFF2-40B4-BE49-F238E27FC236}">
                <a16:creationId xmlns:a16="http://schemas.microsoft.com/office/drawing/2014/main" id="{B2F0D543-91DD-4C01-BDDB-3E7B5520A6BE}"/>
              </a:ext>
            </a:extLst>
          </p:cNvPr>
          <p:cNvSpPr>
            <a:spLocks xmlns:a="http://schemas.openxmlformats.org/drawingml/2006/main" noGrp="1"/>
          </p:cNvSpPr>
          <p:nvPr/>
        </p:nvSpPr>
        <p:spPr>
          <a:xfrm xmlns:a="http://schemas.openxmlformats.org/drawingml/2006/main">
            <a:off x="723900" y="2381250"/>
            <a:ext cx="3276600" cy="2724150"/>
          </a:xfrm>
          <a:prstGeom xmlns:a="http://schemas.openxmlformats.org/drawingml/2006/main" prst="roundRect">
            <a:avLst>
              <a:gd name="adj" fmla="val 6294"/>
            </a:avLst>
          </a:prstGeom>
          <a:solidFill xmlns:a="http://schemas.openxmlformats.org/drawingml/2006/main">
            <a:srgbClr val="F6F3F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A998039-8B5B-431A-AEAC-ADAD0875E47C}"/>
              </a:ext>
            </a:extLst>
          </p:cNvPr>
          <p:cNvSpPr>
            <a:spLocks xmlns:a="http://schemas.openxmlformats.org/drawingml/2006/main" noGrp="1"/>
          </p:cNvSpPr>
          <p:nvPr/>
        </p:nvSpPr>
        <p:spPr>
          <a:xfrm xmlns:a="http://schemas.openxmlformats.org/drawingml/2006/main">
            <a:off x="971550" y="26098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11C27"/>
                </a:solidFill>
              </a:defRPr>
            </a:pPr>
            <a:r>
              <a:rPr sz="1200" b="1">
                <a:solidFill>
                  <a:srgbClr val="211C27"/>
                </a:solidFill>
              </a:rPr>
              <a:t>P-0009  •  abdominal pain</a:t>
            </a:r>
          </a:p>
        </p:txBody>
      </p:sp>
      <p:sp>
        <p:nvSpPr>
          <p:cNvPr id="10" name="">
            <a:extLst xmlns:a="http://schemas.openxmlformats.org/drawingml/2006/main">
              <a:ext uri="{FF2B5EF4-FFF2-40B4-BE49-F238E27FC236}">
                <a16:creationId xmlns:a16="http://schemas.microsoft.com/office/drawing/2014/main" id="{99C10C39-9588-4285-9E9E-4F6D23978408}"/>
              </a:ext>
            </a:extLst>
          </p:cNvPr>
          <p:cNvSpPr>
            <a:spLocks xmlns:a="http://schemas.openxmlformats.org/drawingml/2006/main" noGrp="1"/>
          </p:cNvSpPr>
          <p:nvPr/>
        </p:nvSpPr>
        <p:spPr>
          <a:xfrm xmlns:a="http://schemas.openxmlformats.org/drawingml/2006/main">
            <a:off x="971550" y="3143250"/>
            <a:ext cx="1238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211C27"/>
                </a:solidFill>
              </a:defRPr>
            </a:pPr>
            <a:r>
              <a:rPr sz="1650" b="1">
                <a:solidFill>
                  <a:srgbClr val="211C27"/>
                </a:solidFill>
              </a:rPr>
              <a:t>SpO₂ 96%</a:t>
            </a:r>
          </a:p>
          <a:p xmlns:a="http://schemas.openxmlformats.org/drawingml/2006/main">
            <a:pPr algn="l">
              <a:defRPr sz="1650" b="1">
                <a:solidFill>
                  <a:srgbClr val="211C27"/>
                </a:solidFill>
              </a:defRPr>
            </a:pPr>
            <a:r>
              <a:rPr sz="1650" b="1">
                <a:solidFill>
                  <a:srgbClr val="211C27"/>
                </a:solidFill>
              </a:rPr>
              <a:t>RR 20</a:t>
            </a:r>
          </a:p>
          <a:p xmlns:a="http://schemas.openxmlformats.org/drawingml/2006/main">
            <a:pPr algn="l">
              <a:defRPr sz="1650" b="1">
                <a:solidFill>
                  <a:srgbClr val="211C27"/>
                </a:solidFill>
              </a:defRPr>
            </a:pPr>
            <a:r>
              <a:rPr sz="1650" b="1">
                <a:solidFill>
                  <a:srgbClr val="211C27"/>
                </a:solidFill>
              </a:rPr>
              <a:t>HR 88</a:t>
            </a:r>
          </a:p>
        </p:txBody>
      </p:sp>
      <p:sp>
        <p:nvSpPr>
          <p:cNvPr id="11" name="">
            <a:extLst xmlns:a="http://schemas.openxmlformats.org/drawingml/2006/main">
              <a:ext uri="{FF2B5EF4-FFF2-40B4-BE49-F238E27FC236}">
                <a16:creationId xmlns:a16="http://schemas.microsoft.com/office/drawing/2014/main" id="{A692891C-4BAC-46CD-9D5C-D12062CD75FB}"/>
              </a:ext>
            </a:extLst>
          </p:cNvPr>
          <p:cNvSpPr>
            <a:spLocks xmlns:a="http://schemas.openxmlformats.org/drawingml/2006/main" noGrp="1"/>
          </p:cNvSpPr>
          <p:nvPr/>
        </p:nvSpPr>
        <p:spPr>
          <a:xfrm xmlns:a="http://schemas.openxmlformats.org/drawingml/2006/main">
            <a:off x="2381250" y="3143250"/>
            <a:ext cx="1333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25B67"/>
                </a:solidFill>
              </a:defRPr>
            </a:pPr>
            <a:r>
              <a:rPr sz="1350" b="0">
                <a:solidFill>
                  <a:srgbClr val="625B67"/>
                </a:solidFill>
              </a:rPr>
              <a:t>Level 3</a:t>
            </a:r>
          </a:p>
          <a:p xmlns:a="http://schemas.openxmlformats.org/drawingml/2006/main">
            <a:pPr algn="l">
              <a:defRPr sz="1350" b="0">
                <a:solidFill>
                  <a:srgbClr val="625B67"/>
                </a:solidFill>
              </a:defRPr>
            </a:pPr>
            <a:r>
              <a:rPr sz="1350" b="0">
                <a:solidFill>
                  <a:srgbClr val="625B67"/>
                </a:solidFill>
              </a:rPr>
              <a:t>Queue position 8</a:t>
            </a:r>
          </a:p>
          <a:p xmlns:a="http://schemas.openxmlformats.org/drawingml/2006/main">
            <a:pPr algn="l">
              <a:defRPr sz="1350" b="0">
                <a:solidFill>
                  <a:srgbClr val="625B67"/>
                </a:solidFill>
              </a:defRPr>
            </a:pPr>
            <a:r>
              <a:rPr sz="1350" b="0">
                <a:solidFill>
                  <a:srgbClr val="625B67"/>
                </a:solidFill>
              </a:rPr>
              <a:t>Slack +24 min</a:t>
            </a:r>
          </a:p>
        </p:txBody>
      </p:sp>
      <p:sp>
        <p:nvSpPr>
          <p:cNvPr id="12" name="">
            <a:extLst xmlns:a="http://schemas.openxmlformats.org/drawingml/2006/main">
              <a:ext uri="{FF2B5EF4-FFF2-40B4-BE49-F238E27FC236}">
                <a16:creationId xmlns:a16="http://schemas.microsoft.com/office/drawing/2014/main" id="{BED502D7-1EB1-4718-B41B-F0E45EAEE4B7}"/>
              </a:ext>
            </a:extLst>
          </p:cNvPr>
          <p:cNvSpPr>
            <a:spLocks xmlns:a="http://schemas.openxmlformats.org/drawingml/2006/main" noGrp="1"/>
          </p:cNvSpPr>
          <p:nvPr/>
        </p:nvSpPr>
        <p:spPr>
          <a:xfrm xmlns:a="http://schemas.openxmlformats.org/drawingml/2006/main">
            <a:off x="971550" y="4476750"/>
            <a:ext cx="2476500" cy="266700"/>
          </a:xfrm>
          <a:prstGeom xmlns:a="http://schemas.openxmlformats.org/drawingml/2006/main" prst="roundRect">
            <a:avLst>
              <a:gd name="adj" fmla="val 50000"/>
            </a:avLst>
          </a:prstGeom>
          <a:solidFill xmlns:a="http://schemas.openxmlformats.org/drawingml/2006/main">
            <a:srgbClr val="EEF5FC"/>
          </a:solidFill>
          <a:ln xmlns:a="http://schemas.openxmlformats.org/drawingml/2006/main" w="9525">
            <a:solidFill>
              <a:srgbClr val="EEF5FC"/>
            </a:solidFill>
            <a:prstDash val="solid"/>
          </a:ln>
        </p:spPr>
        <p:txBody>
          <a:bodyPr xmlns:a="http://schemas.openxmlformats.org/drawingml/2006/main"/>
          <a:lstStyle xmlns:a="http://schemas.openxmlformats.org/drawingml/2006/main"/>
          <a:p xmlns:a="http://schemas.openxmlformats.org/drawingml/2006/main">
            <a:pPr algn="ctr">
              <a:defRPr sz="825" b="1">
                <a:solidFill>
                  <a:srgbClr val="3267A8"/>
                </a:solidFill>
              </a:defRPr>
            </a:pPr>
            <a:r>
              <a:rPr sz="825" b="1">
                <a:solidFill>
                  <a:srgbClr val="3267A8"/>
                </a:solidFill>
              </a:rPr>
              <a:t>ROUTINE REASSESSMENT</a:t>
            </a:r>
          </a:p>
        </p:txBody>
      </p:sp>
      <p:sp>
        <p:nvSpPr>
          <p:cNvPr id="13" name="">
            <a:extLst xmlns:a="http://schemas.openxmlformats.org/drawingml/2006/main">
              <a:ext uri="{FF2B5EF4-FFF2-40B4-BE49-F238E27FC236}">
                <a16:creationId xmlns:a16="http://schemas.microsoft.com/office/drawing/2014/main" id="{FCA4FDD5-7B11-4414-99A3-9B5F87EB40D9}"/>
              </a:ext>
            </a:extLst>
          </p:cNvPr>
          <p:cNvSpPr>
            <a:spLocks xmlns:a="http://schemas.openxmlformats.org/drawingml/2006/main" noGrp="1"/>
          </p:cNvSpPr>
          <p:nvPr/>
        </p:nvSpPr>
        <p:spPr>
          <a:xfrm xmlns:a="http://schemas.openxmlformats.org/drawingml/2006/main">
            <a:off x="4286250" y="3238500"/>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300" b="1">
                <a:solidFill>
                  <a:srgbClr val="7A1F5C"/>
                </a:solidFill>
              </a:defRPr>
            </a:pPr>
            <a:r>
              <a:rPr sz="3300" b="1">
                <a:solidFill>
                  <a:srgbClr val="7A1F5C"/>
                </a:solidFill>
              </a:rPr>
              <a:t>→</a:t>
            </a:r>
          </a:p>
        </p:txBody>
      </p:sp>
      <p:sp>
        <p:nvSpPr>
          <p:cNvPr id="14" name="">
            <a:extLst xmlns:a="http://schemas.openxmlformats.org/drawingml/2006/main">
              <a:ext uri="{FF2B5EF4-FFF2-40B4-BE49-F238E27FC236}">
                <a16:creationId xmlns:a16="http://schemas.microsoft.com/office/drawing/2014/main" id="{68B90AA1-1A4F-4DAD-82ED-39F615E6CFE1}"/>
              </a:ext>
            </a:extLst>
          </p:cNvPr>
          <p:cNvSpPr>
            <a:spLocks xmlns:a="http://schemas.openxmlformats.org/drawingml/2006/main" noGrp="1"/>
          </p:cNvSpPr>
          <p:nvPr/>
        </p:nvSpPr>
        <p:spPr>
          <a:xfrm xmlns:a="http://schemas.openxmlformats.org/drawingml/2006/main">
            <a:off x="5219700" y="20002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B42318"/>
                </a:solidFill>
              </a:defRPr>
            </a:pPr>
            <a:r>
              <a:rPr sz="900" b="1">
                <a:solidFill>
                  <a:srgbClr val="B42318"/>
                </a:solidFill>
              </a:rPr>
              <a:t>RE-RECORDED VITALS</a:t>
            </a:r>
          </a:p>
        </p:txBody>
      </p:sp>
      <p:sp>
        <p:nvSpPr>
          <p:cNvPr id="15" name="">
            <a:extLst xmlns:a="http://schemas.openxmlformats.org/drawingml/2006/main">
              <a:ext uri="{FF2B5EF4-FFF2-40B4-BE49-F238E27FC236}">
                <a16:creationId xmlns:a16="http://schemas.microsoft.com/office/drawing/2014/main" id="{33B1EBA3-830A-4C19-BEA9-C2FA100D991E}"/>
              </a:ext>
            </a:extLst>
          </p:cNvPr>
          <p:cNvSpPr>
            <a:spLocks xmlns:a="http://schemas.openxmlformats.org/drawingml/2006/main" noGrp="1"/>
          </p:cNvSpPr>
          <p:nvPr/>
        </p:nvSpPr>
        <p:spPr>
          <a:xfrm xmlns:a="http://schemas.openxmlformats.org/drawingml/2006/main">
            <a:off x="5219700" y="2381250"/>
            <a:ext cx="2762250" cy="2724150"/>
          </a:xfrm>
          <a:prstGeom xmlns:a="http://schemas.openxmlformats.org/drawingml/2006/main" prst="roundRect">
            <a:avLst>
              <a:gd name="adj" fmla="val 6294"/>
            </a:avLst>
          </a:prstGeom>
          <a:solidFill xmlns:a="http://schemas.openxmlformats.org/drawingml/2006/main">
            <a:srgbClr val="FEECE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D0C7FD8-8891-4483-A456-116EDE518CC1}"/>
              </a:ext>
            </a:extLst>
          </p:cNvPr>
          <p:cNvSpPr>
            <a:spLocks xmlns:a="http://schemas.openxmlformats.org/drawingml/2006/main" noGrp="1"/>
          </p:cNvSpPr>
          <p:nvPr/>
        </p:nvSpPr>
        <p:spPr>
          <a:xfrm xmlns:a="http://schemas.openxmlformats.org/drawingml/2006/main">
            <a:off x="5505450" y="272415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B42318"/>
                </a:solidFill>
              </a:defRPr>
            </a:pPr>
            <a:r>
              <a:rPr sz="1875" b="1">
                <a:solidFill>
                  <a:srgbClr val="B42318"/>
                </a:solidFill>
              </a:rPr>
              <a:t>SpO₂ 88%</a:t>
            </a:r>
          </a:p>
        </p:txBody>
      </p:sp>
      <p:sp>
        <p:nvSpPr>
          <p:cNvPr id="17" name="">
            <a:extLst xmlns:a="http://schemas.openxmlformats.org/drawingml/2006/main">
              <a:ext uri="{FF2B5EF4-FFF2-40B4-BE49-F238E27FC236}">
                <a16:creationId xmlns:a16="http://schemas.microsoft.com/office/drawing/2014/main" id="{CBF7D06A-2DA0-4F5A-8664-117E83623E5F}"/>
              </a:ext>
            </a:extLst>
          </p:cNvPr>
          <p:cNvSpPr>
            <a:spLocks xmlns:a="http://schemas.openxmlformats.org/drawingml/2006/main" noGrp="1"/>
          </p:cNvSpPr>
          <p:nvPr/>
        </p:nvSpPr>
        <p:spPr>
          <a:xfrm xmlns:a="http://schemas.openxmlformats.org/drawingml/2006/main">
            <a:off x="5505450" y="323850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B42318"/>
                </a:solidFill>
              </a:defRPr>
            </a:pPr>
            <a:r>
              <a:rPr sz="1875" b="1">
                <a:solidFill>
                  <a:srgbClr val="B42318"/>
                </a:solidFill>
              </a:rPr>
              <a:t>RR 37</a:t>
            </a:r>
          </a:p>
        </p:txBody>
      </p:sp>
      <p:sp>
        <p:nvSpPr>
          <p:cNvPr id="18" name="">
            <a:extLst xmlns:a="http://schemas.openxmlformats.org/drawingml/2006/main">
              <a:ext uri="{FF2B5EF4-FFF2-40B4-BE49-F238E27FC236}">
                <a16:creationId xmlns:a16="http://schemas.microsoft.com/office/drawing/2014/main" id="{28029B39-40E4-493F-B329-C53C4DFD570B}"/>
              </a:ext>
            </a:extLst>
          </p:cNvPr>
          <p:cNvSpPr>
            <a:spLocks xmlns:a="http://schemas.openxmlformats.org/drawingml/2006/main" noGrp="1"/>
          </p:cNvSpPr>
          <p:nvPr/>
        </p:nvSpPr>
        <p:spPr>
          <a:xfrm xmlns:a="http://schemas.openxmlformats.org/drawingml/2006/main">
            <a:off x="5505450" y="375285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B42318"/>
                </a:solidFill>
              </a:defRPr>
            </a:pPr>
            <a:r>
              <a:rPr sz="1875" b="1">
                <a:solidFill>
                  <a:srgbClr val="B42318"/>
                </a:solidFill>
              </a:rPr>
              <a:t>HR rises</a:t>
            </a:r>
          </a:p>
        </p:txBody>
      </p:sp>
      <p:sp>
        <p:nvSpPr>
          <p:cNvPr id="19" name="">
            <a:extLst xmlns:a="http://schemas.openxmlformats.org/drawingml/2006/main">
              <a:ext uri="{FF2B5EF4-FFF2-40B4-BE49-F238E27FC236}">
                <a16:creationId xmlns:a16="http://schemas.microsoft.com/office/drawing/2014/main" id="{027797FF-5C87-4E74-8D36-893B140B290D}"/>
              </a:ext>
            </a:extLst>
          </p:cNvPr>
          <p:cNvSpPr>
            <a:spLocks xmlns:a="http://schemas.openxmlformats.org/drawingml/2006/main" noGrp="1"/>
          </p:cNvSpPr>
          <p:nvPr/>
        </p:nvSpPr>
        <p:spPr>
          <a:xfrm xmlns:a="http://schemas.openxmlformats.org/drawingml/2006/main">
            <a:off x="5505450" y="44386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11C27"/>
                </a:solidFill>
              </a:defRPr>
            </a:pPr>
            <a:r>
              <a:rPr sz="1125" b="1">
                <a:solidFill>
                  <a:srgbClr val="211C27"/>
                </a:solidFill>
              </a:rPr>
              <a:t>Rules run first</a:t>
            </a:r>
          </a:p>
        </p:txBody>
      </p:sp>
      <p:sp>
        <p:nvSpPr>
          <p:cNvPr id="20" name="">
            <a:extLst xmlns:a="http://schemas.openxmlformats.org/drawingml/2006/main">
              <a:ext uri="{FF2B5EF4-FFF2-40B4-BE49-F238E27FC236}">
                <a16:creationId xmlns:a16="http://schemas.microsoft.com/office/drawing/2014/main" id="{253256E6-3B42-4EB0-AE04-40C3B9D734A4}"/>
              </a:ext>
            </a:extLst>
          </p:cNvPr>
          <p:cNvSpPr>
            <a:spLocks xmlns:a="http://schemas.openxmlformats.org/drawingml/2006/main" noGrp="1"/>
          </p:cNvSpPr>
          <p:nvPr/>
        </p:nvSpPr>
        <p:spPr>
          <a:xfrm xmlns:a="http://schemas.openxmlformats.org/drawingml/2006/main">
            <a:off x="8172450" y="3238500"/>
            <a:ext cx="66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300" b="1">
                <a:solidFill>
                  <a:srgbClr val="7A1F5C"/>
                </a:solidFill>
              </a:defRPr>
            </a:pPr>
            <a:r>
              <a:rPr sz="3300" b="1">
                <a:solidFill>
                  <a:srgbClr val="7A1F5C"/>
                </a:solidFill>
              </a:rPr>
              <a:t>→</a:t>
            </a:r>
          </a:p>
        </p:txBody>
      </p:sp>
      <p:sp>
        <p:nvSpPr>
          <p:cNvPr id="21" name="">
            <a:extLst xmlns:a="http://schemas.openxmlformats.org/drawingml/2006/main">
              <a:ext uri="{FF2B5EF4-FFF2-40B4-BE49-F238E27FC236}">
                <a16:creationId xmlns:a16="http://schemas.microsoft.com/office/drawing/2014/main" id="{B7D377C6-6FC3-4853-A425-C9A3D6C31316}"/>
              </a:ext>
            </a:extLst>
          </p:cNvPr>
          <p:cNvSpPr>
            <a:spLocks xmlns:a="http://schemas.openxmlformats.org/drawingml/2006/main" noGrp="1"/>
          </p:cNvSpPr>
          <p:nvPr/>
        </p:nvSpPr>
        <p:spPr>
          <a:xfrm xmlns:a="http://schemas.openxmlformats.org/drawingml/2006/main">
            <a:off x="9105900" y="20002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1F5C"/>
                </a:solidFill>
              </a:defRPr>
            </a:pPr>
            <a:r>
              <a:rPr sz="900" b="1">
                <a:solidFill>
                  <a:srgbClr val="7A1F5C"/>
                </a:solidFill>
              </a:rPr>
              <a:t>AFTER</a:t>
            </a:r>
          </a:p>
        </p:txBody>
      </p:sp>
      <p:sp>
        <p:nvSpPr>
          <p:cNvPr id="22" name="">
            <a:extLst xmlns:a="http://schemas.openxmlformats.org/drawingml/2006/main">
              <a:ext uri="{FF2B5EF4-FFF2-40B4-BE49-F238E27FC236}">
                <a16:creationId xmlns:a16="http://schemas.microsoft.com/office/drawing/2014/main" id="{B690B939-3951-4BA8-A5FC-F832EEF06107}"/>
              </a:ext>
            </a:extLst>
          </p:cNvPr>
          <p:cNvSpPr>
            <a:spLocks xmlns:a="http://schemas.openxmlformats.org/drawingml/2006/main" noGrp="1"/>
          </p:cNvSpPr>
          <p:nvPr/>
        </p:nvSpPr>
        <p:spPr>
          <a:xfrm xmlns:a="http://schemas.openxmlformats.org/drawingml/2006/main">
            <a:off x="9105900" y="2381250"/>
            <a:ext cx="2381250" cy="2724150"/>
          </a:xfrm>
          <a:prstGeom xmlns:a="http://schemas.openxmlformats.org/drawingml/2006/main" prst="roundRect">
            <a:avLst>
              <a:gd name="adj" fmla="val 7200"/>
            </a:avLst>
          </a:prstGeom>
          <a:solidFill xmlns:a="http://schemas.openxmlformats.org/drawingml/2006/main">
            <a:srgbClr val="F7EEF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1957DC4-ECCC-4200-9669-F5E5A2ECD4E5}"/>
              </a:ext>
            </a:extLst>
          </p:cNvPr>
          <p:cNvSpPr>
            <a:spLocks xmlns:a="http://schemas.openxmlformats.org/drawingml/2006/main" noGrp="1"/>
          </p:cNvSpPr>
          <p:nvPr/>
        </p:nvSpPr>
        <p:spPr>
          <a:xfrm xmlns:a="http://schemas.openxmlformats.org/drawingml/2006/main">
            <a:off x="9372600" y="2686050"/>
            <a:ext cx="1847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52163E"/>
                </a:solidFill>
              </a:defRPr>
            </a:pPr>
            <a:r>
              <a:rPr sz="1800" b="1">
                <a:solidFill>
                  <a:srgbClr val="52163E"/>
                </a:solidFill>
              </a:rPr>
              <a:t>Position 2</a:t>
            </a:r>
          </a:p>
        </p:txBody>
      </p:sp>
      <p:sp>
        <p:nvSpPr>
          <p:cNvPr id="24" name="">
            <a:extLst xmlns:a="http://schemas.openxmlformats.org/drawingml/2006/main">
              <a:ext uri="{FF2B5EF4-FFF2-40B4-BE49-F238E27FC236}">
                <a16:creationId xmlns:a16="http://schemas.microsoft.com/office/drawing/2014/main" id="{ECF30866-54FA-4EDC-AEC2-892FFD15A961}"/>
              </a:ext>
            </a:extLst>
          </p:cNvPr>
          <p:cNvSpPr>
            <a:spLocks xmlns:a="http://schemas.openxmlformats.org/drawingml/2006/main" noGrp="1"/>
          </p:cNvSpPr>
          <p:nvPr/>
        </p:nvSpPr>
        <p:spPr>
          <a:xfrm xmlns:a="http://schemas.openxmlformats.org/drawingml/2006/main">
            <a:off x="9372600" y="3257550"/>
            <a:ext cx="18478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11C27"/>
                </a:solidFill>
              </a:defRPr>
            </a:pPr>
            <a:r>
              <a:rPr sz="1350" b="1">
                <a:solidFill>
                  <a:srgbClr val="211C27"/>
                </a:solidFill>
              </a:rPr>
              <a:t>Action Window</a:t>
            </a:r>
          </a:p>
          <a:p xmlns:a="http://schemas.openxmlformats.org/drawingml/2006/main">
            <a:pPr algn="l">
              <a:defRPr sz="1350" b="1">
                <a:solidFill>
                  <a:srgbClr val="211C27"/>
                </a:solidFill>
              </a:defRPr>
            </a:pPr>
            <a:r>
              <a:rPr sz="1350" b="1">
                <a:solidFill>
                  <a:srgbClr val="211C27"/>
                </a:solidFill>
              </a:rPr>
              <a:t>NOW</a:t>
            </a:r>
          </a:p>
        </p:txBody>
      </p:sp>
      <p:sp>
        <p:nvSpPr>
          <p:cNvPr id="25" name="">
            <a:extLst xmlns:a="http://schemas.openxmlformats.org/drawingml/2006/main">
              <a:ext uri="{FF2B5EF4-FFF2-40B4-BE49-F238E27FC236}">
                <a16:creationId xmlns:a16="http://schemas.microsoft.com/office/drawing/2014/main" id="{B65324D9-FA9F-4A46-B46E-E75D2F6816C6}"/>
              </a:ext>
            </a:extLst>
          </p:cNvPr>
          <p:cNvSpPr>
            <a:spLocks xmlns:a="http://schemas.openxmlformats.org/drawingml/2006/main" noGrp="1"/>
          </p:cNvSpPr>
          <p:nvPr/>
        </p:nvSpPr>
        <p:spPr>
          <a:xfrm xmlns:a="http://schemas.openxmlformats.org/drawingml/2006/main">
            <a:off x="9372600" y="405765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11C27"/>
                </a:solidFill>
              </a:defRPr>
            </a:pPr>
            <a:r>
              <a:rPr sz="1350" b="1">
                <a:solidFill>
                  <a:srgbClr val="211C27"/>
                </a:solidFill>
              </a:rPr>
              <a:t>ETA 8 min</a:t>
            </a:r>
          </a:p>
        </p:txBody>
      </p:sp>
      <p:sp>
        <p:nvSpPr>
          <p:cNvPr id="26" name="">
            <a:extLst xmlns:a="http://schemas.openxmlformats.org/drawingml/2006/main">
              <a:ext uri="{FF2B5EF4-FFF2-40B4-BE49-F238E27FC236}">
                <a16:creationId xmlns:a16="http://schemas.microsoft.com/office/drawing/2014/main" id="{4DA09583-C9C1-462D-9CAA-893035BDFF40}"/>
              </a:ext>
            </a:extLst>
          </p:cNvPr>
          <p:cNvSpPr>
            <a:spLocks xmlns:a="http://schemas.openxmlformats.org/drawingml/2006/main" noGrp="1"/>
          </p:cNvSpPr>
          <p:nvPr/>
        </p:nvSpPr>
        <p:spPr>
          <a:xfrm xmlns:a="http://schemas.openxmlformats.org/drawingml/2006/main">
            <a:off x="9372600" y="4552950"/>
            <a:ext cx="1847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B42318"/>
                </a:solidFill>
              </a:defRPr>
            </a:pPr>
            <a:r>
              <a:rPr sz="1650" b="1">
                <a:solidFill>
                  <a:srgbClr val="B42318"/>
                </a:solidFill>
              </a:rPr>
              <a:t>SLACK −8</a:t>
            </a:r>
          </a:p>
        </p:txBody>
      </p:sp>
      <p:sp>
        <p:nvSpPr>
          <p:cNvPr id="27" name="">
            <a:extLst xmlns:a="http://schemas.openxmlformats.org/drawingml/2006/main">
              <a:ext uri="{FF2B5EF4-FFF2-40B4-BE49-F238E27FC236}">
                <a16:creationId xmlns:a16="http://schemas.microsoft.com/office/drawing/2014/main" id="{9051FFC4-0DA6-4E30-803C-3B858EA0F229}"/>
              </a:ext>
            </a:extLst>
          </p:cNvPr>
          <p:cNvSpPr>
            <a:spLocks xmlns:a="http://schemas.openxmlformats.org/drawingml/2006/main" noGrp="1"/>
          </p:cNvSpPr>
          <p:nvPr/>
        </p:nvSpPr>
        <p:spPr>
          <a:xfrm xmlns:a="http://schemas.openxmlformats.org/drawingml/2006/main">
            <a:off x="3009900" y="5562600"/>
            <a:ext cx="6172200" cy="514350"/>
          </a:xfrm>
          <a:prstGeom xmlns:a="http://schemas.openxmlformats.org/drawingml/2006/main" prst="roundRect">
            <a:avLst>
              <a:gd name="adj" fmla="val 25926"/>
            </a:avLst>
          </a:prstGeom>
          <a:solidFill xmlns:a="http://schemas.openxmlformats.org/drawingml/2006/main">
            <a:srgbClr val="B4231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1371E71-5E74-46CE-BFA5-097AE64B811A}"/>
              </a:ext>
            </a:extLst>
          </p:cNvPr>
          <p:cNvSpPr>
            <a:spLocks xmlns:a="http://schemas.openxmlformats.org/drawingml/2006/main" noGrp="1"/>
          </p:cNvSpPr>
          <p:nvPr/>
        </p:nvSpPr>
        <p:spPr>
          <a:xfrm xmlns:a="http://schemas.openxmlformats.org/drawingml/2006/main">
            <a:off x="3219450" y="5715000"/>
            <a:ext cx="5753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FFFFFF"/>
                </a:solidFill>
              </a:defRPr>
            </a:pPr>
            <a:r>
              <a:rPr sz="975" b="1">
                <a:solidFill>
                  <a:srgbClr val="FFFFFF"/>
                </a:solidFill>
              </a:rPr>
              <a:t>NEGATIVE SLACK = CLINICAL NEED AND OPERATIONAL REALITY HAVE DIVERGED</a:t>
            </a:r>
          </a:p>
        </p:txBody>
      </p:sp>
    </p:spTree>
    <p:extLst>
      <p:ext uri="{BB962C8B-B14F-4D97-AF65-F5344CB8AC3E}">
        <p14:creationId xmlns:p14="http://schemas.microsoft.com/office/powerpoint/2010/main" val="159908118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3459D401-3D14-479C-8CA1-ADA01540A7F3}"/>
              </a:ext>
            </a:extLst>
          </p:cNvPr>
          <p:cNvSpPr>
            <a:spLocks xmlns:a="http://schemas.openxmlformats.org/drawingml/2006/main" noGrp="1"/>
          </p:cNvSpPr>
          <p:nvPr/>
        </p:nvSpPr>
        <p:spPr>
          <a:xfrm xmlns:a="http://schemas.openxmlformats.org/drawingml/2006/main">
            <a:off x="609600" y="3429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A1F5C"/>
                </a:solidFill>
              </a:defRPr>
            </a:pPr>
            <a:r>
              <a:rPr sz="825" b="1">
                <a:solidFill>
                  <a:srgbClr val="7A1F5C"/>
                </a:solidFill>
              </a:rPr>
              <a:t>SAFETY ARCHITECTURE</a:t>
            </a:r>
          </a:p>
        </p:txBody>
      </p:sp>
      <p:sp>
        <p:nvSpPr>
          <p:cNvPr id="2" name="">
            <a:extLst xmlns:a="http://schemas.openxmlformats.org/drawingml/2006/main">
              <a:ext uri="{FF2B5EF4-FFF2-40B4-BE49-F238E27FC236}">
                <a16:creationId xmlns:a16="http://schemas.microsoft.com/office/drawing/2014/main" id="{74543B71-C128-4B88-B94A-49950775E095}"/>
              </a:ext>
            </a:extLst>
          </p:cNvPr>
          <p:cNvSpPr>
            <a:spLocks xmlns:a="http://schemas.openxmlformats.org/drawingml/2006/main" noGrp="1"/>
          </p:cNvSpPr>
          <p:nvPr/>
        </p:nvSpPr>
        <p:spPr>
          <a:xfrm xmlns:a="http://schemas.openxmlformats.org/drawingml/2006/main">
            <a:off x="609600" y="62865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211C27"/>
                </a:solidFill>
              </a:defRPr>
            </a:pPr>
            <a:r>
              <a:rPr sz="2550" b="1">
                <a:solidFill>
                  <a:srgbClr val="211C27"/>
                </a:solidFill>
              </a:rPr>
              <a:t>The model can sharpen the decision. It cannot overrule the safety rail.</a:t>
            </a:r>
          </a:p>
        </p:txBody>
      </p:sp>
      <p:sp>
        <p:nvSpPr>
          <p:cNvPr id="3" name="">
            <a:extLst xmlns:a="http://schemas.openxmlformats.org/drawingml/2006/main">
              <a:ext uri="{FF2B5EF4-FFF2-40B4-BE49-F238E27FC236}">
                <a16:creationId xmlns:a16="http://schemas.microsoft.com/office/drawing/2014/main" id="{443FFD6E-4E57-40BB-80C8-FA6E25E3E453}"/>
              </a:ext>
            </a:extLst>
          </p:cNvPr>
          <p:cNvSpPr>
            <a:spLocks xmlns:a="http://schemas.openxmlformats.org/drawingml/2006/main" noGrp="1"/>
          </p:cNvSpPr>
          <p:nvPr/>
        </p:nvSpPr>
        <p:spPr>
          <a:xfrm xmlns:a="http://schemas.openxmlformats.org/drawingml/2006/main">
            <a:off x="609600" y="12192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5B67"/>
                </a:solidFill>
              </a:defRPr>
            </a:pPr>
            <a:r>
              <a:rPr sz="1275" b="0">
                <a:solidFill>
                  <a:srgbClr val="625B67"/>
                </a:solidFill>
              </a:rPr>
              <a:t>Rules, uncertainty, queue feasibility and clinician authority are separate controls—not one opaque score.</a:t>
            </a:r>
          </a:p>
        </p:txBody>
      </p:sp>
      <p:sp>
        <p:nvSpPr>
          <p:cNvPr id="4" name="">
            <a:extLst xmlns:a="http://schemas.openxmlformats.org/drawingml/2006/main">
              <a:ext uri="{FF2B5EF4-FFF2-40B4-BE49-F238E27FC236}">
                <a16:creationId xmlns:a16="http://schemas.microsoft.com/office/drawing/2014/main" id="{0EED5E83-AA3E-42E4-B7D4-A28CBA998C5B}"/>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5" name="">
            <a:extLst xmlns:a="http://schemas.openxmlformats.org/drawingml/2006/main">
              <a:ext uri="{FF2B5EF4-FFF2-40B4-BE49-F238E27FC236}">
                <a16:creationId xmlns:a16="http://schemas.microsoft.com/office/drawing/2014/main" id="{CFE4FE45-0E85-4609-9329-7BAEA3283EF8}"/>
              </a:ext>
            </a:extLst>
          </p:cNvPr>
          <p:cNvSpPr>
            <a:spLocks xmlns:a="http://schemas.openxmlformats.org/drawingml/2006/main" noGrp="1"/>
          </p:cNvSpPr>
          <p:nvPr/>
        </p:nvSpPr>
        <p:spPr>
          <a:xfrm xmlns:a="http://schemas.openxmlformats.org/drawingml/2006/main">
            <a:off x="609600" y="6581775"/>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625B67"/>
                </a:solidFill>
              </a:defRPr>
            </a:pPr>
            <a:r>
              <a:rPr sz="675" b="0">
                <a:solidFill>
                  <a:srgbClr val="625B67"/>
                </a:solidFill>
              </a:rPr>
              <a:t>Synthetic decision-support prototype — not validated for clinical use</a:t>
            </a:r>
          </a:p>
        </p:txBody>
      </p:sp>
      <p:sp>
        <p:nvSpPr>
          <p:cNvPr id="6" name="">
            <a:extLst xmlns:a="http://schemas.openxmlformats.org/drawingml/2006/main">
              <a:ext uri="{FF2B5EF4-FFF2-40B4-BE49-F238E27FC236}">
                <a16:creationId xmlns:a16="http://schemas.microsoft.com/office/drawing/2014/main" id="{E3451B38-6B9E-4BC6-985F-A044A83B4823}"/>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625B67"/>
                </a:solidFill>
              </a:defRPr>
            </a:pPr>
            <a:r>
              <a:rPr sz="750" b="1">
                <a:solidFill>
                  <a:srgbClr val="625B67"/>
                </a:solidFill>
              </a:rPr>
              <a:t>07</a:t>
            </a:r>
          </a:p>
        </p:txBody>
      </p:sp>
      <p:sp>
        <p:nvSpPr>
          <p:cNvPr id="7" name="">
            <a:extLst xmlns:a="http://schemas.openxmlformats.org/drawingml/2006/main">
              <a:ext uri="{FF2B5EF4-FFF2-40B4-BE49-F238E27FC236}">
                <a16:creationId xmlns:a16="http://schemas.microsoft.com/office/drawing/2014/main" id="{31D996B6-DEF6-4B8E-8228-783B9C028AE3}"/>
              </a:ext>
            </a:extLst>
          </p:cNvPr>
          <p:cNvSpPr>
            <a:spLocks xmlns:a="http://schemas.openxmlformats.org/drawingml/2006/main" noGrp="1"/>
          </p:cNvSpPr>
          <p:nvPr/>
        </p:nvSpPr>
        <p:spPr>
          <a:xfrm xmlns:a="http://schemas.openxmlformats.org/drawingml/2006/main">
            <a:off x="762000" y="1847850"/>
            <a:ext cx="7334250" cy="666750"/>
          </a:xfrm>
          <a:prstGeom xmlns:a="http://schemas.openxmlformats.org/drawingml/2006/main" prst="roundRect">
            <a:avLst>
              <a:gd name="adj" fmla="val 17143"/>
            </a:avLst>
          </a:prstGeom>
          <a:solidFill xmlns:a="http://schemas.openxmlformats.org/drawingml/2006/main">
            <a:srgbClr val="F6F3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B3CA02E-FAAB-4B15-9863-25A1998D552A}"/>
              </a:ext>
            </a:extLst>
          </p:cNvPr>
          <p:cNvSpPr>
            <a:spLocks xmlns:a="http://schemas.openxmlformats.org/drawingml/2006/main" noGrp="1"/>
          </p:cNvSpPr>
          <p:nvPr/>
        </p:nvSpPr>
        <p:spPr>
          <a:xfrm xmlns:a="http://schemas.openxmlformats.org/drawingml/2006/main">
            <a:off x="952500" y="20383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1F5C"/>
                </a:solidFill>
              </a:defRPr>
            </a:pPr>
            <a:r>
              <a:rPr sz="900" b="1">
                <a:solidFill>
                  <a:srgbClr val="7A1F5C"/>
                </a:solidFill>
              </a:rPr>
              <a:t>01</a:t>
            </a:r>
          </a:p>
        </p:txBody>
      </p:sp>
      <p:sp>
        <p:nvSpPr>
          <p:cNvPr id="9" name="">
            <a:extLst xmlns:a="http://schemas.openxmlformats.org/drawingml/2006/main">
              <a:ext uri="{FF2B5EF4-FFF2-40B4-BE49-F238E27FC236}">
                <a16:creationId xmlns:a16="http://schemas.microsoft.com/office/drawing/2014/main" id="{34B2CD89-0532-440C-A416-9712222A0228}"/>
              </a:ext>
            </a:extLst>
          </p:cNvPr>
          <p:cNvSpPr>
            <a:spLocks xmlns:a="http://schemas.openxmlformats.org/drawingml/2006/main" noGrp="1"/>
          </p:cNvSpPr>
          <p:nvPr/>
        </p:nvSpPr>
        <p:spPr>
          <a:xfrm xmlns:a="http://schemas.openxmlformats.org/drawingml/2006/main">
            <a:off x="1409700" y="19716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11C27"/>
                </a:solidFill>
              </a:defRPr>
            </a:pPr>
            <a:r>
              <a:rPr sz="1125" b="1">
                <a:solidFill>
                  <a:srgbClr val="211C27"/>
                </a:solidFill>
              </a:rPr>
              <a:t>INPUT + DATA QUALITY</a:t>
            </a:r>
          </a:p>
        </p:txBody>
      </p:sp>
      <p:sp>
        <p:nvSpPr>
          <p:cNvPr id="10" name="">
            <a:extLst xmlns:a="http://schemas.openxmlformats.org/drawingml/2006/main">
              <a:ext uri="{FF2B5EF4-FFF2-40B4-BE49-F238E27FC236}">
                <a16:creationId xmlns:a16="http://schemas.microsoft.com/office/drawing/2014/main" id="{3B0EC582-848F-4843-95E8-C3DDC447AF31}"/>
              </a:ext>
            </a:extLst>
          </p:cNvPr>
          <p:cNvSpPr>
            <a:spLocks xmlns:a="http://schemas.openxmlformats.org/drawingml/2006/main" noGrp="1"/>
          </p:cNvSpPr>
          <p:nvPr/>
        </p:nvSpPr>
        <p:spPr>
          <a:xfrm xmlns:a="http://schemas.openxmlformats.org/drawingml/2006/main">
            <a:off x="1409700" y="22098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625B67"/>
                </a:solidFill>
              </a:defRPr>
            </a:pPr>
            <a:r>
              <a:rPr sz="975" b="0">
                <a:solidFill>
                  <a:srgbClr val="625B67"/>
                </a:solidFill>
              </a:rPr>
              <a:t>Freshness • missingness • plausibility • provenance</a:t>
            </a:r>
          </a:p>
        </p:txBody>
      </p:sp>
      <p:sp>
        <p:nvSpPr>
          <p:cNvPr id="11" name="">
            <a:extLst xmlns:a="http://schemas.openxmlformats.org/drawingml/2006/main">
              <a:ext uri="{FF2B5EF4-FFF2-40B4-BE49-F238E27FC236}">
                <a16:creationId xmlns:a16="http://schemas.microsoft.com/office/drawing/2014/main" id="{747AFA14-23DA-46DE-8FEB-D1261081C7F4}"/>
              </a:ext>
            </a:extLst>
          </p:cNvPr>
          <p:cNvSpPr>
            <a:spLocks xmlns:a="http://schemas.openxmlformats.org/drawingml/2006/main" noGrp="1"/>
          </p:cNvSpPr>
          <p:nvPr/>
        </p:nvSpPr>
        <p:spPr>
          <a:xfrm xmlns:a="http://schemas.openxmlformats.org/drawingml/2006/main">
            <a:off x="762000" y="2628900"/>
            <a:ext cx="7334250" cy="666750"/>
          </a:xfrm>
          <a:prstGeom xmlns:a="http://schemas.openxmlformats.org/drawingml/2006/main" prst="roundRect">
            <a:avLst>
              <a:gd name="adj" fmla="val 17143"/>
            </a:avLst>
          </a:prstGeom>
          <a:solidFill xmlns:a="http://schemas.openxmlformats.org/drawingml/2006/main">
            <a:srgbClr val="FEECE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F60C1FF-4814-40F4-9FE4-45B94D4A1A1D}"/>
              </a:ext>
            </a:extLst>
          </p:cNvPr>
          <p:cNvSpPr>
            <a:spLocks xmlns:a="http://schemas.openxmlformats.org/drawingml/2006/main" noGrp="1"/>
          </p:cNvSpPr>
          <p:nvPr/>
        </p:nvSpPr>
        <p:spPr>
          <a:xfrm xmlns:a="http://schemas.openxmlformats.org/drawingml/2006/main">
            <a:off x="952500" y="28194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1F5C"/>
                </a:solidFill>
              </a:defRPr>
            </a:pPr>
            <a:r>
              <a:rPr sz="900" b="1">
                <a:solidFill>
                  <a:srgbClr val="7A1F5C"/>
                </a:solidFill>
              </a:rPr>
              <a:t>02</a:t>
            </a:r>
          </a:p>
        </p:txBody>
      </p:sp>
      <p:sp>
        <p:nvSpPr>
          <p:cNvPr id="13" name="">
            <a:extLst xmlns:a="http://schemas.openxmlformats.org/drawingml/2006/main">
              <a:ext uri="{FF2B5EF4-FFF2-40B4-BE49-F238E27FC236}">
                <a16:creationId xmlns:a16="http://schemas.microsoft.com/office/drawing/2014/main" id="{0217E2A1-6425-48AD-8988-1C3ECDCA9E44}"/>
              </a:ext>
            </a:extLst>
          </p:cNvPr>
          <p:cNvSpPr>
            <a:spLocks xmlns:a="http://schemas.openxmlformats.org/drawingml/2006/main" noGrp="1"/>
          </p:cNvSpPr>
          <p:nvPr/>
        </p:nvSpPr>
        <p:spPr>
          <a:xfrm xmlns:a="http://schemas.openxmlformats.org/drawingml/2006/main">
            <a:off x="1409700" y="27527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11C27"/>
                </a:solidFill>
              </a:defRPr>
            </a:pPr>
            <a:r>
              <a:rPr sz="1125" b="1">
                <a:solidFill>
                  <a:srgbClr val="211C27"/>
                </a:solidFill>
              </a:rPr>
              <a:t>AGE-AWARE RULES FIRST</a:t>
            </a:r>
          </a:p>
        </p:txBody>
      </p:sp>
      <p:sp>
        <p:nvSpPr>
          <p:cNvPr id="14" name="">
            <a:extLst xmlns:a="http://schemas.openxmlformats.org/drawingml/2006/main">
              <a:ext uri="{FF2B5EF4-FFF2-40B4-BE49-F238E27FC236}">
                <a16:creationId xmlns:a16="http://schemas.microsoft.com/office/drawing/2014/main" id="{B4F91B01-93F5-46C1-826B-EED77DB2C5E0}"/>
              </a:ext>
            </a:extLst>
          </p:cNvPr>
          <p:cNvSpPr>
            <a:spLocks xmlns:a="http://schemas.openxmlformats.org/drawingml/2006/main" noGrp="1"/>
          </p:cNvSpPr>
          <p:nvPr/>
        </p:nvSpPr>
        <p:spPr>
          <a:xfrm xmlns:a="http://schemas.openxmlformats.org/drawingml/2006/main">
            <a:off x="1409700" y="29908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625B67"/>
                </a:solidFill>
              </a:defRPr>
            </a:pPr>
            <a:r>
              <a:rPr sz="975" b="0">
                <a:solidFill>
                  <a:srgbClr val="625B67"/>
                </a:solidFill>
              </a:rPr>
              <a:t>Paediatric • adult • geriatric red flags</a:t>
            </a:r>
          </a:p>
        </p:txBody>
      </p:sp>
      <p:sp>
        <p:nvSpPr>
          <p:cNvPr id="15" name="">
            <a:extLst xmlns:a="http://schemas.openxmlformats.org/drawingml/2006/main">
              <a:ext uri="{FF2B5EF4-FFF2-40B4-BE49-F238E27FC236}">
                <a16:creationId xmlns:a16="http://schemas.microsoft.com/office/drawing/2014/main" id="{448D2E5C-B877-48CF-87E4-C933975A5472}"/>
              </a:ext>
            </a:extLst>
          </p:cNvPr>
          <p:cNvSpPr>
            <a:spLocks xmlns:a="http://schemas.openxmlformats.org/drawingml/2006/main" noGrp="1"/>
          </p:cNvSpPr>
          <p:nvPr/>
        </p:nvSpPr>
        <p:spPr>
          <a:xfrm xmlns:a="http://schemas.openxmlformats.org/drawingml/2006/main">
            <a:off x="762000" y="3409950"/>
            <a:ext cx="7334250" cy="666750"/>
          </a:xfrm>
          <a:prstGeom xmlns:a="http://schemas.openxmlformats.org/drawingml/2006/main" prst="roundRect">
            <a:avLst>
              <a:gd name="adj" fmla="val 17143"/>
            </a:avLst>
          </a:prstGeom>
          <a:solidFill xmlns:a="http://schemas.openxmlformats.org/drawingml/2006/main">
            <a:srgbClr val="EEF5F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379EFF2-5284-4B9D-9BE4-52046B4351C8}"/>
              </a:ext>
            </a:extLst>
          </p:cNvPr>
          <p:cNvSpPr>
            <a:spLocks xmlns:a="http://schemas.openxmlformats.org/drawingml/2006/main" noGrp="1"/>
          </p:cNvSpPr>
          <p:nvPr/>
        </p:nvSpPr>
        <p:spPr>
          <a:xfrm xmlns:a="http://schemas.openxmlformats.org/drawingml/2006/main">
            <a:off x="952500" y="3600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1F5C"/>
                </a:solidFill>
              </a:defRPr>
            </a:pPr>
            <a:r>
              <a:rPr sz="900" b="1">
                <a:solidFill>
                  <a:srgbClr val="7A1F5C"/>
                </a:solidFill>
              </a:rPr>
              <a:t>03</a:t>
            </a:r>
          </a:p>
        </p:txBody>
      </p:sp>
      <p:sp>
        <p:nvSpPr>
          <p:cNvPr id="17" name="">
            <a:extLst xmlns:a="http://schemas.openxmlformats.org/drawingml/2006/main">
              <a:ext uri="{FF2B5EF4-FFF2-40B4-BE49-F238E27FC236}">
                <a16:creationId xmlns:a16="http://schemas.microsoft.com/office/drawing/2014/main" id="{78274C21-9C1F-4832-B8A9-AEF1E9053A5A}"/>
              </a:ext>
            </a:extLst>
          </p:cNvPr>
          <p:cNvSpPr>
            <a:spLocks xmlns:a="http://schemas.openxmlformats.org/drawingml/2006/main" noGrp="1"/>
          </p:cNvSpPr>
          <p:nvPr/>
        </p:nvSpPr>
        <p:spPr>
          <a:xfrm xmlns:a="http://schemas.openxmlformats.org/drawingml/2006/main">
            <a:off x="1409700" y="35337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11C27"/>
                </a:solidFill>
              </a:defRPr>
            </a:pPr>
            <a:r>
              <a:rPr sz="1125" b="1">
                <a:solidFill>
                  <a:srgbClr val="211C27"/>
                </a:solidFill>
              </a:rPr>
              <a:t>CALIBRATED TRAJECTORY</a:t>
            </a:r>
          </a:p>
        </p:txBody>
      </p:sp>
      <p:sp>
        <p:nvSpPr>
          <p:cNvPr id="18" name="">
            <a:extLst xmlns:a="http://schemas.openxmlformats.org/drawingml/2006/main">
              <a:ext uri="{FF2B5EF4-FFF2-40B4-BE49-F238E27FC236}">
                <a16:creationId xmlns:a16="http://schemas.microsoft.com/office/drawing/2014/main" id="{17363300-4617-486B-8B4F-9B97DE45F54D}"/>
              </a:ext>
            </a:extLst>
          </p:cNvPr>
          <p:cNvSpPr>
            <a:spLocks xmlns:a="http://schemas.openxmlformats.org/drawingml/2006/main" noGrp="1"/>
          </p:cNvSpPr>
          <p:nvPr/>
        </p:nvSpPr>
        <p:spPr>
          <a:xfrm xmlns:a="http://schemas.openxmlformats.org/drawingml/2006/main">
            <a:off x="1409700" y="37719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625B67"/>
                </a:solidFill>
              </a:defRPr>
            </a:pPr>
            <a:r>
              <a:rPr sz="975" b="0">
                <a:solidFill>
                  <a:srgbClr val="625B67"/>
                </a:solidFill>
              </a:rPr>
              <a:t>Four horizons • recall-constrained operating point</a:t>
            </a:r>
          </a:p>
        </p:txBody>
      </p:sp>
      <p:sp>
        <p:nvSpPr>
          <p:cNvPr id="19" name="">
            <a:extLst xmlns:a="http://schemas.openxmlformats.org/drawingml/2006/main">
              <a:ext uri="{FF2B5EF4-FFF2-40B4-BE49-F238E27FC236}">
                <a16:creationId xmlns:a16="http://schemas.microsoft.com/office/drawing/2014/main" id="{2B94C79B-DA3C-4744-B310-4D0528CD32D8}"/>
              </a:ext>
            </a:extLst>
          </p:cNvPr>
          <p:cNvSpPr>
            <a:spLocks xmlns:a="http://schemas.openxmlformats.org/drawingml/2006/main" noGrp="1"/>
          </p:cNvSpPr>
          <p:nvPr/>
        </p:nvSpPr>
        <p:spPr>
          <a:xfrm xmlns:a="http://schemas.openxmlformats.org/drawingml/2006/main">
            <a:off x="762000" y="4191000"/>
            <a:ext cx="7334250" cy="666750"/>
          </a:xfrm>
          <a:prstGeom xmlns:a="http://schemas.openxmlformats.org/drawingml/2006/main" prst="roundRect">
            <a:avLst>
              <a:gd name="adj" fmla="val 17143"/>
            </a:avLst>
          </a:prstGeom>
          <a:solidFill xmlns:a="http://schemas.openxmlformats.org/drawingml/2006/main">
            <a:srgbClr val="FFF4D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F1B5CA6-A0B1-4260-8B54-550E83CC0F0C}"/>
              </a:ext>
            </a:extLst>
          </p:cNvPr>
          <p:cNvSpPr>
            <a:spLocks xmlns:a="http://schemas.openxmlformats.org/drawingml/2006/main" noGrp="1"/>
          </p:cNvSpPr>
          <p:nvPr/>
        </p:nvSpPr>
        <p:spPr>
          <a:xfrm xmlns:a="http://schemas.openxmlformats.org/drawingml/2006/main">
            <a:off x="952500" y="43815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1F5C"/>
                </a:solidFill>
              </a:defRPr>
            </a:pPr>
            <a:r>
              <a:rPr sz="900" b="1">
                <a:solidFill>
                  <a:srgbClr val="7A1F5C"/>
                </a:solidFill>
              </a:rPr>
              <a:t>04</a:t>
            </a:r>
          </a:p>
        </p:txBody>
      </p:sp>
      <p:sp>
        <p:nvSpPr>
          <p:cNvPr id="21" name="">
            <a:extLst xmlns:a="http://schemas.openxmlformats.org/drawingml/2006/main">
              <a:ext uri="{FF2B5EF4-FFF2-40B4-BE49-F238E27FC236}">
                <a16:creationId xmlns:a16="http://schemas.microsoft.com/office/drawing/2014/main" id="{1560571F-45C4-418B-93A8-04437D3B8689}"/>
              </a:ext>
            </a:extLst>
          </p:cNvPr>
          <p:cNvSpPr>
            <a:spLocks xmlns:a="http://schemas.openxmlformats.org/drawingml/2006/main" noGrp="1"/>
          </p:cNvSpPr>
          <p:nvPr/>
        </p:nvSpPr>
        <p:spPr>
          <a:xfrm xmlns:a="http://schemas.openxmlformats.org/drawingml/2006/main">
            <a:off x="1409700" y="431482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11C27"/>
                </a:solidFill>
              </a:defRPr>
            </a:pPr>
            <a:r>
              <a:rPr sz="1125" b="1">
                <a:solidFill>
                  <a:srgbClr val="211C27"/>
                </a:solidFill>
              </a:rPr>
              <a:t>UNCERTAINTY SHELL</a:t>
            </a:r>
          </a:p>
        </p:txBody>
      </p:sp>
      <p:sp>
        <p:nvSpPr>
          <p:cNvPr id="22" name="">
            <a:extLst xmlns:a="http://schemas.openxmlformats.org/drawingml/2006/main">
              <a:ext uri="{FF2B5EF4-FFF2-40B4-BE49-F238E27FC236}">
                <a16:creationId xmlns:a16="http://schemas.microsoft.com/office/drawing/2014/main" id="{CDD65774-12C2-4B09-8E0A-D1664943386E}"/>
              </a:ext>
            </a:extLst>
          </p:cNvPr>
          <p:cNvSpPr>
            <a:spLocks xmlns:a="http://schemas.openxmlformats.org/drawingml/2006/main" noGrp="1"/>
          </p:cNvSpPr>
          <p:nvPr/>
        </p:nvSpPr>
        <p:spPr>
          <a:xfrm xmlns:a="http://schemas.openxmlformats.org/drawingml/2006/main">
            <a:off x="1409700" y="45529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625B67"/>
                </a:solidFill>
              </a:defRPr>
            </a:pPr>
            <a:r>
              <a:rPr sz="975" b="0">
                <a:solidFill>
                  <a:srgbClr val="625B67"/>
                </a:solidFill>
              </a:rPr>
              <a:t>Conformal set • OOD • Safe Mode</a:t>
            </a:r>
          </a:p>
        </p:txBody>
      </p:sp>
      <p:sp>
        <p:nvSpPr>
          <p:cNvPr id="23" name="">
            <a:extLst xmlns:a="http://schemas.openxmlformats.org/drawingml/2006/main">
              <a:ext uri="{FF2B5EF4-FFF2-40B4-BE49-F238E27FC236}">
                <a16:creationId xmlns:a16="http://schemas.microsoft.com/office/drawing/2014/main" id="{3DEF4093-7293-4D30-9290-0245B25A41DB}"/>
              </a:ext>
            </a:extLst>
          </p:cNvPr>
          <p:cNvSpPr>
            <a:spLocks xmlns:a="http://schemas.openxmlformats.org/drawingml/2006/main" noGrp="1"/>
          </p:cNvSpPr>
          <p:nvPr/>
        </p:nvSpPr>
        <p:spPr>
          <a:xfrm xmlns:a="http://schemas.openxmlformats.org/drawingml/2006/main">
            <a:off x="762000" y="4972050"/>
            <a:ext cx="7334250" cy="666750"/>
          </a:xfrm>
          <a:prstGeom xmlns:a="http://schemas.openxmlformats.org/drawingml/2006/main" prst="roundRect">
            <a:avLst>
              <a:gd name="adj" fmla="val 17143"/>
            </a:avLst>
          </a:prstGeom>
          <a:solidFill xmlns:a="http://schemas.openxmlformats.org/drawingml/2006/main">
            <a:srgbClr val="F7EEF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42D2937-BAB5-4CD9-9B70-9033A2C3F7D9}"/>
              </a:ext>
            </a:extLst>
          </p:cNvPr>
          <p:cNvSpPr>
            <a:spLocks xmlns:a="http://schemas.openxmlformats.org/drawingml/2006/main" noGrp="1"/>
          </p:cNvSpPr>
          <p:nvPr/>
        </p:nvSpPr>
        <p:spPr>
          <a:xfrm xmlns:a="http://schemas.openxmlformats.org/drawingml/2006/main">
            <a:off x="952500" y="51625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1F5C"/>
                </a:solidFill>
              </a:defRPr>
            </a:pPr>
            <a:r>
              <a:rPr sz="900" b="1">
                <a:solidFill>
                  <a:srgbClr val="7A1F5C"/>
                </a:solidFill>
              </a:rPr>
              <a:t>05</a:t>
            </a:r>
          </a:p>
        </p:txBody>
      </p:sp>
      <p:sp>
        <p:nvSpPr>
          <p:cNvPr id="25" name="">
            <a:extLst xmlns:a="http://schemas.openxmlformats.org/drawingml/2006/main">
              <a:ext uri="{FF2B5EF4-FFF2-40B4-BE49-F238E27FC236}">
                <a16:creationId xmlns:a16="http://schemas.microsoft.com/office/drawing/2014/main" id="{3283921F-7BD6-4DA6-9850-94400800668C}"/>
              </a:ext>
            </a:extLst>
          </p:cNvPr>
          <p:cNvSpPr>
            <a:spLocks xmlns:a="http://schemas.openxmlformats.org/drawingml/2006/main" noGrp="1"/>
          </p:cNvSpPr>
          <p:nvPr/>
        </p:nvSpPr>
        <p:spPr>
          <a:xfrm xmlns:a="http://schemas.openxmlformats.org/drawingml/2006/main">
            <a:off x="1409700" y="50958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11C27"/>
                </a:solidFill>
              </a:defRPr>
            </a:pPr>
            <a:r>
              <a:rPr sz="1125" b="1">
                <a:solidFill>
                  <a:srgbClr val="211C27"/>
                </a:solidFill>
              </a:rPr>
              <a:t>ACTION WINDOW + QUEUE TWIN</a:t>
            </a:r>
          </a:p>
        </p:txBody>
      </p:sp>
      <p:sp>
        <p:nvSpPr>
          <p:cNvPr id="26" name="">
            <a:extLst xmlns:a="http://schemas.openxmlformats.org/drawingml/2006/main">
              <a:ext uri="{FF2B5EF4-FFF2-40B4-BE49-F238E27FC236}">
                <a16:creationId xmlns:a16="http://schemas.microsoft.com/office/drawing/2014/main" id="{5E5CB5F1-FEBF-42D8-9B48-C563A13A59C7}"/>
              </a:ext>
            </a:extLst>
          </p:cNvPr>
          <p:cNvSpPr>
            <a:spLocks xmlns:a="http://schemas.openxmlformats.org/drawingml/2006/main" noGrp="1"/>
          </p:cNvSpPr>
          <p:nvPr/>
        </p:nvSpPr>
        <p:spPr>
          <a:xfrm xmlns:a="http://schemas.openxmlformats.org/drawingml/2006/main">
            <a:off x="1409700" y="53340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625B67"/>
                </a:solidFill>
              </a:defRPr>
            </a:pPr>
            <a:r>
              <a:rPr sz="975" b="0">
                <a:solidFill>
                  <a:srgbClr val="625B67"/>
                </a:solidFill>
              </a:rPr>
              <a:t>Deadline bounded by rules • capacity tested separately</a:t>
            </a:r>
          </a:p>
        </p:txBody>
      </p:sp>
      <p:sp>
        <p:nvSpPr>
          <p:cNvPr id="27" name="">
            <a:extLst xmlns:a="http://schemas.openxmlformats.org/drawingml/2006/main">
              <a:ext uri="{FF2B5EF4-FFF2-40B4-BE49-F238E27FC236}">
                <a16:creationId xmlns:a16="http://schemas.microsoft.com/office/drawing/2014/main" id="{DEE4ABAF-8792-47CF-9229-26EA2C17B588}"/>
              </a:ext>
            </a:extLst>
          </p:cNvPr>
          <p:cNvSpPr>
            <a:spLocks xmlns:a="http://schemas.openxmlformats.org/drawingml/2006/main" noGrp="1"/>
          </p:cNvSpPr>
          <p:nvPr/>
        </p:nvSpPr>
        <p:spPr>
          <a:xfrm xmlns:a="http://schemas.openxmlformats.org/drawingml/2006/main">
            <a:off x="8477250" y="1847850"/>
            <a:ext cx="3028950" cy="3790950"/>
          </a:xfrm>
          <a:prstGeom xmlns:a="http://schemas.openxmlformats.org/drawingml/2006/main" prst="roundRect">
            <a:avLst>
              <a:gd name="adj" fmla="val 5660"/>
            </a:avLst>
          </a:prstGeom>
          <a:solidFill xmlns:a="http://schemas.openxmlformats.org/drawingml/2006/main">
            <a:srgbClr val="52163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A8A16A0-7DD6-4165-A2B9-4078CE7B6BA7}"/>
              </a:ext>
            </a:extLst>
          </p:cNvPr>
          <p:cNvSpPr>
            <a:spLocks xmlns:a="http://schemas.openxmlformats.org/drawingml/2006/main" noGrp="1"/>
          </p:cNvSpPr>
          <p:nvPr/>
        </p:nvSpPr>
        <p:spPr>
          <a:xfrm xmlns:a="http://schemas.openxmlformats.org/drawingml/2006/main">
            <a:off x="8763000" y="21336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2CFE5"/>
                </a:solidFill>
              </a:defRPr>
            </a:pPr>
            <a:r>
              <a:rPr sz="900" b="1">
                <a:solidFill>
                  <a:srgbClr val="F2CFE5"/>
                </a:solidFill>
              </a:rPr>
              <a:t>LOCKED INVARIANTS</a:t>
            </a:r>
          </a:p>
        </p:txBody>
      </p:sp>
      <p:sp>
        <p:nvSpPr>
          <p:cNvPr id="29" name="">
            <a:extLst xmlns:a="http://schemas.openxmlformats.org/drawingml/2006/main">
              <a:ext uri="{FF2B5EF4-FFF2-40B4-BE49-F238E27FC236}">
                <a16:creationId xmlns:a16="http://schemas.microsoft.com/office/drawing/2014/main" id="{22D57185-2440-4E01-BA08-048C65282ADC}"/>
              </a:ext>
            </a:extLst>
          </p:cNvPr>
          <p:cNvSpPr>
            <a:spLocks xmlns:a="http://schemas.openxmlformats.org/drawingml/2006/main" noGrp="1"/>
          </p:cNvSpPr>
          <p:nvPr/>
        </p:nvSpPr>
        <p:spPr>
          <a:xfrm xmlns:a="http://schemas.openxmlformats.org/drawingml/2006/main">
            <a:off x="8763000" y="260985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No autonomous downgrade</a:t>
            </a:r>
          </a:p>
        </p:txBody>
      </p:sp>
      <p:sp>
        <p:nvSpPr>
          <p:cNvPr id="30" name="">
            <a:extLst xmlns:a="http://schemas.openxmlformats.org/drawingml/2006/main">
              <a:ext uri="{FF2B5EF4-FFF2-40B4-BE49-F238E27FC236}">
                <a16:creationId xmlns:a16="http://schemas.microsoft.com/office/drawing/2014/main" id="{55A372C7-6E0C-48FC-9ED5-1DE30D2D0C52}"/>
              </a:ext>
            </a:extLst>
          </p:cNvPr>
          <p:cNvSpPr>
            <a:spLocks xmlns:a="http://schemas.openxmlformats.org/drawingml/2006/main" noGrp="1"/>
          </p:cNvSpPr>
          <p:nvPr/>
        </p:nvSpPr>
        <p:spPr>
          <a:xfrm xmlns:a="http://schemas.openxmlformats.org/drawingml/2006/main">
            <a:off x="8763000" y="3105150"/>
            <a:ext cx="2381250" cy="0"/>
          </a:xfrm>
          <a:prstGeom xmlns:a="http://schemas.openxmlformats.org/drawingml/2006/main" prst="line">
            <a:avLst/>
          </a:prstGeom>
          <a:noFill xmlns:a="http://schemas.openxmlformats.org/drawingml/2006/main"/>
          <a:ln xmlns:a="http://schemas.openxmlformats.org/drawingml/2006/main" w="9525">
            <a:solidFill>
              <a:srgbClr val="8F5677"/>
            </a:solidFill>
            <a:prstDash val="solid"/>
          </a:ln>
        </p:spPr>
      </p:sp>
      <p:sp>
        <p:nvSpPr>
          <p:cNvPr id="31" name="">
            <a:extLst xmlns:a="http://schemas.openxmlformats.org/drawingml/2006/main">
              <a:ext uri="{FF2B5EF4-FFF2-40B4-BE49-F238E27FC236}">
                <a16:creationId xmlns:a16="http://schemas.microsoft.com/office/drawing/2014/main" id="{76C92833-282C-4F98-976C-A2C8DA6A0F42}"/>
              </a:ext>
            </a:extLst>
          </p:cNvPr>
          <p:cNvSpPr>
            <a:spLocks xmlns:a="http://schemas.openxmlformats.org/drawingml/2006/main" noGrp="1"/>
          </p:cNvSpPr>
          <p:nvPr/>
        </p:nvSpPr>
        <p:spPr>
          <a:xfrm xmlns:a="http://schemas.openxmlformats.org/drawingml/2006/main">
            <a:off x="8763000" y="33337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Hard red flags win</a:t>
            </a:r>
          </a:p>
        </p:txBody>
      </p:sp>
      <p:sp>
        <p:nvSpPr>
          <p:cNvPr id="32" name="">
            <a:extLst xmlns:a="http://schemas.openxmlformats.org/drawingml/2006/main">
              <a:ext uri="{FF2B5EF4-FFF2-40B4-BE49-F238E27FC236}">
                <a16:creationId xmlns:a16="http://schemas.microsoft.com/office/drawing/2014/main" id="{7BB5B783-B633-4790-929E-AB557CB08281}"/>
              </a:ext>
            </a:extLst>
          </p:cNvPr>
          <p:cNvSpPr>
            <a:spLocks xmlns:a="http://schemas.openxmlformats.org/drawingml/2006/main" noGrp="1"/>
          </p:cNvSpPr>
          <p:nvPr/>
        </p:nvSpPr>
        <p:spPr>
          <a:xfrm xmlns:a="http://schemas.openxmlformats.org/drawingml/2006/main">
            <a:off x="8763000" y="3829050"/>
            <a:ext cx="2381250" cy="0"/>
          </a:xfrm>
          <a:prstGeom xmlns:a="http://schemas.openxmlformats.org/drawingml/2006/main" prst="line">
            <a:avLst/>
          </a:prstGeom>
          <a:noFill xmlns:a="http://schemas.openxmlformats.org/drawingml/2006/main"/>
          <a:ln xmlns:a="http://schemas.openxmlformats.org/drawingml/2006/main" w="9525">
            <a:solidFill>
              <a:srgbClr val="8F5677"/>
            </a:solidFill>
            <a:prstDash val="solid"/>
          </a:ln>
        </p:spPr>
      </p:sp>
      <p:sp>
        <p:nvSpPr>
          <p:cNvPr id="33" name="">
            <a:extLst xmlns:a="http://schemas.openxmlformats.org/drawingml/2006/main">
              <a:ext uri="{FF2B5EF4-FFF2-40B4-BE49-F238E27FC236}">
                <a16:creationId xmlns:a16="http://schemas.microsoft.com/office/drawing/2014/main" id="{C26ADA69-DE44-4E5F-A2BC-B0502E158C40}"/>
              </a:ext>
            </a:extLst>
          </p:cNvPr>
          <p:cNvSpPr>
            <a:spLocks xmlns:a="http://schemas.openxmlformats.org/drawingml/2006/main" noGrp="1"/>
          </p:cNvSpPr>
          <p:nvPr/>
        </p:nvSpPr>
        <p:spPr>
          <a:xfrm xmlns:a="http://schemas.openxmlformats.org/drawingml/2006/main">
            <a:off x="8763000" y="405765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Uncertainty triggers review</a:t>
            </a:r>
          </a:p>
        </p:txBody>
      </p:sp>
      <p:sp>
        <p:nvSpPr>
          <p:cNvPr id="34" name="">
            <a:extLst xmlns:a="http://schemas.openxmlformats.org/drawingml/2006/main">
              <a:ext uri="{FF2B5EF4-FFF2-40B4-BE49-F238E27FC236}">
                <a16:creationId xmlns:a16="http://schemas.microsoft.com/office/drawing/2014/main" id="{FCC5CDAB-2801-41F7-8039-4E065266C916}"/>
              </a:ext>
            </a:extLst>
          </p:cNvPr>
          <p:cNvSpPr>
            <a:spLocks xmlns:a="http://schemas.openxmlformats.org/drawingml/2006/main" noGrp="1"/>
          </p:cNvSpPr>
          <p:nvPr/>
        </p:nvSpPr>
        <p:spPr>
          <a:xfrm xmlns:a="http://schemas.openxmlformats.org/drawingml/2006/main">
            <a:off x="8763000" y="4686300"/>
            <a:ext cx="2381250" cy="0"/>
          </a:xfrm>
          <a:prstGeom xmlns:a="http://schemas.openxmlformats.org/drawingml/2006/main" prst="line">
            <a:avLst/>
          </a:prstGeom>
          <a:noFill xmlns:a="http://schemas.openxmlformats.org/drawingml/2006/main"/>
          <a:ln xmlns:a="http://schemas.openxmlformats.org/drawingml/2006/main" w="9525">
            <a:solidFill>
              <a:srgbClr val="8F5677"/>
            </a:solidFill>
            <a:prstDash val="solid"/>
          </a:ln>
        </p:spPr>
      </p:sp>
      <p:sp>
        <p:nvSpPr>
          <p:cNvPr id="35" name="">
            <a:extLst xmlns:a="http://schemas.openxmlformats.org/drawingml/2006/main">
              <a:ext uri="{FF2B5EF4-FFF2-40B4-BE49-F238E27FC236}">
                <a16:creationId xmlns:a16="http://schemas.microsoft.com/office/drawing/2014/main" id="{2F874AB2-81AD-43BB-A97C-C53907D264BC}"/>
              </a:ext>
            </a:extLst>
          </p:cNvPr>
          <p:cNvSpPr>
            <a:spLocks xmlns:a="http://schemas.openxmlformats.org/drawingml/2006/main" noGrp="1"/>
          </p:cNvSpPr>
          <p:nvPr/>
        </p:nvSpPr>
        <p:spPr>
          <a:xfrm xmlns:a="http://schemas.openxmlformats.org/drawingml/2006/main">
            <a:off x="8763000" y="4914900"/>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Clinician owns the action</a:t>
            </a:r>
          </a:p>
        </p:txBody>
      </p:sp>
    </p:spTree>
    <p:extLst>
      <p:ext uri="{BB962C8B-B14F-4D97-AF65-F5344CB8AC3E}">
        <p14:creationId xmlns:p14="http://schemas.microsoft.com/office/powerpoint/2010/main" val="17591536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BDEC440-EF1B-4E5D-8A6B-C55A76CF61FB}"/>
              </a:ext>
            </a:extLst>
          </p:cNvPr>
          <p:cNvSpPr>
            <a:spLocks xmlns:a="http://schemas.openxmlformats.org/drawingml/2006/main" noGrp="1"/>
          </p:cNvSpPr>
          <p:nvPr/>
        </p:nvSpPr>
        <p:spPr>
          <a:xfrm xmlns:a="http://schemas.openxmlformats.org/drawingml/2006/main">
            <a:off x="609600" y="3429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A1F5C"/>
                </a:solidFill>
              </a:defRPr>
            </a:pPr>
            <a:r>
              <a:rPr sz="825" b="1">
                <a:solidFill>
                  <a:srgbClr val="7A1F5C"/>
                </a:solidFill>
              </a:rPr>
              <a:t>WHY THIS IS DIFFERENT</a:t>
            </a:r>
          </a:p>
        </p:txBody>
      </p:sp>
      <p:sp>
        <p:nvSpPr>
          <p:cNvPr id="2" name="">
            <a:extLst xmlns:a="http://schemas.openxmlformats.org/drawingml/2006/main">
              <a:ext uri="{FF2B5EF4-FFF2-40B4-BE49-F238E27FC236}">
                <a16:creationId xmlns:a16="http://schemas.microsoft.com/office/drawing/2014/main" id="{570DF221-D2DC-4877-87B0-5D62BC6F6F4D}"/>
              </a:ext>
            </a:extLst>
          </p:cNvPr>
          <p:cNvSpPr>
            <a:spLocks xmlns:a="http://schemas.openxmlformats.org/drawingml/2006/main" noGrp="1"/>
          </p:cNvSpPr>
          <p:nvPr/>
        </p:nvSpPr>
        <p:spPr>
          <a:xfrm xmlns:a="http://schemas.openxmlformats.org/drawingml/2006/main">
            <a:off x="609600" y="62865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211C27"/>
                </a:solidFill>
              </a:defRPr>
            </a:pPr>
            <a:r>
              <a:rPr sz="2550" b="1">
                <a:solidFill>
                  <a:srgbClr val="211C27"/>
                </a:solidFill>
              </a:rPr>
              <a:t>The wow factor is the recomposition—not an ‘AI triage’ claim.</a:t>
            </a:r>
          </a:p>
        </p:txBody>
      </p:sp>
      <p:sp>
        <p:nvSpPr>
          <p:cNvPr id="3" name="">
            <a:extLst xmlns:a="http://schemas.openxmlformats.org/drawingml/2006/main">
              <a:ext uri="{FF2B5EF4-FFF2-40B4-BE49-F238E27FC236}">
                <a16:creationId xmlns:a16="http://schemas.microsoft.com/office/drawing/2014/main" id="{F88A1570-CA24-4F66-819B-4E696919B168}"/>
              </a:ext>
            </a:extLst>
          </p:cNvPr>
          <p:cNvSpPr>
            <a:spLocks xmlns:a="http://schemas.openxmlformats.org/drawingml/2006/main" noGrp="1"/>
          </p:cNvSpPr>
          <p:nvPr/>
        </p:nvSpPr>
        <p:spPr>
          <a:xfrm xmlns:a="http://schemas.openxmlformats.org/drawingml/2006/main">
            <a:off x="609600" y="12192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5B67"/>
                </a:solidFill>
              </a:defRPr>
            </a:pPr>
            <a:r>
              <a:rPr sz="1275" b="0">
                <a:solidFill>
                  <a:srgbClr val="625B67"/>
                </a:solidFill>
              </a:rPr>
              <a:t>Three proven ideas from other domains become one safety-oriented ED waiting-room control loop.</a:t>
            </a:r>
          </a:p>
        </p:txBody>
      </p:sp>
      <p:sp>
        <p:nvSpPr>
          <p:cNvPr id="4" name="">
            <a:extLst xmlns:a="http://schemas.openxmlformats.org/drawingml/2006/main">
              <a:ext uri="{FF2B5EF4-FFF2-40B4-BE49-F238E27FC236}">
                <a16:creationId xmlns:a16="http://schemas.microsoft.com/office/drawing/2014/main" id="{07204722-2C87-48FC-919B-D1F5A2E06010}"/>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5" name="">
            <a:extLst xmlns:a="http://schemas.openxmlformats.org/drawingml/2006/main">
              <a:ext uri="{FF2B5EF4-FFF2-40B4-BE49-F238E27FC236}">
                <a16:creationId xmlns:a16="http://schemas.microsoft.com/office/drawing/2014/main" id="{C2C2EC6C-2A15-444C-9F0B-EB126B585F4D}"/>
              </a:ext>
            </a:extLst>
          </p:cNvPr>
          <p:cNvSpPr>
            <a:spLocks xmlns:a="http://schemas.openxmlformats.org/drawingml/2006/main" noGrp="1"/>
          </p:cNvSpPr>
          <p:nvPr/>
        </p:nvSpPr>
        <p:spPr>
          <a:xfrm xmlns:a="http://schemas.openxmlformats.org/drawingml/2006/main">
            <a:off x="609600" y="6581775"/>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625B67"/>
                </a:solidFill>
              </a:defRPr>
            </a:pPr>
            <a:r>
              <a:rPr sz="675" b="0">
                <a:solidFill>
                  <a:srgbClr val="625B67"/>
                </a:solidFill>
              </a:rPr>
              <a:t>Synthetic decision-support prototype — not validated for clinical use</a:t>
            </a:r>
          </a:p>
        </p:txBody>
      </p:sp>
      <p:sp>
        <p:nvSpPr>
          <p:cNvPr id="6" name="">
            <a:extLst xmlns:a="http://schemas.openxmlformats.org/drawingml/2006/main">
              <a:ext uri="{FF2B5EF4-FFF2-40B4-BE49-F238E27FC236}">
                <a16:creationId xmlns:a16="http://schemas.microsoft.com/office/drawing/2014/main" id="{4B12CD9D-FF44-4A5D-ABBC-AD28D4DAC928}"/>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625B67"/>
                </a:solidFill>
              </a:defRPr>
            </a:pPr>
            <a:r>
              <a:rPr sz="750" b="1">
                <a:solidFill>
                  <a:srgbClr val="625B67"/>
                </a:solidFill>
              </a:rPr>
              <a:t>08</a:t>
            </a:r>
          </a:p>
        </p:txBody>
      </p:sp>
      <p:sp>
        <p:nvSpPr>
          <p:cNvPr id="7" name="">
            <a:extLst xmlns:a="http://schemas.openxmlformats.org/drawingml/2006/main">
              <a:ext uri="{FF2B5EF4-FFF2-40B4-BE49-F238E27FC236}">
                <a16:creationId xmlns:a16="http://schemas.microsoft.com/office/drawing/2014/main" id="{1FBF18CA-D091-469D-8731-B6E52F2EE173}"/>
              </a:ext>
            </a:extLst>
          </p:cNvPr>
          <p:cNvSpPr>
            <a:spLocks xmlns:a="http://schemas.openxmlformats.org/drawingml/2006/main" noGrp="1"/>
          </p:cNvSpPr>
          <p:nvPr/>
        </p:nvSpPr>
        <p:spPr>
          <a:xfrm xmlns:a="http://schemas.openxmlformats.org/drawingml/2006/main">
            <a:off x="685800" y="2095500"/>
            <a:ext cx="3276600" cy="2076450"/>
          </a:xfrm>
          <a:prstGeom xmlns:a="http://schemas.openxmlformats.org/drawingml/2006/main" prst="roundRect">
            <a:avLst>
              <a:gd name="adj" fmla="val 8257"/>
            </a:avLst>
          </a:prstGeom>
          <a:solidFill xmlns:a="http://schemas.openxmlformats.org/drawingml/2006/main">
            <a:srgbClr val="EEF5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1F6C891-2AD7-4764-8AFC-FEFC32E46127}"/>
              </a:ext>
            </a:extLst>
          </p:cNvPr>
          <p:cNvSpPr>
            <a:spLocks xmlns:a="http://schemas.openxmlformats.org/drawingml/2006/main" noGrp="1"/>
          </p:cNvSpPr>
          <p:nvPr/>
        </p:nvSpPr>
        <p:spPr>
          <a:xfrm xmlns:a="http://schemas.openxmlformats.org/drawingml/2006/main">
            <a:off x="914400" y="2324100"/>
            <a:ext cx="281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1F5C"/>
                </a:solidFill>
              </a:defRPr>
            </a:pPr>
            <a:r>
              <a:rPr sz="900" b="1">
                <a:solidFill>
                  <a:srgbClr val="7A1F5C"/>
                </a:solidFill>
              </a:rPr>
              <a:t>PREDICTIVE MAINTENANCE</a:t>
            </a:r>
          </a:p>
        </p:txBody>
      </p:sp>
      <p:sp>
        <p:nvSpPr>
          <p:cNvPr id="9" name="">
            <a:extLst xmlns:a="http://schemas.openxmlformats.org/drawingml/2006/main">
              <a:ext uri="{FF2B5EF4-FFF2-40B4-BE49-F238E27FC236}">
                <a16:creationId xmlns:a16="http://schemas.microsoft.com/office/drawing/2014/main" id="{38BAE106-2344-4878-AF9D-A15CE2E14C2F}"/>
              </a:ext>
            </a:extLst>
          </p:cNvPr>
          <p:cNvSpPr>
            <a:spLocks xmlns:a="http://schemas.openxmlformats.org/drawingml/2006/main" noGrp="1"/>
          </p:cNvSpPr>
          <p:nvPr/>
        </p:nvSpPr>
        <p:spPr>
          <a:xfrm xmlns:a="http://schemas.openxmlformats.org/drawingml/2006/main">
            <a:off x="914400" y="28003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211C27"/>
                </a:solidFill>
              </a:defRPr>
            </a:pPr>
            <a:r>
              <a:rPr sz="1725" b="1">
                <a:solidFill>
                  <a:srgbClr val="211C27"/>
                </a:solidFill>
              </a:rPr>
              <a:t>Remaining useful life</a:t>
            </a:r>
          </a:p>
        </p:txBody>
      </p:sp>
      <p:sp>
        <p:nvSpPr>
          <p:cNvPr id="10" name="">
            <a:extLst xmlns:a="http://schemas.openxmlformats.org/drawingml/2006/main">
              <a:ext uri="{FF2B5EF4-FFF2-40B4-BE49-F238E27FC236}">
                <a16:creationId xmlns:a16="http://schemas.microsoft.com/office/drawing/2014/main" id="{F6C42786-C04E-40DB-A905-886A0E2F821D}"/>
              </a:ext>
            </a:extLst>
          </p:cNvPr>
          <p:cNvSpPr>
            <a:spLocks xmlns:a="http://schemas.openxmlformats.org/drawingml/2006/main" noGrp="1"/>
          </p:cNvSpPr>
          <p:nvPr/>
        </p:nvSpPr>
        <p:spPr>
          <a:xfrm xmlns:a="http://schemas.openxmlformats.org/drawingml/2006/main">
            <a:off x="914400" y="3333750"/>
            <a:ext cx="2819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25B67"/>
                </a:solidFill>
              </a:defRPr>
            </a:pPr>
            <a:r>
              <a:rPr sz="1200" b="0">
                <a:solidFill>
                  <a:srgbClr val="625B67"/>
                </a:solidFill>
              </a:rPr>
              <a:t>How long until intervention is required?</a:t>
            </a:r>
          </a:p>
        </p:txBody>
      </p:sp>
      <p:sp>
        <p:nvSpPr>
          <p:cNvPr id="11" name="">
            <a:extLst xmlns:a="http://schemas.openxmlformats.org/drawingml/2006/main">
              <a:ext uri="{FF2B5EF4-FFF2-40B4-BE49-F238E27FC236}">
                <a16:creationId xmlns:a16="http://schemas.microsoft.com/office/drawing/2014/main" id="{16CC5BB0-A02A-42CC-9CA2-C9FBC24A0979}"/>
              </a:ext>
            </a:extLst>
          </p:cNvPr>
          <p:cNvSpPr>
            <a:spLocks xmlns:a="http://schemas.openxmlformats.org/drawingml/2006/main" noGrp="1"/>
          </p:cNvSpPr>
          <p:nvPr/>
        </p:nvSpPr>
        <p:spPr>
          <a:xfrm xmlns:a="http://schemas.openxmlformats.org/drawingml/2006/main">
            <a:off x="4467225" y="2095500"/>
            <a:ext cx="3276600" cy="2076450"/>
          </a:xfrm>
          <a:prstGeom xmlns:a="http://schemas.openxmlformats.org/drawingml/2006/main" prst="roundRect">
            <a:avLst>
              <a:gd name="adj" fmla="val 8257"/>
            </a:avLst>
          </a:prstGeom>
          <a:solidFill xmlns:a="http://schemas.openxmlformats.org/drawingml/2006/main">
            <a:srgbClr val="F7EEF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6C0BEF2-F899-4415-8548-63342F30BBCB}"/>
              </a:ext>
            </a:extLst>
          </p:cNvPr>
          <p:cNvSpPr>
            <a:spLocks xmlns:a="http://schemas.openxmlformats.org/drawingml/2006/main" noGrp="1"/>
          </p:cNvSpPr>
          <p:nvPr/>
        </p:nvSpPr>
        <p:spPr>
          <a:xfrm xmlns:a="http://schemas.openxmlformats.org/drawingml/2006/main">
            <a:off x="4695825" y="2324100"/>
            <a:ext cx="281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1F5C"/>
                </a:solidFill>
              </a:defRPr>
            </a:pPr>
            <a:r>
              <a:rPr sz="900" b="1">
                <a:solidFill>
                  <a:srgbClr val="7A1F5C"/>
                </a:solidFill>
              </a:rPr>
              <a:t>REAL-TIME SCHEDULING</a:t>
            </a:r>
          </a:p>
        </p:txBody>
      </p:sp>
      <p:sp>
        <p:nvSpPr>
          <p:cNvPr id="13" name="">
            <a:extLst xmlns:a="http://schemas.openxmlformats.org/drawingml/2006/main">
              <a:ext uri="{FF2B5EF4-FFF2-40B4-BE49-F238E27FC236}">
                <a16:creationId xmlns:a16="http://schemas.microsoft.com/office/drawing/2014/main" id="{9C3EBB7D-D979-4328-B4D7-114ED6D8DE71}"/>
              </a:ext>
            </a:extLst>
          </p:cNvPr>
          <p:cNvSpPr>
            <a:spLocks xmlns:a="http://schemas.openxmlformats.org/drawingml/2006/main" noGrp="1"/>
          </p:cNvSpPr>
          <p:nvPr/>
        </p:nvSpPr>
        <p:spPr>
          <a:xfrm xmlns:a="http://schemas.openxmlformats.org/drawingml/2006/main">
            <a:off x="4695825" y="28003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211C27"/>
                </a:solidFill>
              </a:defRPr>
            </a:pPr>
            <a:r>
              <a:rPr sz="1725" b="1">
                <a:solidFill>
                  <a:srgbClr val="211C27"/>
                </a:solidFill>
              </a:rPr>
              <a:t>Deadline + laxity</a:t>
            </a:r>
          </a:p>
        </p:txBody>
      </p:sp>
      <p:sp>
        <p:nvSpPr>
          <p:cNvPr id="14" name="">
            <a:extLst xmlns:a="http://schemas.openxmlformats.org/drawingml/2006/main">
              <a:ext uri="{FF2B5EF4-FFF2-40B4-BE49-F238E27FC236}">
                <a16:creationId xmlns:a16="http://schemas.microsoft.com/office/drawing/2014/main" id="{BBF2FDC7-A6ED-4E5A-8718-13E50B38677C}"/>
              </a:ext>
            </a:extLst>
          </p:cNvPr>
          <p:cNvSpPr>
            <a:spLocks xmlns:a="http://schemas.openxmlformats.org/drawingml/2006/main" noGrp="1"/>
          </p:cNvSpPr>
          <p:nvPr/>
        </p:nvSpPr>
        <p:spPr>
          <a:xfrm xmlns:a="http://schemas.openxmlformats.org/drawingml/2006/main">
            <a:off x="4695825" y="3333750"/>
            <a:ext cx="2819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25B67"/>
                </a:solidFill>
              </a:defRPr>
            </a:pPr>
            <a:r>
              <a:rPr sz="1200" b="0">
                <a:solidFill>
                  <a:srgbClr val="625B67"/>
                </a:solidFill>
              </a:rPr>
              <a:t>Can the current system meet the deadline?</a:t>
            </a:r>
          </a:p>
        </p:txBody>
      </p:sp>
      <p:sp>
        <p:nvSpPr>
          <p:cNvPr id="15" name="">
            <a:extLst xmlns:a="http://schemas.openxmlformats.org/drawingml/2006/main">
              <a:ext uri="{FF2B5EF4-FFF2-40B4-BE49-F238E27FC236}">
                <a16:creationId xmlns:a16="http://schemas.microsoft.com/office/drawing/2014/main" id="{632FA994-5BCB-4BBD-ADBA-1945CDAAD05E}"/>
              </a:ext>
            </a:extLst>
          </p:cNvPr>
          <p:cNvSpPr>
            <a:spLocks xmlns:a="http://schemas.openxmlformats.org/drawingml/2006/main" noGrp="1"/>
          </p:cNvSpPr>
          <p:nvPr/>
        </p:nvSpPr>
        <p:spPr>
          <a:xfrm xmlns:a="http://schemas.openxmlformats.org/drawingml/2006/main">
            <a:off x="8248650" y="2095500"/>
            <a:ext cx="3276600" cy="2076450"/>
          </a:xfrm>
          <a:prstGeom xmlns:a="http://schemas.openxmlformats.org/drawingml/2006/main" prst="roundRect">
            <a:avLst>
              <a:gd name="adj" fmla="val 8257"/>
            </a:avLst>
          </a:prstGeom>
          <a:solidFill xmlns:a="http://schemas.openxmlformats.org/drawingml/2006/main">
            <a:srgbClr val="FFF4D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A5456E1-C17A-471D-ACBD-ADCDADE73376}"/>
              </a:ext>
            </a:extLst>
          </p:cNvPr>
          <p:cNvSpPr>
            <a:spLocks xmlns:a="http://schemas.openxmlformats.org/drawingml/2006/main" noGrp="1"/>
          </p:cNvSpPr>
          <p:nvPr/>
        </p:nvSpPr>
        <p:spPr>
          <a:xfrm xmlns:a="http://schemas.openxmlformats.org/drawingml/2006/main">
            <a:off x="8477250" y="2324100"/>
            <a:ext cx="281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1F5C"/>
                </a:solidFill>
              </a:defRPr>
            </a:pPr>
            <a:r>
              <a:rPr sz="900" b="1">
                <a:solidFill>
                  <a:srgbClr val="7A1F5C"/>
                </a:solidFill>
              </a:rPr>
              <a:t>ACTIVE ACQUISITION</a:t>
            </a:r>
          </a:p>
        </p:txBody>
      </p:sp>
      <p:sp>
        <p:nvSpPr>
          <p:cNvPr id="17" name="">
            <a:extLst xmlns:a="http://schemas.openxmlformats.org/drawingml/2006/main">
              <a:ext uri="{FF2B5EF4-FFF2-40B4-BE49-F238E27FC236}">
                <a16:creationId xmlns:a16="http://schemas.microsoft.com/office/drawing/2014/main" id="{8495D523-4B82-4291-93E7-E80BF87FD9C2}"/>
              </a:ext>
            </a:extLst>
          </p:cNvPr>
          <p:cNvSpPr>
            <a:spLocks xmlns:a="http://schemas.openxmlformats.org/drawingml/2006/main" noGrp="1"/>
          </p:cNvSpPr>
          <p:nvPr/>
        </p:nvSpPr>
        <p:spPr>
          <a:xfrm xmlns:a="http://schemas.openxmlformats.org/drawingml/2006/main">
            <a:off x="8477250" y="2800350"/>
            <a:ext cx="281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211C27"/>
                </a:solidFill>
              </a:defRPr>
            </a:pPr>
            <a:r>
              <a:rPr sz="1725" b="1">
                <a:solidFill>
                  <a:srgbClr val="211C27"/>
                </a:solidFill>
              </a:rPr>
              <a:t>Value of information</a:t>
            </a:r>
          </a:p>
        </p:txBody>
      </p:sp>
      <p:sp>
        <p:nvSpPr>
          <p:cNvPr id="18" name="">
            <a:extLst xmlns:a="http://schemas.openxmlformats.org/drawingml/2006/main">
              <a:ext uri="{FF2B5EF4-FFF2-40B4-BE49-F238E27FC236}">
                <a16:creationId xmlns:a16="http://schemas.microsoft.com/office/drawing/2014/main" id="{26F09234-EE73-4F12-861A-E31C57414D60}"/>
              </a:ext>
            </a:extLst>
          </p:cNvPr>
          <p:cNvSpPr>
            <a:spLocks xmlns:a="http://schemas.openxmlformats.org/drawingml/2006/main" noGrp="1"/>
          </p:cNvSpPr>
          <p:nvPr/>
        </p:nvSpPr>
        <p:spPr>
          <a:xfrm xmlns:a="http://schemas.openxmlformats.org/drawingml/2006/main">
            <a:off x="8477250" y="3333750"/>
            <a:ext cx="2819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25B67"/>
                </a:solidFill>
              </a:defRPr>
            </a:pPr>
            <a:r>
              <a:rPr sz="1200" b="0">
                <a:solidFill>
                  <a:srgbClr val="625B67"/>
                </a:solidFill>
              </a:rPr>
              <a:t>What should we measure first?</a:t>
            </a:r>
          </a:p>
        </p:txBody>
      </p:sp>
      <p:sp>
        <p:nvSpPr>
          <p:cNvPr id="19" name="">
            <a:extLst xmlns:a="http://schemas.openxmlformats.org/drawingml/2006/main">
              <a:ext uri="{FF2B5EF4-FFF2-40B4-BE49-F238E27FC236}">
                <a16:creationId xmlns:a16="http://schemas.microsoft.com/office/drawing/2014/main" id="{4DB5A972-AFC6-48A0-970E-5C38608C4B40}"/>
              </a:ext>
            </a:extLst>
          </p:cNvPr>
          <p:cNvSpPr>
            <a:spLocks xmlns:a="http://schemas.openxmlformats.org/drawingml/2006/main" noGrp="1"/>
          </p:cNvSpPr>
          <p:nvPr/>
        </p:nvSpPr>
        <p:spPr>
          <a:xfrm xmlns:a="http://schemas.openxmlformats.org/drawingml/2006/main">
            <a:off x="5743575" y="4248150"/>
            <a:ext cx="704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7A1F5C"/>
                </a:solidFill>
              </a:defRPr>
            </a:pPr>
            <a:r>
              <a:rPr sz="2250" b="1">
                <a:solidFill>
                  <a:srgbClr val="7A1F5C"/>
                </a:solidFill>
              </a:rPr>
              <a:t>↓</a:t>
            </a:r>
          </a:p>
        </p:txBody>
      </p:sp>
      <p:sp>
        <p:nvSpPr>
          <p:cNvPr id="20" name="">
            <a:extLst xmlns:a="http://schemas.openxmlformats.org/drawingml/2006/main">
              <a:ext uri="{FF2B5EF4-FFF2-40B4-BE49-F238E27FC236}">
                <a16:creationId xmlns:a16="http://schemas.microsoft.com/office/drawing/2014/main" id="{39F743A3-D49F-4219-B549-57C87DF616E7}"/>
              </a:ext>
            </a:extLst>
          </p:cNvPr>
          <p:cNvSpPr>
            <a:spLocks xmlns:a="http://schemas.openxmlformats.org/drawingml/2006/main" noGrp="1"/>
          </p:cNvSpPr>
          <p:nvPr/>
        </p:nvSpPr>
        <p:spPr>
          <a:xfrm xmlns:a="http://schemas.openxmlformats.org/drawingml/2006/main">
            <a:off x="2000250" y="4762500"/>
            <a:ext cx="8191500" cy="895350"/>
          </a:xfrm>
          <a:prstGeom xmlns:a="http://schemas.openxmlformats.org/drawingml/2006/main" prst="roundRect">
            <a:avLst>
              <a:gd name="adj" fmla="val 19149"/>
            </a:avLst>
          </a:prstGeom>
          <a:solidFill xmlns:a="http://schemas.openxmlformats.org/drawingml/2006/main">
            <a:srgbClr val="52163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B86FC48-743A-45C3-BBBD-380AF475858D}"/>
              </a:ext>
            </a:extLst>
          </p:cNvPr>
          <p:cNvSpPr>
            <a:spLocks xmlns:a="http://schemas.openxmlformats.org/drawingml/2006/main" noGrp="1"/>
          </p:cNvSpPr>
          <p:nvPr/>
        </p:nvSpPr>
        <p:spPr>
          <a:xfrm xmlns:a="http://schemas.openxmlformats.org/drawingml/2006/main">
            <a:off x="2343150" y="4981575"/>
            <a:ext cx="1676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F2CFE5"/>
                </a:solidFill>
              </a:defRPr>
            </a:pPr>
            <a:r>
              <a:rPr sz="1050" b="1">
                <a:solidFill>
                  <a:srgbClr val="F2CFE5"/>
                </a:solidFill>
              </a:rPr>
              <a:t>TRIAGELOOP</a:t>
            </a:r>
          </a:p>
        </p:txBody>
      </p:sp>
      <p:sp>
        <p:nvSpPr>
          <p:cNvPr id="22" name="">
            <a:extLst xmlns:a="http://schemas.openxmlformats.org/drawingml/2006/main">
              <a:ext uri="{FF2B5EF4-FFF2-40B4-BE49-F238E27FC236}">
                <a16:creationId xmlns:a16="http://schemas.microsoft.com/office/drawing/2014/main" id="{31A3FA1C-765F-4EE0-8B6C-5E5D37B1F764}"/>
              </a:ext>
            </a:extLst>
          </p:cNvPr>
          <p:cNvSpPr>
            <a:spLocks xmlns:a="http://schemas.openxmlformats.org/drawingml/2006/main" noGrp="1"/>
          </p:cNvSpPr>
          <p:nvPr/>
        </p:nvSpPr>
        <p:spPr>
          <a:xfrm xmlns:a="http://schemas.openxmlformats.org/drawingml/2006/main">
            <a:off x="4000500" y="4943475"/>
            <a:ext cx="581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FFFFFF"/>
                </a:solidFill>
              </a:defRPr>
            </a:pPr>
            <a:r>
              <a:rPr sz="1875" b="1">
                <a:solidFill>
                  <a:srgbClr val="FFFFFF"/>
                </a:solidFill>
              </a:rPr>
              <a:t>Action Window  →  Clinical Slack  →  clinician action</a:t>
            </a:r>
          </a:p>
        </p:txBody>
      </p:sp>
      <p:sp>
        <p:nvSpPr>
          <p:cNvPr id="23" name="">
            <a:extLst xmlns:a="http://schemas.openxmlformats.org/drawingml/2006/main">
              <a:ext uri="{FF2B5EF4-FFF2-40B4-BE49-F238E27FC236}">
                <a16:creationId xmlns:a16="http://schemas.microsoft.com/office/drawing/2014/main" id="{F6A1AB02-3D4E-4FCB-AC78-CF074BAF75BD}"/>
              </a:ext>
            </a:extLst>
          </p:cNvPr>
          <p:cNvSpPr>
            <a:spLocks xmlns:a="http://schemas.openxmlformats.org/drawingml/2006/main" noGrp="1"/>
          </p:cNvSpPr>
          <p:nvPr/>
        </p:nvSpPr>
        <p:spPr>
          <a:xfrm xmlns:a="http://schemas.openxmlformats.org/drawingml/2006/main">
            <a:off x="4000500" y="5314950"/>
            <a:ext cx="581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EADCE6"/>
                </a:solidFill>
              </a:defRPr>
            </a:pPr>
            <a:r>
              <a:rPr sz="975" b="0">
                <a:solidFill>
                  <a:srgbClr val="EADCE6"/>
                </a:solidFill>
              </a:rPr>
              <a:t>Bounded by rules, Safe Mode and no autonomous downgrade</a:t>
            </a:r>
          </a:p>
        </p:txBody>
      </p:sp>
    </p:spTree>
    <p:extLst>
      <p:ext uri="{BB962C8B-B14F-4D97-AF65-F5344CB8AC3E}">
        <p14:creationId xmlns:p14="http://schemas.microsoft.com/office/powerpoint/2010/main" val="18684865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BD7581BB-3165-412C-B480-ED8F0549E715}"/>
              </a:ext>
            </a:extLst>
          </p:cNvPr>
          <p:cNvSpPr>
            <a:spLocks xmlns:a="http://schemas.openxmlformats.org/drawingml/2006/main" noGrp="1"/>
          </p:cNvSpPr>
          <p:nvPr/>
        </p:nvSpPr>
        <p:spPr>
          <a:xfrm xmlns:a="http://schemas.openxmlformats.org/drawingml/2006/main">
            <a:off x="609600" y="3429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A1F5C"/>
                </a:solidFill>
              </a:defRPr>
            </a:pPr>
            <a:r>
              <a:rPr sz="825" b="1">
                <a:solidFill>
                  <a:srgbClr val="7A1F5C"/>
                </a:solidFill>
              </a:rPr>
              <a:t>VERIFIED SYNTHETIC EVIDENCE</a:t>
            </a:r>
          </a:p>
        </p:txBody>
      </p:sp>
      <p:sp>
        <p:nvSpPr>
          <p:cNvPr id="2" name="">
            <a:extLst xmlns:a="http://schemas.openxmlformats.org/drawingml/2006/main">
              <a:ext uri="{FF2B5EF4-FFF2-40B4-BE49-F238E27FC236}">
                <a16:creationId xmlns:a16="http://schemas.microsoft.com/office/drawing/2014/main" id="{6330F5E7-2610-4FE2-BEF0-C03197CED43B}"/>
              </a:ext>
            </a:extLst>
          </p:cNvPr>
          <p:cNvSpPr>
            <a:spLocks xmlns:a="http://schemas.openxmlformats.org/drawingml/2006/main" noGrp="1"/>
          </p:cNvSpPr>
          <p:nvPr/>
        </p:nvSpPr>
        <p:spPr>
          <a:xfrm xmlns:a="http://schemas.openxmlformats.org/drawingml/2006/main">
            <a:off x="609600" y="62865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211C27"/>
                </a:solidFill>
              </a:defRPr>
            </a:pPr>
            <a:r>
              <a:rPr sz="2550" b="1">
                <a:solidFill>
                  <a:srgbClr val="211C27"/>
                </a:solidFill>
              </a:rPr>
              <a:t>20.5% fewer Action Window misses under 3× surge.</a:t>
            </a:r>
          </a:p>
        </p:txBody>
      </p:sp>
      <p:sp>
        <p:nvSpPr>
          <p:cNvPr id="3" name="">
            <a:extLst xmlns:a="http://schemas.openxmlformats.org/drawingml/2006/main">
              <a:ext uri="{FF2B5EF4-FFF2-40B4-BE49-F238E27FC236}">
                <a16:creationId xmlns:a16="http://schemas.microsoft.com/office/drawing/2014/main" id="{AB517BE3-F586-4993-A5DF-4DA0CB12880F}"/>
              </a:ext>
            </a:extLst>
          </p:cNvPr>
          <p:cNvSpPr>
            <a:spLocks xmlns:a="http://schemas.openxmlformats.org/drawingml/2006/main" noGrp="1"/>
          </p:cNvSpPr>
          <p:nvPr/>
        </p:nvSpPr>
        <p:spPr>
          <a:xfrm xmlns:a="http://schemas.openxmlformats.org/drawingml/2006/main">
            <a:off x="609600" y="12192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5B67"/>
                </a:solidFill>
              </a:defRPr>
            </a:pPr>
            <a:r>
              <a:rPr sz="1275" b="0">
                <a:solidFill>
                  <a:srgbClr val="625B67"/>
                </a:solidFill>
              </a:rPr>
              <a:t>The lead claim uses a stronger comparator: fixed 15-minute periodic re-triage, not a static arrival score.</a:t>
            </a:r>
          </a:p>
        </p:txBody>
      </p:sp>
      <p:sp>
        <p:nvSpPr>
          <p:cNvPr id="4" name="">
            <a:extLst xmlns:a="http://schemas.openxmlformats.org/drawingml/2006/main">
              <a:ext uri="{FF2B5EF4-FFF2-40B4-BE49-F238E27FC236}">
                <a16:creationId xmlns:a16="http://schemas.microsoft.com/office/drawing/2014/main" id="{C7EDF558-9156-49A1-BD80-08F822D31132}"/>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5" name="">
            <a:extLst xmlns:a="http://schemas.openxmlformats.org/drawingml/2006/main">
              <a:ext uri="{FF2B5EF4-FFF2-40B4-BE49-F238E27FC236}">
                <a16:creationId xmlns:a16="http://schemas.microsoft.com/office/drawing/2014/main" id="{89E2A703-5518-40A9-B953-E3A5F3D72295}"/>
              </a:ext>
            </a:extLst>
          </p:cNvPr>
          <p:cNvSpPr>
            <a:spLocks xmlns:a="http://schemas.openxmlformats.org/drawingml/2006/main" noGrp="1"/>
          </p:cNvSpPr>
          <p:nvPr/>
        </p:nvSpPr>
        <p:spPr>
          <a:xfrm xmlns:a="http://schemas.openxmlformats.org/drawingml/2006/main">
            <a:off x="609600" y="6581775"/>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625B67"/>
                </a:solidFill>
              </a:defRPr>
            </a:pPr>
            <a:r>
              <a:rPr sz="675" b="0">
                <a:solidFill>
                  <a:srgbClr val="625B67"/>
                </a:solidFill>
              </a:rPr>
              <a:t>Synthetic decision-support prototype — not validated for clinical use</a:t>
            </a:r>
          </a:p>
        </p:txBody>
      </p:sp>
      <p:sp>
        <p:nvSpPr>
          <p:cNvPr id="6" name="">
            <a:extLst xmlns:a="http://schemas.openxmlformats.org/drawingml/2006/main">
              <a:ext uri="{FF2B5EF4-FFF2-40B4-BE49-F238E27FC236}">
                <a16:creationId xmlns:a16="http://schemas.microsoft.com/office/drawing/2014/main" id="{63AD0FF5-DCFB-411A-87B8-8FE174C0AE27}"/>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625B67"/>
                </a:solidFill>
              </a:defRPr>
            </a:pPr>
            <a:r>
              <a:rPr sz="750" b="1">
                <a:solidFill>
                  <a:srgbClr val="625B67"/>
                </a:solidFill>
              </a:rPr>
              <a:t>09</a:t>
            </a:r>
          </a:p>
        </p:txBody>
      </p:sp>
      <p:sp>
        <p:nvSpPr>
          <p:cNvPr id="7" name="">
            <a:extLst xmlns:a="http://schemas.openxmlformats.org/drawingml/2006/main">
              <a:ext uri="{FF2B5EF4-FFF2-40B4-BE49-F238E27FC236}">
                <a16:creationId xmlns:a16="http://schemas.microsoft.com/office/drawing/2014/main" id="{2F735D66-F2E2-489A-B526-2ED7F9C0A0AB}"/>
              </a:ext>
            </a:extLst>
          </p:cNvPr>
          <p:cNvSpPr>
            <a:spLocks xmlns:a="http://schemas.openxmlformats.org/drawingml/2006/main" noGrp="1"/>
          </p:cNvSpPr>
          <p:nvPr/>
        </p:nvSpPr>
        <p:spPr>
          <a:xfrm xmlns:a="http://schemas.openxmlformats.org/drawingml/2006/main">
            <a:off x="685800" y="1981200"/>
            <a:ext cx="2381250" cy="1104900"/>
          </a:xfrm>
          <a:prstGeom xmlns:a="http://schemas.openxmlformats.org/drawingml/2006/main" prst="roundRect">
            <a:avLst>
              <a:gd name="adj" fmla="val 15517"/>
            </a:avLst>
          </a:prstGeom>
          <a:solidFill xmlns:a="http://schemas.openxmlformats.org/drawingml/2006/main">
            <a:srgbClr val="F7EE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1E6347B-9D83-4EBF-86A8-2EC1B733C53D}"/>
              </a:ext>
            </a:extLst>
          </p:cNvPr>
          <p:cNvSpPr>
            <a:spLocks xmlns:a="http://schemas.openxmlformats.org/drawingml/2006/main" noGrp="1"/>
          </p:cNvSpPr>
          <p:nvPr/>
        </p:nvSpPr>
        <p:spPr>
          <a:xfrm xmlns:a="http://schemas.openxmlformats.org/drawingml/2006/main">
            <a:off x="876300" y="2124075"/>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7A1F5C"/>
                </a:solidFill>
              </a:defRPr>
            </a:pPr>
            <a:r>
              <a:rPr sz="2400" b="1">
                <a:solidFill>
                  <a:srgbClr val="7A1F5C"/>
                </a:solidFill>
              </a:rPr>
              <a:t>1,200</a:t>
            </a:r>
          </a:p>
        </p:txBody>
      </p:sp>
      <p:sp>
        <p:nvSpPr>
          <p:cNvPr id="9" name="">
            <a:extLst xmlns:a="http://schemas.openxmlformats.org/drawingml/2006/main">
              <a:ext uri="{FF2B5EF4-FFF2-40B4-BE49-F238E27FC236}">
                <a16:creationId xmlns:a16="http://schemas.microsoft.com/office/drawing/2014/main" id="{B04847F5-BE69-43D3-8F3F-D3505E3ADF7A}"/>
              </a:ext>
            </a:extLst>
          </p:cNvPr>
          <p:cNvSpPr>
            <a:spLocks xmlns:a="http://schemas.openxmlformats.org/drawingml/2006/main" noGrp="1"/>
          </p:cNvSpPr>
          <p:nvPr/>
        </p:nvSpPr>
        <p:spPr>
          <a:xfrm xmlns:a="http://schemas.openxmlformats.org/drawingml/2006/main">
            <a:off x="876300" y="26289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211C27"/>
                </a:solidFill>
              </a:defRPr>
            </a:pPr>
            <a:r>
              <a:rPr sz="975" b="0">
                <a:solidFill>
                  <a:srgbClr val="211C27"/>
                </a:solidFill>
              </a:rPr>
              <a:t>paired verification shifts</a:t>
            </a:r>
          </a:p>
        </p:txBody>
      </p:sp>
      <p:sp>
        <p:nvSpPr>
          <p:cNvPr id="10" name="">
            <a:extLst xmlns:a="http://schemas.openxmlformats.org/drawingml/2006/main">
              <a:ext uri="{FF2B5EF4-FFF2-40B4-BE49-F238E27FC236}">
                <a16:creationId xmlns:a16="http://schemas.microsoft.com/office/drawing/2014/main" id="{E1BC125E-33E9-4CF6-96EE-4722C21030F1}"/>
              </a:ext>
            </a:extLst>
          </p:cNvPr>
          <p:cNvSpPr>
            <a:spLocks xmlns:a="http://schemas.openxmlformats.org/drawingml/2006/main" noGrp="1"/>
          </p:cNvSpPr>
          <p:nvPr/>
        </p:nvSpPr>
        <p:spPr>
          <a:xfrm xmlns:a="http://schemas.openxmlformats.org/drawingml/2006/main">
            <a:off x="3238500" y="1981200"/>
            <a:ext cx="2000250" cy="1104900"/>
          </a:xfrm>
          <a:prstGeom xmlns:a="http://schemas.openxmlformats.org/drawingml/2006/main" prst="roundRect">
            <a:avLst>
              <a:gd name="adj" fmla="val 15517"/>
            </a:avLst>
          </a:prstGeom>
          <a:solidFill xmlns:a="http://schemas.openxmlformats.org/drawingml/2006/main">
            <a:srgbClr val="EEF5F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B2E8346-307E-4F54-8570-E57AC5937D43}"/>
              </a:ext>
            </a:extLst>
          </p:cNvPr>
          <p:cNvSpPr>
            <a:spLocks xmlns:a="http://schemas.openxmlformats.org/drawingml/2006/main" noGrp="1"/>
          </p:cNvSpPr>
          <p:nvPr/>
        </p:nvSpPr>
        <p:spPr>
          <a:xfrm xmlns:a="http://schemas.openxmlformats.org/drawingml/2006/main">
            <a:off x="3429000" y="2124075"/>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3267A8"/>
                </a:solidFill>
              </a:defRPr>
            </a:pPr>
            <a:r>
              <a:rPr sz="2400" b="1">
                <a:solidFill>
                  <a:srgbClr val="3267A8"/>
                </a:solidFill>
              </a:rPr>
              <a:t>73</a:t>
            </a:r>
          </a:p>
        </p:txBody>
      </p:sp>
      <p:sp>
        <p:nvSpPr>
          <p:cNvPr id="12" name="">
            <a:extLst xmlns:a="http://schemas.openxmlformats.org/drawingml/2006/main">
              <a:ext uri="{FF2B5EF4-FFF2-40B4-BE49-F238E27FC236}">
                <a16:creationId xmlns:a16="http://schemas.microsoft.com/office/drawing/2014/main" id="{6A844136-8B88-4830-81BA-6015B17187BC}"/>
              </a:ext>
            </a:extLst>
          </p:cNvPr>
          <p:cNvSpPr>
            <a:spLocks xmlns:a="http://schemas.openxmlformats.org/drawingml/2006/main" noGrp="1"/>
          </p:cNvSpPr>
          <p:nvPr/>
        </p:nvSpPr>
        <p:spPr>
          <a:xfrm xmlns:a="http://schemas.openxmlformats.org/drawingml/2006/main">
            <a:off x="3429000" y="26289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211C27"/>
                </a:solidFill>
              </a:defRPr>
            </a:pPr>
            <a:r>
              <a:rPr sz="975" b="0">
                <a:solidFill>
                  <a:srgbClr val="211C27"/>
                </a:solidFill>
              </a:rPr>
              <a:t>automated tests</a:t>
            </a:r>
          </a:p>
        </p:txBody>
      </p:sp>
      <p:sp>
        <p:nvSpPr>
          <p:cNvPr id="13" name="">
            <a:extLst xmlns:a="http://schemas.openxmlformats.org/drawingml/2006/main">
              <a:ext uri="{FF2B5EF4-FFF2-40B4-BE49-F238E27FC236}">
                <a16:creationId xmlns:a16="http://schemas.microsoft.com/office/drawing/2014/main" id="{DE1549AC-9706-455D-B146-224D32572C0C}"/>
              </a:ext>
            </a:extLst>
          </p:cNvPr>
          <p:cNvSpPr>
            <a:spLocks xmlns:a="http://schemas.openxmlformats.org/drawingml/2006/main" noGrp="1"/>
          </p:cNvSpPr>
          <p:nvPr/>
        </p:nvSpPr>
        <p:spPr>
          <a:xfrm xmlns:a="http://schemas.openxmlformats.org/drawingml/2006/main">
            <a:off x="5410200" y="1981200"/>
            <a:ext cx="2381250" cy="1104900"/>
          </a:xfrm>
          <a:prstGeom xmlns:a="http://schemas.openxmlformats.org/drawingml/2006/main" prst="roundRect">
            <a:avLst>
              <a:gd name="adj" fmla="val 15517"/>
            </a:avLst>
          </a:prstGeom>
          <a:solidFill xmlns:a="http://schemas.openxmlformats.org/drawingml/2006/main">
            <a:srgbClr val="EAF7F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2B4690B-34AF-4DB1-9951-F8E91906AF9D}"/>
              </a:ext>
            </a:extLst>
          </p:cNvPr>
          <p:cNvSpPr>
            <a:spLocks xmlns:a="http://schemas.openxmlformats.org/drawingml/2006/main" noGrp="1"/>
          </p:cNvSpPr>
          <p:nvPr/>
        </p:nvSpPr>
        <p:spPr>
          <a:xfrm xmlns:a="http://schemas.openxmlformats.org/drawingml/2006/main">
            <a:off x="5600700" y="2124075"/>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197A55"/>
                </a:solidFill>
              </a:defRPr>
            </a:pPr>
            <a:r>
              <a:rPr sz="2400" b="1">
                <a:solidFill>
                  <a:srgbClr val="197A55"/>
                </a:solidFill>
              </a:rPr>
              <a:t>3 sites</a:t>
            </a:r>
          </a:p>
        </p:txBody>
      </p:sp>
      <p:sp>
        <p:nvSpPr>
          <p:cNvPr id="15" name="">
            <a:extLst xmlns:a="http://schemas.openxmlformats.org/drawingml/2006/main">
              <a:ext uri="{FF2B5EF4-FFF2-40B4-BE49-F238E27FC236}">
                <a16:creationId xmlns:a16="http://schemas.microsoft.com/office/drawing/2014/main" id="{6C228818-3777-49D7-8D25-EE699EFD2819}"/>
              </a:ext>
            </a:extLst>
          </p:cNvPr>
          <p:cNvSpPr>
            <a:spLocks xmlns:a="http://schemas.openxmlformats.org/drawingml/2006/main" noGrp="1"/>
          </p:cNvSpPr>
          <p:nvPr/>
        </p:nvSpPr>
        <p:spPr>
          <a:xfrm xmlns:a="http://schemas.openxmlformats.org/drawingml/2006/main">
            <a:off x="5600700" y="26289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211C27"/>
                </a:solidFill>
              </a:defRPr>
            </a:pPr>
            <a:r>
              <a:rPr sz="975" b="0">
                <a:solidFill>
                  <a:srgbClr val="211C27"/>
                </a:solidFill>
              </a:rPr>
              <a:t>100 / 300 / 550 visits per day</a:t>
            </a:r>
          </a:p>
        </p:txBody>
      </p:sp>
      <p:sp>
        <p:nvSpPr>
          <p:cNvPr id="16" name="">
            <a:extLst xmlns:a="http://schemas.openxmlformats.org/drawingml/2006/main">
              <a:ext uri="{FF2B5EF4-FFF2-40B4-BE49-F238E27FC236}">
                <a16:creationId xmlns:a16="http://schemas.microsoft.com/office/drawing/2014/main" id="{36612346-A0E6-4201-AB0C-D59BC8225C97}"/>
              </a:ext>
            </a:extLst>
          </p:cNvPr>
          <p:cNvSpPr>
            <a:spLocks xmlns:a="http://schemas.openxmlformats.org/drawingml/2006/main" noGrp="1"/>
          </p:cNvSpPr>
          <p:nvPr/>
        </p:nvSpPr>
        <p:spPr>
          <a:xfrm xmlns:a="http://schemas.openxmlformats.org/drawingml/2006/main">
            <a:off x="7962900" y="1981200"/>
            <a:ext cx="3543300" cy="1104900"/>
          </a:xfrm>
          <a:prstGeom xmlns:a="http://schemas.openxmlformats.org/drawingml/2006/main" prst="roundRect">
            <a:avLst>
              <a:gd name="adj" fmla="val 15517"/>
            </a:avLst>
          </a:prstGeom>
          <a:solidFill xmlns:a="http://schemas.openxmlformats.org/drawingml/2006/main">
            <a:srgbClr val="F6F3F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1BD355D-E845-4B31-AAEE-2D0CA0F29771}"/>
              </a:ext>
            </a:extLst>
          </p:cNvPr>
          <p:cNvSpPr>
            <a:spLocks xmlns:a="http://schemas.openxmlformats.org/drawingml/2006/main" noGrp="1"/>
          </p:cNvSpPr>
          <p:nvPr/>
        </p:nvSpPr>
        <p:spPr>
          <a:xfrm xmlns:a="http://schemas.openxmlformats.org/drawingml/2006/main">
            <a:off x="8153400" y="2124075"/>
            <a:ext cx="3162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7A1F5C"/>
                </a:solidFill>
              </a:defRPr>
            </a:pPr>
            <a:r>
              <a:rPr sz="2400" b="1">
                <a:solidFill>
                  <a:srgbClr val="7A1F5C"/>
                </a:solidFill>
              </a:rPr>
              <a:t>95% CI</a:t>
            </a:r>
          </a:p>
        </p:txBody>
      </p:sp>
      <p:sp>
        <p:nvSpPr>
          <p:cNvPr id="18" name="">
            <a:extLst xmlns:a="http://schemas.openxmlformats.org/drawingml/2006/main">
              <a:ext uri="{FF2B5EF4-FFF2-40B4-BE49-F238E27FC236}">
                <a16:creationId xmlns:a16="http://schemas.microsoft.com/office/drawing/2014/main" id="{BD3B1690-0F14-4863-A4FB-EC3AB181AAD3}"/>
              </a:ext>
            </a:extLst>
          </p:cNvPr>
          <p:cNvSpPr>
            <a:spLocks xmlns:a="http://schemas.openxmlformats.org/drawingml/2006/main" noGrp="1"/>
          </p:cNvSpPr>
          <p:nvPr/>
        </p:nvSpPr>
        <p:spPr>
          <a:xfrm xmlns:a="http://schemas.openxmlformats.org/drawingml/2006/main">
            <a:off x="8153400" y="2628900"/>
            <a:ext cx="3162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211C27"/>
                </a:solidFill>
              </a:defRPr>
            </a:pPr>
            <a:r>
              <a:rPr sz="975" b="0">
                <a:solidFill>
                  <a:srgbClr val="211C27"/>
                </a:solidFill>
              </a:rPr>
              <a:t>17.4%–23.8% relative reduction</a:t>
            </a:r>
          </a:p>
        </p:txBody>
      </p:sp>
      <p:sp>
        <p:nvSpPr>
          <p:cNvPr id="19" name="">
            <a:extLst xmlns:a="http://schemas.openxmlformats.org/drawingml/2006/main">
              <a:ext uri="{FF2B5EF4-FFF2-40B4-BE49-F238E27FC236}">
                <a16:creationId xmlns:a16="http://schemas.microsoft.com/office/drawing/2014/main" id="{773A3C89-C68F-41A4-A07B-AF0C6C0EE7BA}"/>
              </a:ext>
            </a:extLst>
          </p:cNvPr>
          <p:cNvSpPr>
            <a:spLocks xmlns:a="http://schemas.openxmlformats.org/drawingml/2006/main" noGrp="1"/>
          </p:cNvSpPr>
          <p:nvPr/>
        </p:nvSpPr>
        <p:spPr>
          <a:xfrm xmlns:a="http://schemas.openxmlformats.org/drawingml/2006/main">
            <a:off x="685800" y="35814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25B67"/>
                </a:solidFill>
              </a:defRPr>
            </a:pPr>
            <a:r>
              <a:rPr sz="900" b="1">
                <a:solidFill>
                  <a:srgbClr val="625B67"/>
                </a:solidFill>
              </a:rPr>
              <a:t>ACTION WINDOW MISS RATE  /  3× SURGE</a:t>
            </a:r>
          </a:p>
        </p:txBody>
      </p:sp>
      <p:sp>
        <p:nvSpPr>
          <p:cNvPr id="20" name="">
            <a:extLst xmlns:a="http://schemas.openxmlformats.org/drawingml/2006/main">
              <a:ext uri="{FF2B5EF4-FFF2-40B4-BE49-F238E27FC236}">
                <a16:creationId xmlns:a16="http://schemas.microsoft.com/office/drawing/2014/main" id="{7A19DCBD-AA1B-4E58-8131-53EC5C13941F}"/>
              </a:ext>
            </a:extLst>
          </p:cNvPr>
          <p:cNvSpPr>
            <a:spLocks xmlns:a="http://schemas.openxmlformats.org/drawingml/2006/main" noGrp="1"/>
          </p:cNvSpPr>
          <p:nvPr/>
        </p:nvSpPr>
        <p:spPr>
          <a:xfrm xmlns:a="http://schemas.openxmlformats.org/drawingml/2006/main">
            <a:off x="685800" y="40957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11C27"/>
                </a:solidFill>
              </a:defRPr>
            </a:pPr>
            <a:r>
              <a:rPr sz="1050" b="1">
                <a:solidFill>
                  <a:srgbClr val="211C27"/>
                </a:solidFill>
              </a:rPr>
              <a:t>Periodic re-triage</a:t>
            </a:r>
          </a:p>
        </p:txBody>
      </p:sp>
      <p:sp>
        <p:nvSpPr>
          <p:cNvPr id="21" name="">
            <a:extLst xmlns:a="http://schemas.openxmlformats.org/drawingml/2006/main">
              <a:ext uri="{FF2B5EF4-FFF2-40B4-BE49-F238E27FC236}">
                <a16:creationId xmlns:a16="http://schemas.microsoft.com/office/drawing/2014/main" id="{827A7299-B409-479F-A33B-D7A8EEB9AC1E}"/>
              </a:ext>
            </a:extLst>
          </p:cNvPr>
          <p:cNvSpPr>
            <a:spLocks xmlns:a="http://schemas.openxmlformats.org/drawingml/2006/main" noGrp="1"/>
          </p:cNvSpPr>
          <p:nvPr/>
        </p:nvSpPr>
        <p:spPr>
          <a:xfrm xmlns:a="http://schemas.openxmlformats.org/drawingml/2006/main">
            <a:off x="2590800" y="4048125"/>
            <a:ext cx="6572250" cy="323850"/>
          </a:xfrm>
          <a:prstGeom xmlns:a="http://schemas.openxmlformats.org/drawingml/2006/main" prst="roundRect">
            <a:avLst>
              <a:gd name="adj" fmla="val 23529"/>
            </a:avLst>
          </a:prstGeom>
          <a:solidFill xmlns:a="http://schemas.openxmlformats.org/drawingml/2006/main">
            <a:srgbClr val="F6F3F5"/>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DC71DF5-5C7D-4C6E-BD75-AF5B6E8FAB22}"/>
              </a:ext>
            </a:extLst>
          </p:cNvPr>
          <p:cNvSpPr>
            <a:spLocks xmlns:a="http://schemas.openxmlformats.org/drawingml/2006/main" noGrp="1"/>
          </p:cNvSpPr>
          <p:nvPr/>
        </p:nvSpPr>
        <p:spPr>
          <a:xfrm xmlns:a="http://schemas.openxmlformats.org/drawingml/2006/main">
            <a:off x="2590800" y="4048125"/>
            <a:ext cx="5810250" cy="323850"/>
          </a:xfrm>
          <a:prstGeom xmlns:a="http://schemas.openxmlformats.org/drawingml/2006/main" prst="roundRect">
            <a:avLst>
              <a:gd name="adj" fmla="val 23529"/>
            </a:avLst>
          </a:prstGeom>
          <a:solidFill xmlns:a="http://schemas.openxmlformats.org/drawingml/2006/main">
            <a:srgbClr val="625B67"/>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6A3DBE9-B964-4FB3-999E-5FDF10A1EFE4}"/>
              </a:ext>
            </a:extLst>
          </p:cNvPr>
          <p:cNvSpPr>
            <a:spLocks xmlns:a="http://schemas.openxmlformats.org/drawingml/2006/main" noGrp="1"/>
          </p:cNvSpPr>
          <p:nvPr/>
        </p:nvSpPr>
        <p:spPr>
          <a:xfrm xmlns:a="http://schemas.openxmlformats.org/drawingml/2006/main">
            <a:off x="9315450" y="40767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625B67"/>
                </a:solidFill>
              </a:defRPr>
            </a:pPr>
            <a:r>
              <a:rPr sz="1350" b="1">
                <a:solidFill>
                  <a:srgbClr val="625B67"/>
                </a:solidFill>
              </a:rPr>
              <a:t>17.7%</a:t>
            </a:r>
          </a:p>
        </p:txBody>
      </p:sp>
      <p:sp>
        <p:nvSpPr>
          <p:cNvPr id="24" name="">
            <a:extLst xmlns:a="http://schemas.openxmlformats.org/drawingml/2006/main">
              <a:ext uri="{FF2B5EF4-FFF2-40B4-BE49-F238E27FC236}">
                <a16:creationId xmlns:a16="http://schemas.microsoft.com/office/drawing/2014/main" id="{6BFBF973-E738-456E-9EE3-136789826BEC}"/>
              </a:ext>
            </a:extLst>
          </p:cNvPr>
          <p:cNvSpPr>
            <a:spLocks xmlns:a="http://schemas.openxmlformats.org/drawingml/2006/main" noGrp="1"/>
          </p:cNvSpPr>
          <p:nvPr/>
        </p:nvSpPr>
        <p:spPr>
          <a:xfrm xmlns:a="http://schemas.openxmlformats.org/drawingml/2006/main">
            <a:off x="685800" y="47434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7A1F5C"/>
                </a:solidFill>
              </a:defRPr>
            </a:pPr>
            <a:r>
              <a:rPr sz="1050" b="1">
                <a:solidFill>
                  <a:srgbClr val="7A1F5C"/>
                </a:solidFill>
              </a:rPr>
              <a:t>TriageLoop</a:t>
            </a:r>
          </a:p>
        </p:txBody>
      </p:sp>
      <p:sp>
        <p:nvSpPr>
          <p:cNvPr id="25" name="">
            <a:extLst xmlns:a="http://schemas.openxmlformats.org/drawingml/2006/main">
              <a:ext uri="{FF2B5EF4-FFF2-40B4-BE49-F238E27FC236}">
                <a16:creationId xmlns:a16="http://schemas.microsoft.com/office/drawing/2014/main" id="{2812C646-2B9E-4561-A148-3713B1B14AAB}"/>
              </a:ext>
            </a:extLst>
          </p:cNvPr>
          <p:cNvSpPr>
            <a:spLocks xmlns:a="http://schemas.openxmlformats.org/drawingml/2006/main" noGrp="1"/>
          </p:cNvSpPr>
          <p:nvPr/>
        </p:nvSpPr>
        <p:spPr>
          <a:xfrm xmlns:a="http://schemas.openxmlformats.org/drawingml/2006/main">
            <a:off x="2590800" y="4695825"/>
            <a:ext cx="6572250" cy="323850"/>
          </a:xfrm>
          <a:prstGeom xmlns:a="http://schemas.openxmlformats.org/drawingml/2006/main" prst="roundRect">
            <a:avLst>
              <a:gd name="adj" fmla="val 23529"/>
            </a:avLst>
          </a:prstGeom>
          <a:solidFill xmlns:a="http://schemas.openxmlformats.org/drawingml/2006/main">
            <a:srgbClr val="F6F3F5"/>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0C97C87-4172-420C-B1A9-9ED38674070B}"/>
              </a:ext>
            </a:extLst>
          </p:cNvPr>
          <p:cNvSpPr>
            <a:spLocks xmlns:a="http://schemas.openxmlformats.org/drawingml/2006/main" noGrp="1"/>
          </p:cNvSpPr>
          <p:nvPr/>
        </p:nvSpPr>
        <p:spPr>
          <a:xfrm xmlns:a="http://schemas.openxmlformats.org/drawingml/2006/main">
            <a:off x="2590800" y="4695825"/>
            <a:ext cx="4629150" cy="323850"/>
          </a:xfrm>
          <a:prstGeom xmlns:a="http://schemas.openxmlformats.org/drawingml/2006/main" prst="roundRect">
            <a:avLst>
              <a:gd name="adj" fmla="val 23529"/>
            </a:avLst>
          </a:prstGeom>
          <a:solidFill xmlns:a="http://schemas.openxmlformats.org/drawingml/2006/main">
            <a:srgbClr val="7A1F5C"/>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FBA1F07-DD66-4356-8556-7E7410C77967}"/>
              </a:ext>
            </a:extLst>
          </p:cNvPr>
          <p:cNvSpPr>
            <a:spLocks xmlns:a="http://schemas.openxmlformats.org/drawingml/2006/main" noGrp="1"/>
          </p:cNvSpPr>
          <p:nvPr/>
        </p:nvSpPr>
        <p:spPr>
          <a:xfrm xmlns:a="http://schemas.openxmlformats.org/drawingml/2006/main">
            <a:off x="9315450" y="47244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7A1F5C"/>
                </a:solidFill>
              </a:defRPr>
            </a:pPr>
            <a:r>
              <a:rPr sz="1350" b="1">
                <a:solidFill>
                  <a:srgbClr val="7A1F5C"/>
                </a:solidFill>
              </a:rPr>
              <a:t>14.1%</a:t>
            </a:r>
          </a:p>
        </p:txBody>
      </p:sp>
      <p:sp>
        <p:nvSpPr>
          <p:cNvPr id="28" name="">
            <a:extLst xmlns:a="http://schemas.openxmlformats.org/drawingml/2006/main">
              <a:ext uri="{FF2B5EF4-FFF2-40B4-BE49-F238E27FC236}">
                <a16:creationId xmlns:a16="http://schemas.microsoft.com/office/drawing/2014/main" id="{1F73CF98-FE79-4267-AC78-32FD9C78BB2C}"/>
              </a:ext>
            </a:extLst>
          </p:cNvPr>
          <p:cNvSpPr>
            <a:spLocks xmlns:a="http://schemas.openxmlformats.org/drawingml/2006/main" noGrp="1"/>
          </p:cNvSpPr>
          <p:nvPr/>
        </p:nvSpPr>
        <p:spPr>
          <a:xfrm xmlns:a="http://schemas.openxmlformats.org/drawingml/2006/main">
            <a:off x="10287000" y="3886200"/>
            <a:ext cx="1219200" cy="1257300"/>
          </a:xfrm>
          <a:prstGeom xmlns:a="http://schemas.openxmlformats.org/drawingml/2006/main" prst="roundRect">
            <a:avLst>
              <a:gd name="adj" fmla="val 14063"/>
            </a:avLst>
          </a:prstGeom>
          <a:solidFill xmlns:a="http://schemas.openxmlformats.org/drawingml/2006/main">
            <a:srgbClr val="52163E"/>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348B0DB-F05C-4BB4-94B5-0B371E0B51EB}"/>
              </a:ext>
            </a:extLst>
          </p:cNvPr>
          <p:cNvSpPr>
            <a:spLocks xmlns:a="http://schemas.openxmlformats.org/drawingml/2006/main" noGrp="1"/>
          </p:cNvSpPr>
          <p:nvPr/>
        </p:nvSpPr>
        <p:spPr>
          <a:xfrm xmlns:a="http://schemas.openxmlformats.org/drawingml/2006/main">
            <a:off x="10401300" y="4171950"/>
            <a:ext cx="990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FFFFFF"/>
                </a:solidFill>
              </a:defRPr>
            </a:pPr>
            <a:r>
              <a:rPr sz="1950" b="1">
                <a:solidFill>
                  <a:srgbClr val="FFFFFF"/>
                </a:solidFill>
              </a:rPr>
              <a:t>−20.5%</a:t>
            </a:r>
          </a:p>
        </p:txBody>
      </p:sp>
      <p:sp>
        <p:nvSpPr>
          <p:cNvPr id="30" name="">
            <a:extLst xmlns:a="http://schemas.openxmlformats.org/drawingml/2006/main">
              <a:ext uri="{FF2B5EF4-FFF2-40B4-BE49-F238E27FC236}">
                <a16:creationId xmlns:a16="http://schemas.microsoft.com/office/drawing/2014/main" id="{9FF17046-8B3F-4DCE-8C2E-F23F47466445}"/>
              </a:ext>
            </a:extLst>
          </p:cNvPr>
          <p:cNvSpPr>
            <a:spLocks xmlns:a="http://schemas.openxmlformats.org/drawingml/2006/main" noGrp="1"/>
          </p:cNvSpPr>
          <p:nvPr/>
        </p:nvSpPr>
        <p:spPr>
          <a:xfrm xmlns:a="http://schemas.openxmlformats.org/drawingml/2006/main">
            <a:off x="10401300" y="4629150"/>
            <a:ext cx="990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EADCE6"/>
                </a:solidFill>
              </a:defRPr>
            </a:pPr>
            <a:r>
              <a:rPr sz="900" b="1">
                <a:solidFill>
                  <a:srgbClr val="EADCE6"/>
                </a:solidFill>
              </a:rPr>
              <a:t>relative</a:t>
            </a:r>
          </a:p>
        </p:txBody>
      </p:sp>
      <p:sp>
        <p:nvSpPr>
          <p:cNvPr id="31" name="">
            <a:extLst xmlns:a="http://schemas.openxmlformats.org/drawingml/2006/main">
              <a:ext uri="{FF2B5EF4-FFF2-40B4-BE49-F238E27FC236}">
                <a16:creationId xmlns:a16="http://schemas.microsoft.com/office/drawing/2014/main" id="{6130316C-1F00-4B35-AB7F-436011B60B99}"/>
              </a:ext>
            </a:extLst>
          </p:cNvPr>
          <p:cNvSpPr>
            <a:spLocks xmlns:a="http://schemas.openxmlformats.org/drawingml/2006/main" noGrp="1"/>
          </p:cNvSpPr>
          <p:nvPr/>
        </p:nvSpPr>
        <p:spPr>
          <a:xfrm xmlns:a="http://schemas.openxmlformats.org/drawingml/2006/main">
            <a:off x="685800" y="55054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625B67"/>
                </a:solidFill>
              </a:defRPr>
            </a:pPr>
            <a:r>
              <a:rPr sz="1050" b="0">
                <a:solidFill>
                  <a:srgbClr val="625B67"/>
                </a:solidFill>
              </a:rPr>
              <a:t>Also: 14.0% fewer negative-Slack minutes • 15.7% faster signal-to-action • 14.4% lower low-acuity P90 wait</a:t>
            </a:r>
          </a:p>
        </p:txBody>
      </p:sp>
    </p:spTree>
    <p:extLst>
      <p:ext uri="{BB962C8B-B14F-4D97-AF65-F5344CB8AC3E}">
        <p14:creationId xmlns:p14="http://schemas.microsoft.com/office/powerpoint/2010/main" val="205511890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E5A339B-9FDD-4240-817E-73D7A579D68D}"/>
              </a:ext>
            </a:extLst>
          </p:cNvPr>
          <p:cNvSpPr>
            <a:spLocks xmlns:a="http://schemas.openxmlformats.org/drawingml/2006/main" noGrp="1"/>
          </p:cNvSpPr>
          <p:nvPr/>
        </p:nvSpPr>
        <p:spPr>
          <a:xfrm xmlns:a="http://schemas.openxmlformats.org/drawingml/2006/main">
            <a:off x="609600" y="3429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A1F5C"/>
                </a:solidFill>
              </a:defRPr>
            </a:pPr>
            <a:r>
              <a:rPr sz="825" b="1">
                <a:solidFill>
                  <a:srgbClr val="7A1F5C"/>
                </a:solidFill>
              </a:rPr>
              <a:t>CREDIBILITY MOMENT</a:t>
            </a:r>
          </a:p>
        </p:txBody>
      </p:sp>
      <p:sp>
        <p:nvSpPr>
          <p:cNvPr id="2" name="">
            <a:extLst xmlns:a="http://schemas.openxmlformats.org/drawingml/2006/main">
              <a:ext uri="{FF2B5EF4-FFF2-40B4-BE49-F238E27FC236}">
                <a16:creationId xmlns:a16="http://schemas.microsoft.com/office/drawing/2014/main" id="{CC36FDEC-9093-499A-ADE4-BAD3371872D4}"/>
              </a:ext>
            </a:extLst>
          </p:cNvPr>
          <p:cNvSpPr>
            <a:spLocks xmlns:a="http://schemas.openxmlformats.org/drawingml/2006/main" noGrp="1"/>
          </p:cNvSpPr>
          <p:nvPr/>
        </p:nvSpPr>
        <p:spPr>
          <a:xfrm xmlns:a="http://schemas.openxmlformats.org/drawingml/2006/main">
            <a:off x="609600" y="62865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211C27"/>
                </a:solidFill>
              </a:defRPr>
            </a:pPr>
            <a:r>
              <a:rPr sz="2550" b="1">
                <a:solidFill>
                  <a:srgbClr val="211C27"/>
                </a:solidFill>
              </a:rPr>
              <a:t>One hypothesis failed. The product boundary changed.</a:t>
            </a:r>
          </a:p>
        </p:txBody>
      </p:sp>
      <p:sp>
        <p:nvSpPr>
          <p:cNvPr id="3" name="">
            <a:extLst xmlns:a="http://schemas.openxmlformats.org/drawingml/2006/main">
              <a:ext uri="{FF2B5EF4-FFF2-40B4-BE49-F238E27FC236}">
                <a16:creationId xmlns:a16="http://schemas.microsoft.com/office/drawing/2014/main" id="{4B5BE803-F4EA-4B49-851E-D9BAF903A642}"/>
              </a:ext>
            </a:extLst>
          </p:cNvPr>
          <p:cNvSpPr>
            <a:spLocks xmlns:a="http://schemas.openxmlformats.org/drawingml/2006/main" noGrp="1"/>
          </p:cNvSpPr>
          <p:nvPr/>
        </p:nvSpPr>
        <p:spPr>
          <a:xfrm xmlns:a="http://schemas.openxmlformats.org/drawingml/2006/main">
            <a:off x="609600" y="12192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5B67"/>
                </a:solidFill>
              </a:defRPr>
            </a:pPr>
            <a:r>
              <a:rPr sz="1275" b="0">
                <a:solidFill>
                  <a:srgbClr val="625B67"/>
                </a:solidFill>
              </a:rPr>
              <a:t>The single-observation Next Best Observation gate did not preserve operational critical recall.</a:t>
            </a:r>
          </a:p>
        </p:txBody>
      </p:sp>
      <p:sp>
        <p:nvSpPr>
          <p:cNvPr id="4" name="">
            <a:extLst xmlns:a="http://schemas.openxmlformats.org/drawingml/2006/main">
              <a:ext uri="{FF2B5EF4-FFF2-40B4-BE49-F238E27FC236}">
                <a16:creationId xmlns:a16="http://schemas.microsoft.com/office/drawing/2014/main" id="{1878068C-48FD-45FD-B0A3-8C45E18DDEC3}"/>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5" name="">
            <a:extLst xmlns:a="http://schemas.openxmlformats.org/drawingml/2006/main">
              <a:ext uri="{FF2B5EF4-FFF2-40B4-BE49-F238E27FC236}">
                <a16:creationId xmlns:a16="http://schemas.microsoft.com/office/drawing/2014/main" id="{95D685EA-3B35-4654-BBC8-0B6FCE207EFD}"/>
              </a:ext>
            </a:extLst>
          </p:cNvPr>
          <p:cNvSpPr>
            <a:spLocks xmlns:a="http://schemas.openxmlformats.org/drawingml/2006/main" noGrp="1"/>
          </p:cNvSpPr>
          <p:nvPr/>
        </p:nvSpPr>
        <p:spPr>
          <a:xfrm xmlns:a="http://schemas.openxmlformats.org/drawingml/2006/main">
            <a:off x="609600" y="6581775"/>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625B67"/>
                </a:solidFill>
              </a:defRPr>
            </a:pPr>
            <a:r>
              <a:rPr sz="675" b="0">
                <a:solidFill>
                  <a:srgbClr val="625B67"/>
                </a:solidFill>
              </a:rPr>
              <a:t>Synthetic decision-support prototype — not validated for clinical use</a:t>
            </a:r>
          </a:p>
        </p:txBody>
      </p:sp>
      <p:sp>
        <p:nvSpPr>
          <p:cNvPr id="6" name="">
            <a:extLst xmlns:a="http://schemas.openxmlformats.org/drawingml/2006/main">
              <a:ext uri="{FF2B5EF4-FFF2-40B4-BE49-F238E27FC236}">
                <a16:creationId xmlns:a16="http://schemas.microsoft.com/office/drawing/2014/main" id="{90FFED12-E992-4114-AE79-2B768B907C08}"/>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625B67"/>
                </a:solidFill>
              </a:defRPr>
            </a:pPr>
            <a:r>
              <a:rPr sz="750" b="1">
                <a:solidFill>
                  <a:srgbClr val="625B67"/>
                </a:solidFill>
              </a:rPr>
              <a:t>10</a:t>
            </a:r>
          </a:p>
        </p:txBody>
      </p:sp>
      <p:sp>
        <p:nvSpPr>
          <p:cNvPr id="7" name="">
            <a:extLst xmlns:a="http://schemas.openxmlformats.org/drawingml/2006/main">
              <a:ext uri="{FF2B5EF4-FFF2-40B4-BE49-F238E27FC236}">
                <a16:creationId xmlns:a16="http://schemas.microsoft.com/office/drawing/2014/main" id="{5AC600C8-BAB7-407E-A548-FA89D7FCCB71}"/>
              </a:ext>
            </a:extLst>
          </p:cNvPr>
          <p:cNvSpPr>
            <a:spLocks xmlns:a="http://schemas.openxmlformats.org/drawingml/2006/main" noGrp="1"/>
          </p:cNvSpPr>
          <p:nvPr/>
        </p:nvSpPr>
        <p:spPr>
          <a:xfrm xmlns:a="http://schemas.openxmlformats.org/drawingml/2006/main">
            <a:off x="685800" y="2114550"/>
            <a:ext cx="4953000" cy="2381250"/>
          </a:xfrm>
          <a:prstGeom xmlns:a="http://schemas.openxmlformats.org/drawingml/2006/main" prst="roundRect">
            <a:avLst>
              <a:gd name="adj" fmla="val 7200"/>
            </a:avLst>
          </a:prstGeom>
          <a:solidFill xmlns:a="http://schemas.openxmlformats.org/drawingml/2006/main">
            <a:srgbClr val="EAF7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45CBEDC-8A79-4A22-8A59-0078C56A75A7}"/>
              </a:ext>
            </a:extLst>
          </p:cNvPr>
          <p:cNvSpPr>
            <a:spLocks xmlns:a="http://schemas.openxmlformats.org/drawingml/2006/main" noGrp="1"/>
          </p:cNvSpPr>
          <p:nvPr/>
        </p:nvSpPr>
        <p:spPr>
          <a:xfrm xmlns:a="http://schemas.openxmlformats.org/drawingml/2006/main">
            <a:off x="990600" y="2400300"/>
            <a:ext cx="428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97A55"/>
                </a:solidFill>
              </a:defRPr>
            </a:pPr>
            <a:r>
              <a:rPr sz="3450" b="1">
                <a:solidFill>
                  <a:srgbClr val="197A55"/>
                </a:solidFill>
              </a:rPr>
              <a:t>87.5%</a:t>
            </a:r>
          </a:p>
        </p:txBody>
      </p:sp>
      <p:sp>
        <p:nvSpPr>
          <p:cNvPr id="9" name="">
            <a:extLst xmlns:a="http://schemas.openxmlformats.org/drawingml/2006/main">
              <a:ext uri="{FF2B5EF4-FFF2-40B4-BE49-F238E27FC236}">
                <a16:creationId xmlns:a16="http://schemas.microsoft.com/office/drawing/2014/main" id="{34256124-9E56-497E-9C84-E29F70C0D115}"/>
              </a:ext>
            </a:extLst>
          </p:cNvPr>
          <p:cNvSpPr>
            <a:spLocks xmlns:a="http://schemas.openxmlformats.org/drawingml/2006/main" noGrp="1"/>
          </p:cNvSpPr>
          <p:nvPr/>
        </p:nvSpPr>
        <p:spPr>
          <a:xfrm xmlns:a="http://schemas.openxmlformats.org/drawingml/2006/main">
            <a:off x="990600" y="31432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11C27"/>
                </a:solidFill>
              </a:defRPr>
            </a:pPr>
            <a:r>
              <a:rPr sz="1500" b="1">
                <a:solidFill>
                  <a:srgbClr val="211C27"/>
                </a:solidFill>
              </a:rPr>
              <a:t>fewer observations requested</a:t>
            </a:r>
          </a:p>
        </p:txBody>
      </p:sp>
      <p:sp>
        <p:nvSpPr>
          <p:cNvPr id="10" name="">
            <a:extLst xmlns:a="http://schemas.openxmlformats.org/drawingml/2006/main">
              <a:ext uri="{FF2B5EF4-FFF2-40B4-BE49-F238E27FC236}">
                <a16:creationId xmlns:a16="http://schemas.microsoft.com/office/drawing/2014/main" id="{C8980C5B-DB6B-44A1-B84A-415E49FD5616}"/>
              </a:ext>
            </a:extLst>
          </p:cNvPr>
          <p:cNvSpPr>
            <a:spLocks xmlns:a="http://schemas.openxmlformats.org/drawingml/2006/main" noGrp="1"/>
          </p:cNvSpPr>
          <p:nvPr/>
        </p:nvSpPr>
        <p:spPr>
          <a:xfrm xmlns:a="http://schemas.openxmlformats.org/drawingml/2006/main">
            <a:off x="990600" y="37338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25B67"/>
                </a:solidFill>
              </a:defRPr>
            </a:pPr>
            <a:r>
              <a:rPr sz="1125" b="0">
                <a:solidFill>
                  <a:srgbClr val="625B67"/>
                </a:solidFill>
              </a:rPr>
              <a:t>The efficiency signal looked promising.</a:t>
            </a:r>
          </a:p>
        </p:txBody>
      </p:sp>
      <p:sp>
        <p:nvSpPr>
          <p:cNvPr id="11" name="">
            <a:extLst xmlns:a="http://schemas.openxmlformats.org/drawingml/2006/main">
              <a:ext uri="{FF2B5EF4-FFF2-40B4-BE49-F238E27FC236}">
                <a16:creationId xmlns:a16="http://schemas.microsoft.com/office/drawing/2014/main" id="{4C2CF410-4649-41B0-8864-E5D951781B20}"/>
              </a:ext>
            </a:extLst>
          </p:cNvPr>
          <p:cNvSpPr>
            <a:spLocks xmlns:a="http://schemas.openxmlformats.org/drawingml/2006/main" noGrp="1"/>
          </p:cNvSpPr>
          <p:nvPr/>
        </p:nvSpPr>
        <p:spPr>
          <a:xfrm xmlns:a="http://schemas.openxmlformats.org/drawingml/2006/main">
            <a:off x="5791200" y="3028950"/>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B42318"/>
                </a:solidFill>
              </a:defRPr>
            </a:pPr>
            <a:r>
              <a:rPr sz="1200" b="1">
                <a:solidFill>
                  <a:srgbClr val="B42318"/>
                </a:solidFill>
              </a:rPr>
              <a:t>BUT</a:t>
            </a:r>
          </a:p>
        </p:txBody>
      </p:sp>
      <p:sp>
        <p:nvSpPr>
          <p:cNvPr id="12" name="">
            <a:extLst xmlns:a="http://schemas.openxmlformats.org/drawingml/2006/main">
              <a:ext uri="{FF2B5EF4-FFF2-40B4-BE49-F238E27FC236}">
                <a16:creationId xmlns:a16="http://schemas.microsoft.com/office/drawing/2014/main" id="{75F12D11-95BD-4BA0-BF14-AE8B00E5C253}"/>
              </a:ext>
            </a:extLst>
          </p:cNvPr>
          <p:cNvSpPr>
            <a:spLocks xmlns:a="http://schemas.openxmlformats.org/drawingml/2006/main" noGrp="1"/>
          </p:cNvSpPr>
          <p:nvPr/>
        </p:nvSpPr>
        <p:spPr>
          <a:xfrm xmlns:a="http://schemas.openxmlformats.org/drawingml/2006/main">
            <a:off x="6553200" y="2114550"/>
            <a:ext cx="4953000" cy="2381250"/>
          </a:xfrm>
          <a:prstGeom xmlns:a="http://schemas.openxmlformats.org/drawingml/2006/main" prst="roundRect">
            <a:avLst>
              <a:gd name="adj" fmla="val 7200"/>
            </a:avLst>
          </a:prstGeom>
          <a:solidFill xmlns:a="http://schemas.openxmlformats.org/drawingml/2006/main">
            <a:srgbClr val="FEECE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C658BCD-8E0E-4EDE-8436-85E6EFB79050}"/>
              </a:ext>
            </a:extLst>
          </p:cNvPr>
          <p:cNvSpPr>
            <a:spLocks xmlns:a="http://schemas.openxmlformats.org/drawingml/2006/main" noGrp="1"/>
          </p:cNvSpPr>
          <p:nvPr/>
        </p:nvSpPr>
        <p:spPr>
          <a:xfrm xmlns:a="http://schemas.openxmlformats.org/drawingml/2006/main">
            <a:off x="6858000" y="2400300"/>
            <a:ext cx="428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B42318"/>
                </a:solidFill>
              </a:defRPr>
            </a:pPr>
            <a:r>
              <a:rPr sz="3450" b="1">
                <a:solidFill>
                  <a:srgbClr val="B42318"/>
                </a:solidFill>
              </a:rPr>
              <a:t>−7.1 pp</a:t>
            </a:r>
          </a:p>
        </p:txBody>
      </p:sp>
      <p:sp>
        <p:nvSpPr>
          <p:cNvPr id="14" name="">
            <a:extLst xmlns:a="http://schemas.openxmlformats.org/drawingml/2006/main">
              <a:ext uri="{FF2B5EF4-FFF2-40B4-BE49-F238E27FC236}">
                <a16:creationId xmlns:a16="http://schemas.microsoft.com/office/drawing/2014/main" id="{F9DE4C38-9B0F-46BD-9775-22DB30D736F7}"/>
              </a:ext>
            </a:extLst>
          </p:cNvPr>
          <p:cNvSpPr>
            <a:spLocks xmlns:a="http://schemas.openxmlformats.org/drawingml/2006/main" noGrp="1"/>
          </p:cNvSpPr>
          <p:nvPr/>
        </p:nvSpPr>
        <p:spPr>
          <a:xfrm xmlns:a="http://schemas.openxmlformats.org/drawingml/2006/main">
            <a:off x="6858000" y="31432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211C27"/>
                </a:solidFill>
              </a:defRPr>
            </a:pPr>
            <a:r>
              <a:rPr sz="1500" b="1">
                <a:solidFill>
                  <a:srgbClr val="211C27"/>
                </a:solidFill>
              </a:rPr>
              <a:t>operational critical recall</a:t>
            </a:r>
          </a:p>
        </p:txBody>
      </p:sp>
      <p:sp>
        <p:nvSpPr>
          <p:cNvPr id="15" name="">
            <a:extLst xmlns:a="http://schemas.openxmlformats.org/drawingml/2006/main">
              <a:ext uri="{FF2B5EF4-FFF2-40B4-BE49-F238E27FC236}">
                <a16:creationId xmlns:a16="http://schemas.microsoft.com/office/drawing/2014/main" id="{F0F13053-99D9-40E0-8AC9-45C0C249F099}"/>
              </a:ext>
            </a:extLst>
          </p:cNvPr>
          <p:cNvSpPr>
            <a:spLocks xmlns:a="http://schemas.openxmlformats.org/drawingml/2006/main" noGrp="1"/>
          </p:cNvSpPr>
          <p:nvPr/>
        </p:nvSpPr>
        <p:spPr>
          <a:xfrm xmlns:a="http://schemas.openxmlformats.org/drawingml/2006/main">
            <a:off x="6858000" y="37338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625B67"/>
                </a:solidFill>
              </a:defRPr>
            </a:pPr>
            <a:r>
              <a:rPr sz="1125" b="0">
                <a:solidFill>
                  <a:srgbClr val="625B67"/>
                </a:solidFill>
              </a:rPr>
              <a:t>Predeclared limit: no more than −2 points.</a:t>
            </a:r>
          </a:p>
        </p:txBody>
      </p:sp>
      <p:sp>
        <p:nvSpPr>
          <p:cNvPr id="16" name="">
            <a:extLst xmlns:a="http://schemas.openxmlformats.org/drawingml/2006/main">
              <a:ext uri="{FF2B5EF4-FFF2-40B4-BE49-F238E27FC236}">
                <a16:creationId xmlns:a16="http://schemas.microsoft.com/office/drawing/2014/main" id="{4183D598-7608-4B0E-B330-BCE219D785DD}"/>
              </a:ext>
            </a:extLst>
          </p:cNvPr>
          <p:cNvSpPr>
            <a:spLocks xmlns:a="http://schemas.openxmlformats.org/drawingml/2006/main" noGrp="1"/>
          </p:cNvSpPr>
          <p:nvPr/>
        </p:nvSpPr>
        <p:spPr>
          <a:xfrm xmlns:a="http://schemas.openxmlformats.org/drawingml/2006/main">
            <a:off x="2038350" y="4914900"/>
            <a:ext cx="8115300" cy="876300"/>
          </a:xfrm>
          <a:prstGeom xmlns:a="http://schemas.openxmlformats.org/drawingml/2006/main" prst="roundRect">
            <a:avLst>
              <a:gd name="adj" fmla="val 19565"/>
            </a:avLst>
          </a:prstGeom>
          <a:solidFill xmlns:a="http://schemas.openxmlformats.org/drawingml/2006/main">
            <a:srgbClr val="52163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5FBC7CD-8273-43D0-8C13-EC0E6405E954}"/>
              </a:ext>
            </a:extLst>
          </p:cNvPr>
          <p:cNvSpPr>
            <a:spLocks xmlns:a="http://schemas.openxmlformats.org/drawingml/2006/main" noGrp="1"/>
          </p:cNvSpPr>
          <p:nvPr/>
        </p:nvSpPr>
        <p:spPr>
          <a:xfrm xmlns:a="http://schemas.openxmlformats.org/drawingml/2006/main">
            <a:off x="2343150" y="51244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2CFE5"/>
                </a:solidFill>
              </a:defRPr>
            </a:pPr>
            <a:r>
              <a:rPr sz="900" b="1">
                <a:solidFill>
                  <a:srgbClr val="F2CFE5"/>
                </a:solidFill>
              </a:rPr>
              <a:t>LOCKED PRODUCT RESPONSE</a:t>
            </a:r>
          </a:p>
        </p:txBody>
      </p:sp>
      <p:sp>
        <p:nvSpPr>
          <p:cNvPr id="18" name="">
            <a:extLst xmlns:a="http://schemas.openxmlformats.org/drawingml/2006/main">
              <a:ext uri="{FF2B5EF4-FFF2-40B4-BE49-F238E27FC236}">
                <a16:creationId xmlns:a16="http://schemas.microsoft.com/office/drawing/2014/main" id="{CF7B9933-9C44-4E7D-A30E-22F96DD73947}"/>
              </a:ext>
            </a:extLst>
          </p:cNvPr>
          <p:cNvSpPr>
            <a:spLocks xmlns:a="http://schemas.openxmlformats.org/drawingml/2006/main" noGrp="1"/>
          </p:cNvSpPr>
          <p:nvPr/>
        </p:nvSpPr>
        <p:spPr>
          <a:xfrm xmlns:a="http://schemas.openxmlformats.org/drawingml/2006/main">
            <a:off x="4629150" y="5057775"/>
            <a:ext cx="5219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FFFFFF"/>
                </a:solidFill>
              </a:defRPr>
            </a:pPr>
            <a:r>
              <a:rPr sz="1275" b="1">
                <a:solidFill>
                  <a:srgbClr val="FFFFFF"/>
                </a:solidFill>
              </a:rPr>
              <a:t>NBO is a first measurement suggestion—not a reassessment replacement. Uncertainty → full reassessment or escalation.</a:t>
            </a:r>
          </a:p>
        </p:txBody>
      </p:sp>
    </p:spTree>
    <p:extLst>
      <p:ext uri="{BB962C8B-B14F-4D97-AF65-F5344CB8AC3E}">
        <p14:creationId xmlns:p14="http://schemas.microsoft.com/office/powerpoint/2010/main" val="17025695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A5C6D72B-8F54-4CE5-B81F-B080AC0303A2}"/>
              </a:ext>
            </a:extLst>
          </p:cNvPr>
          <p:cNvSpPr>
            <a:spLocks xmlns:a="http://schemas.openxmlformats.org/drawingml/2006/main" noGrp="1"/>
          </p:cNvSpPr>
          <p:nvPr/>
        </p:nvSpPr>
        <p:spPr>
          <a:xfrm xmlns:a="http://schemas.openxmlformats.org/drawingml/2006/main">
            <a:off x="609600" y="3429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A1F5C"/>
                </a:solidFill>
              </a:defRPr>
            </a:pPr>
            <a:r>
              <a:rPr sz="825" b="1">
                <a:solidFill>
                  <a:srgbClr val="7A1F5C"/>
                </a:solidFill>
              </a:rPr>
              <a:t>PROBLEM-STATEMENT COVERAGE</a:t>
            </a:r>
          </a:p>
        </p:txBody>
      </p:sp>
      <p:sp>
        <p:nvSpPr>
          <p:cNvPr id="2" name="">
            <a:extLst xmlns:a="http://schemas.openxmlformats.org/drawingml/2006/main">
              <a:ext uri="{FF2B5EF4-FFF2-40B4-BE49-F238E27FC236}">
                <a16:creationId xmlns:a16="http://schemas.microsoft.com/office/drawing/2014/main" id="{B7B95CFE-CA3B-4614-8A19-AEE4DFA3198A}"/>
              </a:ext>
            </a:extLst>
          </p:cNvPr>
          <p:cNvSpPr>
            <a:spLocks xmlns:a="http://schemas.openxmlformats.org/drawingml/2006/main" noGrp="1"/>
          </p:cNvSpPr>
          <p:nvPr/>
        </p:nvSpPr>
        <p:spPr>
          <a:xfrm xmlns:a="http://schemas.openxmlformats.org/drawingml/2006/main">
            <a:off x="609600" y="62865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211C27"/>
                </a:solidFill>
              </a:defRPr>
            </a:pPr>
            <a:r>
              <a:rPr sz="2550" b="1">
                <a:solidFill>
                  <a:srgbClr val="211C27"/>
                </a:solidFill>
              </a:rPr>
              <a:t>Every stated complexity has a visible response.</a:t>
            </a:r>
          </a:p>
        </p:txBody>
      </p:sp>
      <p:sp>
        <p:nvSpPr>
          <p:cNvPr id="3" name="">
            <a:extLst xmlns:a="http://schemas.openxmlformats.org/drawingml/2006/main">
              <a:ext uri="{FF2B5EF4-FFF2-40B4-BE49-F238E27FC236}">
                <a16:creationId xmlns:a16="http://schemas.microsoft.com/office/drawing/2014/main" id="{0B4E5543-79E3-49F8-9F01-ADCDF15DF7B8}"/>
              </a:ext>
            </a:extLst>
          </p:cNvPr>
          <p:cNvSpPr>
            <a:spLocks xmlns:a="http://schemas.openxmlformats.org/drawingml/2006/main" noGrp="1"/>
          </p:cNvSpPr>
          <p:nvPr/>
        </p:nvSpPr>
        <p:spPr>
          <a:xfrm xmlns:a="http://schemas.openxmlformats.org/drawingml/2006/main">
            <a:off x="609600" y="12192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5B67"/>
                </a:solidFill>
              </a:defRPr>
            </a:pPr>
            <a:r>
              <a:rPr sz="1275" b="0">
                <a:solidFill>
                  <a:srgbClr val="625B67"/>
                </a:solidFill>
              </a:rPr>
              <a:t>The proposal and prototype cover the whole brief; the center remains one coherent invention.</a:t>
            </a:r>
          </a:p>
        </p:txBody>
      </p:sp>
      <p:sp>
        <p:nvSpPr>
          <p:cNvPr id="4" name="">
            <a:extLst xmlns:a="http://schemas.openxmlformats.org/drawingml/2006/main">
              <a:ext uri="{FF2B5EF4-FFF2-40B4-BE49-F238E27FC236}">
                <a16:creationId xmlns:a16="http://schemas.microsoft.com/office/drawing/2014/main" id="{1139DFF4-2AA8-493D-BFF2-AC74C731525A}"/>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5" name="">
            <a:extLst xmlns:a="http://schemas.openxmlformats.org/drawingml/2006/main">
              <a:ext uri="{FF2B5EF4-FFF2-40B4-BE49-F238E27FC236}">
                <a16:creationId xmlns:a16="http://schemas.microsoft.com/office/drawing/2014/main" id="{1213D0BC-FF6C-4D72-B5EB-8EEAC7C07960}"/>
              </a:ext>
            </a:extLst>
          </p:cNvPr>
          <p:cNvSpPr>
            <a:spLocks xmlns:a="http://schemas.openxmlformats.org/drawingml/2006/main" noGrp="1"/>
          </p:cNvSpPr>
          <p:nvPr/>
        </p:nvSpPr>
        <p:spPr>
          <a:xfrm xmlns:a="http://schemas.openxmlformats.org/drawingml/2006/main">
            <a:off x="609600" y="6581775"/>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625B67"/>
                </a:solidFill>
              </a:defRPr>
            </a:pPr>
            <a:r>
              <a:rPr sz="675" b="0">
                <a:solidFill>
                  <a:srgbClr val="625B67"/>
                </a:solidFill>
              </a:rPr>
              <a:t>Synthetic decision-support prototype — not validated for clinical use</a:t>
            </a:r>
          </a:p>
        </p:txBody>
      </p:sp>
      <p:sp>
        <p:nvSpPr>
          <p:cNvPr id="6" name="">
            <a:extLst xmlns:a="http://schemas.openxmlformats.org/drawingml/2006/main">
              <a:ext uri="{FF2B5EF4-FFF2-40B4-BE49-F238E27FC236}">
                <a16:creationId xmlns:a16="http://schemas.microsoft.com/office/drawing/2014/main" id="{296A3861-CB37-401C-8A74-ACA6D8DD735F}"/>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625B67"/>
                </a:solidFill>
              </a:defRPr>
            </a:pPr>
            <a:r>
              <a:rPr sz="750" b="1">
                <a:solidFill>
                  <a:srgbClr val="625B67"/>
                </a:solidFill>
              </a:rPr>
              <a:t>11</a:t>
            </a:r>
          </a:p>
        </p:txBody>
      </p:sp>
      <p:sp>
        <p:nvSpPr>
          <p:cNvPr id="7" name="">
            <a:extLst xmlns:a="http://schemas.openxmlformats.org/drawingml/2006/main">
              <a:ext uri="{FF2B5EF4-FFF2-40B4-BE49-F238E27FC236}">
                <a16:creationId xmlns:a16="http://schemas.microsoft.com/office/drawing/2014/main" id="{6BF35A85-A0CF-418D-BE66-DB4AAD76173F}"/>
              </a:ext>
            </a:extLst>
          </p:cNvPr>
          <p:cNvSpPr>
            <a:spLocks xmlns:a="http://schemas.openxmlformats.org/drawingml/2006/main" noGrp="1"/>
          </p:cNvSpPr>
          <p:nvPr/>
        </p:nvSpPr>
        <p:spPr>
          <a:xfrm xmlns:a="http://schemas.openxmlformats.org/drawingml/2006/main">
            <a:off x="685800" y="2076450"/>
            <a:ext cx="1981200" cy="3257550"/>
          </a:xfrm>
          <a:prstGeom xmlns:a="http://schemas.openxmlformats.org/drawingml/2006/main" prst="roundRect">
            <a:avLst>
              <a:gd name="adj" fmla="val 8654"/>
            </a:avLst>
          </a:prstGeom>
          <a:solidFill xmlns:a="http://schemas.openxmlformats.org/drawingml/2006/main">
            <a:srgbClr val="FEECE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F202CEB-9017-449D-BA9B-E8E44276B95E}"/>
              </a:ext>
            </a:extLst>
          </p:cNvPr>
          <p:cNvSpPr>
            <a:spLocks xmlns:a="http://schemas.openxmlformats.org/drawingml/2006/main" noGrp="1"/>
          </p:cNvSpPr>
          <p:nvPr/>
        </p:nvSpPr>
        <p:spPr>
          <a:xfrm xmlns:a="http://schemas.openxmlformats.org/drawingml/2006/main">
            <a:off x="876300" y="23241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B42318"/>
                </a:solidFill>
              </a:defRPr>
            </a:pPr>
            <a:r>
              <a:rPr sz="900" b="1">
                <a:solidFill>
                  <a:srgbClr val="B42318"/>
                </a:solidFill>
              </a:rPr>
              <a:t>CLINICAL</a:t>
            </a:r>
          </a:p>
        </p:txBody>
      </p:sp>
      <p:sp>
        <p:nvSpPr>
          <p:cNvPr id="9" name="">
            <a:extLst xmlns:a="http://schemas.openxmlformats.org/drawingml/2006/main">
              <a:ext uri="{FF2B5EF4-FFF2-40B4-BE49-F238E27FC236}">
                <a16:creationId xmlns:a16="http://schemas.microsoft.com/office/drawing/2014/main" id="{D7423684-F585-4513-98A4-A6905C8B3350}"/>
              </a:ext>
            </a:extLst>
          </p:cNvPr>
          <p:cNvSpPr>
            <a:spLocks xmlns:a="http://schemas.openxmlformats.org/drawingml/2006/main" noGrp="1"/>
          </p:cNvSpPr>
          <p:nvPr/>
        </p:nvSpPr>
        <p:spPr>
          <a:xfrm xmlns:a="http://schemas.openxmlformats.org/drawingml/2006/main">
            <a:off x="876300" y="2724150"/>
            <a:ext cx="1600200" cy="0"/>
          </a:xfrm>
          <a:prstGeom xmlns:a="http://schemas.openxmlformats.org/drawingml/2006/main" prst="line">
            <a:avLst/>
          </a:prstGeom>
          <a:noFill xmlns:a="http://schemas.openxmlformats.org/drawingml/2006/main"/>
          <a:ln xmlns:a="http://schemas.openxmlformats.org/drawingml/2006/main" w="19050">
            <a:solidFill>
              <a:srgbClr val="B42318"/>
            </a:solidFill>
            <a:prstDash val="solid"/>
          </a:ln>
        </p:spPr>
      </p:sp>
      <p:sp>
        <p:nvSpPr>
          <p:cNvPr id="10" name="">
            <a:extLst xmlns:a="http://schemas.openxmlformats.org/drawingml/2006/main">
              <a:ext uri="{FF2B5EF4-FFF2-40B4-BE49-F238E27FC236}">
                <a16:creationId xmlns:a16="http://schemas.microsoft.com/office/drawing/2014/main" id="{53DC2AEF-2418-431D-A7AB-045BF123F983}"/>
              </a:ext>
            </a:extLst>
          </p:cNvPr>
          <p:cNvSpPr>
            <a:spLocks xmlns:a="http://schemas.openxmlformats.org/drawingml/2006/main" noGrp="1"/>
          </p:cNvSpPr>
          <p:nvPr/>
        </p:nvSpPr>
        <p:spPr>
          <a:xfrm xmlns:a="http://schemas.openxmlformats.org/drawingml/2006/main">
            <a:off x="876300" y="2971800"/>
            <a:ext cx="16002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11C27"/>
                </a:solidFill>
              </a:defRPr>
            </a:pPr>
            <a:r>
              <a:rPr sz="1200" b="1">
                <a:solidFill>
                  <a:srgbClr val="211C27"/>
                </a:solidFill>
              </a:rPr>
              <a:t>Ambiguity</a:t>
            </a:r>
          </a:p>
          <a:p xmlns:a="http://schemas.openxmlformats.org/drawingml/2006/main">
            <a:pPr algn="l">
              <a:defRPr sz="1200" b="1">
                <a:solidFill>
                  <a:srgbClr val="211C27"/>
                </a:solidFill>
              </a:defRPr>
            </a:pPr>
            <a:r>
              <a:rPr sz="1200" b="1">
                <a:solidFill>
                  <a:srgbClr val="211C27"/>
                </a:solidFill>
              </a:rPr>
              <a:t>Under-reporting</a:t>
            </a:r>
          </a:p>
          <a:p xmlns:a="http://schemas.openxmlformats.org/drawingml/2006/main">
            <a:pPr algn="l">
              <a:defRPr sz="1200" b="1">
                <a:solidFill>
                  <a:srgbClr val="211C27"/>
                </a:solidFill>
              </a:defRPr>
            </a:pPr>
            <a:r>
              <a:rPr sz="1200" b="1">
                <a:solidFill>
                  <a:srgbClr val="211C27"/>
                </a:solidFill>
              </a:rPr>
              <a:t>Age bands</a:t>
            </a:r>
          </a:p>
          <a:p xmlns:a="http://schemas.openxmlformats.org/drawingml/2006/main">
            <a:pPr algn="l">
              <a:defRPr sz="1200" b="1">
                <a:solidFill>
                  <a:srgbClr val="211C27"/>
                </a:solidFill>
              </a:defRPr>
            </a:pPr>
            <a:r>
              <a:rPr sz="1200" b="1">
                <a:solidFill>
                  <a:srgbClr val="211C27"/>
                </a:solidFill>
              </a:rPr>
              <a:t>Zero history</a:t>
            </a:r>
          </a:p>
        </p:txBody>
      </p:sp>
      <p:sp>
        <p:nvSpPr>
          <p:cNvPr id="11" name="">
            <a:extLst xmlns:a="http://schemas.openxmlformats.org/drawingml/2006/main">
              <a:ext uri="{FF2B5EF4-FFF2-40B4-BE49-F238E27FC236}">
                <a16:creationId xmlns:a16="http://schemas.microsoft.com/office/drawing/2014/main" id="{411D5C6E-51F7-4601-AF58-F613FF9C7901}"/>
              </a:ext>
            </a:extLst>
          </p:cNvPr>
          <p:cNvSpPr>
            <a:spLocks xmlns:a="http://schemas.openxmlformats.org/drawingml/2006/main" noGrp="1"/>
          </p:cNvSpPr>
          <p:nvPr/>
        </p:nvSpPr>
        <p:spPr>
          <a:xfrm xmlns:a="http://schemas.openxmlformats.org/drawingml/2006/main">
            <a:off x="1009650" y="4819650"/>
            <a:ext cx="1333500" cy="266700"/>
          </a:xfrm>
          <a:prstGeom xmlns:a="http://schemas.openxmlformats.org/drawingml/2006/main" prst="roundRect">
            <a:avLst>
              <a:gd name="adj" fmla="val 50000"/>
            </a:avLst>
          </a:prstGeom>
          <a:solidFill xmlns:a="http://schemas.openxmlformats.org/drawingml/2006/main">
            <a:srgbClr val="FEECEB"/>
          </a:solidFill>
          <a:ln xmlns:a="http://schemas.openxmlformats.org/drawingml/2006/main" w="9525">
            <a:solidFill>
              <a:srgbClr val="B42318"/>
            </a:solidFill>
            <a:prstDash val="solid"/>
          </a:ln>
        </p:spPr>
        <p:txBody>
          <a:bodyPr xmlns:a="http://schemas.openxmlformats.org/drawingml/2006/main"/>
          <a:lstStyle xmlns:a="http://schemas.openxmlformats.org/drawingml/2006/main"/>
          <a:p xmlns:a="http://schemas.openxmlformats.org/drawingml/2006/main">
            <a:pPr algn="ctr">
              <a:defRPr sz="825" b="1">
                <a:solidFill>
                  <a:srgbClr val="B42318"/>
                </a:solidFill>
              </a:defRPr>
            </a:pPr>
            <a:r>
              <a:rPr sz="825" b="1">
                <a:solidFill>
                  <a:srgbClr val="B42318"/>
                </a:solidFill>
              </a:rPr>
              <a:t>COVERED</a:t>
            </a:r>
          </a:p>
        </p:txBody>
      </p:sp>
      <p:sp>
        <p:nvSpPr>
          <p:cNvPr id="12" name="">
            <a:extLst xmlns:a="http://schemas.openxmlformats.org/drawingml/2006/main">
              <a:ext uri="{FF2B5EF4-FFF2-40B4-BE49-F238E27FC236}">
                <a16:creationId xmlns:a16="http://schemas.microsoft.com/office/drawing/2014/main" id="{961E5003-B6F7-48A8-B63F-DE2CB8D4C25A}"/>
              </a:ext>
            </a:extLst>
          </p:cNvPr>
          <p:cNvSpPr>
            <a:spLocks xmlns:a="http://schemas.openxmlformats.org/drawingml/2006/main" noGrp="1"/>
          </p:cNvSpPr>
          <p:nvPr/>
        </p:nvSpPr>
        <p:spPr>
          <a:xfrm xmlns:a="http://schemas.openxmlformats.org/drawingml/2006/main">
            <a:off x="2876550" y="2076450"/>
            <a:ext cx="1981200" cy="3257550"/>
          </a:xfrm>
          <a:prstGeom xmlns:a="http://schemas.openxmlformats.org/drawingml/2006/main" prst="roundRect">
            <a:avLst>
              <a:gd name="adj" fmla="val 8654"/>
            </a:avLst>
          </a:prstGeom>
          <a:solidFill xmlns:a="http://schemas.openxmlformats.org/drawingml/2006/main">
            <a:srgbClr val="EEF5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F03E1DE-8235-4DF3-9BB1-8FEBA123F98F}"/>
              </a:ext>
            </a:extLst>
          </p:cNvPr>
          <p:cNvSpPr>
            <a:spLocks xmlns:a="http://schemas.openxmlformats.org/drawingml/2006/main" noGrp="1"/>
          </p:cNvSpPr>
          <p:nvPr/>
        </p:nvSpPr>
        <p:spPr>
          <a:xfrm xmlns:a="http://schemas.openxmlformats.org/drawingml/2006/main">
            <a:off x="3067050" y="23241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3267A8"/>
                </a:solidFill>
              </a:defRPr>
            </a:pPr>
            <a:r>
              <a:rPr sz="900" b="1">
                <a:solidFill>
                  <a:srgbClr val="3267A8"/>
                </a:solidFill>
              </a:rPr>
              <a:t>DATA + AI</a:t>
            </a:r>
          </a:p>
        </p:txBody>
      </p:sp>
      <p:sp>
        <p:nvSpPr>
          <p:cNvPr id="14" name="">
            <a:extLst xmlns:a="http://schemas.openxmlformats.org/drawingml/2006/main">
              <a:ext uri="{FF2B5EF4-FFF2-40B4-BE49-F238E27FC236}">
                <a16:creationId xmlns:a16="http://schemas.microsoft.com/office/drawing/2014/main" id="{C35E0DCF-FB52-4788-B55F-017F3B01776E}"/>
              </a:ext>
            </a:extLst>
          </p:cNvPr>
          <p:cNvSpPr>
            <a:spLocks xmlns:a="http://schemas.openxmlformats.org/drawingml/2006/main" noGrp="1"/>
          </p:cNvSpPr>
          <p:nvPr/>
        </p:nvSpPr>
        <p:spPr>
          <a:xfrm xmlns:a="http://schemas.openxmlformats.org/drawingml/2006/main">
            <a:off x="3067050" y="2724150"/>
            <a:ext cx="1600200" cy="0"/>
          </a:xfrm>
          <a:prstGeom xmlns:a="http://schemas.openxmlformats.org/drawingml/2006/main" prst="line">
            <a:avLst/>
          </a:prstGeom>
          <a:noFill xmlns:a="http://schemas.openxmlformats.org/drawingml/2006/main"/>
          <a:ln xmlns:a="http://schemas.openxmlformats.org/drawingml/2006/main" w="19050">
            <a:solidFill>
              <a:srgbClr val="3267A8"/>
            </a:solidFill>
            <a:prstDash val="solid"/>
          </a:ln>
        </p:spPr>
      </p:sp>
      <p:sp>
        <p:nvSpPr>
          <p:cNvPr id="15" name="">
            <a:extLst xmlns:a="http://schemas.openxmlformats.org/drawingml/2006/main">
              <a:ext uri="{FF2B5EF4-FFF2-40B4-BE49-F238E27FC236}">
                <a16:creationId xmlns:a16="http://schemas.microsoft.com/office/drawing/2014/main" id="{650A2455-7A83-4C13-92FD-054660A2E4B4}"/>
              </a:ext>
            </a:extLst>
          </p:cNvPr>
          <p:cNvSpPr>
            <a:spLocks xmlns:a="http://schemas.openxmlformats.org/drawingml/2006/main" noGrp="1"/>
          </p:cNvSpPr>
          <p:nvPr/>
        </p:nvSpPr>
        <p:spPr>
          <a:xfrm xmlns:a="http://schemas.openxmlformats.org/drawingml/2006/main">
            <a:off x="3067050" y="2971800"/>
            <a:ext cx="16002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11C27"/>
                </a:solidFill>
              </a:defRPr>
            </a:pPr>
            <a:r>
              <a:rPr sz="1200" b="1">
                <a:solidFill>
                  <a:srgbClr val="211C27"/>
                </a:solidFill>
              </a:rPr>
              <a:t>Mixed intake</a:t>
            </a:r>
          </a:p>
          <a:p xmlns:a="http://schemas.openxmlformats.org/drawingml/2006/main">
            <a:pPr algn="l">
              <a:defRPr sz="1200" b="1">
                <a:solidFill>
                  <a:srgbClr val="211C27"/>
                </a:solidFill>
              </a:defRPr>
            </a:pPr>
            <a:r>
              <a:rPr sz="1200" b="1">
                <a:solidFill>
                  <a:srgbClr val="211C27"/>
                </a:solidFill>
              </a:rPr>
              <a:t>Rules + model</a:t>
            </a:r>
          </a:p>
          <a:p xmlns:a="http://schemas.openxmlformats.org/drawingml/2006/main">
            <a:pPr algn="l">
              <a:defRPr sz="1200" b="1">
                <a:solidFill>
                  <a:srgbClr val="211C27"/>
                </a:solidFill>
              </a:defRPr>
            </a:pPr>
            <a:r>
              <a:rPr sz="1200" b="1">
                <a:solidFill>
                  <a:srgbClr val="211C27"/>
                </a:solidFill>
              </a:rPr>
              <a:t>Confidence</a:t>
            </a:r>
          </a:p>
          <a:p xmlns:a="http://schemas.openxmlformats.org/drawingml/2006/main">
            <a:pPr algn="l">
              <a:defRPr sz="1200" b="1">
                <a:solidFill>
                  <a:srgbClr val="211C27"/>
                </a:solidFill>
              </a:defRPr>
            </a:pPr>
            <a:r>
              <a:rPr sz="1200" b="1">
                <a:solidFill>
                  <a:srgbClr val="211C27"/>
                </a:solidFill>
              </a:rPr>
              <a:t>Fail-safe defaults</a:t>
            </a:r>
          </a:p>
        </p:txBody>
      </p:sp>
      <p:sp>
        <p:nvSpPr>
          <p:cNvPr id="16" name="">
            <a:extLst xmlns:a="http://schemas.openxmlformats.org/drawingml/2006/main">
              <a:ext uri="{FF2B5EF4-FFF2-40B4-BE49-F238E27FC236}">
                <a16:creationId xmlns:a16="http://schemas.microsoft.com/office/drawing/2014/main" id="{720FC11F-E8D6-4AFA-AD1A-DD2F2A40E2B8}"/>
              </a:ext>
            </a:extLst>
          </p:cNvPr>
          <p:cNvSpPr>
            <a:spLocks xmlns:a="http://schemas.openxmlformats.org/drawingml/2006/main" noGrp="1"/>
          </p:cNvSpPr>
          <p:nvPr/>
        </p:nvSpPr>
        <p:spPr>
          <a:xfrm xmlns:a="http://schemas.openxmlformats.org/drawingml/2006/main">
            <a:off x="3200400" y="4819650"/>
            <a:ext cx="1333500" cy="266700"/>
          </a:xfrm>
          <a:prstGeom xmlns:a="http://schemas.openxmlformats.org/drawingml/2006/main" prst="roundRect">
            <a:avLst>
              <a:gd name="adj" fmla="val 50000"/>
            </a:avLst>
          </a:prstGeom>
          <a:solidFill xmlns:a="http://schemas.openxmlformats.org/drawingml/2006/main">
            <a:srgbClr val="EEF5FC"/>
          </a:solidFill>
          <a:ln xmlns:a="http://schemas.openxmlformats.org/drawingml/2006/main" w="9525">
            <a:solidFill>
              <a:srgbClr val="3267A8"/>
            </a:solidFill>
            <a:prstDash val="solid"/>
          </a:ln>
        </p:spPr>
        <p:txBody>
          <a:bodyPr xmlns:a="http://schemas.openxmlformats.org/drawingml/2006/main"/>
          <a:lstStyle xmlns:a="http://schemas.openxmlformats.org/drawingml/2006/main"/>
          <a:p xmlns:a="http://schemas.openxmlformats.org/drawingml/2006/main">
            <a:pPr algn="ctr">
              <a:defRPr sz="825" b="1">
                <a:solidFill>
                  <a:srgbClr val="3267A8"/>
                </a:solidFill>
              </a:defRPr>
            </a:pPr>
            <a:r>
              <a:rPr sz="825" b="1">
                <a:solidFill>
                  <a:srgbClr val="3267A8"/>
                </a:solidFill>
              </a:rPr>
              <a:t>COVERED</a:t>
            </a:r>
          </a:p>
        </p:txBody>
      </p:sp>
      <p:sp>
        <p:nvSpPr>
          <p:cNvPr id="17" name="">
            <a:extLst xmlns:a="http://schemas.openxmlformats.org/drawingml/2006/main">
              <a:ext uri="{FF2B5EF4-FFF2-40B4-BE49-F238E27FC236}">
                <a16:creationId xmlns:a16="http://schemas.microsoft.com/office/drawing/2014/main" id="{21A088BD-3AD0-4CD8-8FA7-3695892DE598}"/>
              </a:ext>
            </a:extLst>
          </p:cNvPr>
          <p:cNvSpPr>
            <a:spLocks xmlns:a="http://schemas.openxmlformats.org/drawingml/2006/main" noGrp="1"/>
          </p:cNvSpPr>
          <p:nvPr/>
        </p:nvSpPr>
        <p:spPr>
          <a:xfrm xmlns:a="http://schemas.openxmlformats.org/drawingml/2006/main">
            <a:off x="5067300" y="2076450"/>
            <a:ext cx="1981200" cy="3257550"/>
          </a:xfrm>
          <a:prstGeom xmlns:a="http://schemas.openxmlformats.org/drawingml/2006/main" prst="roundRect">
            <a:avLst>
              <a:gd name="adj" fmla="val 8654"/>
            </a:avLst>
          </a:prstGeom>
          <a:solidFill xmlns:a="http://schemas.openxmlformats.org/drawingml/2006/main">
            <a:srgbClr val="F7EEF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0049A8B-C088-40CE-BBE5-A9BC58058238}"/>
              </a:ext>
            </a:extLst>
          </p:cNvPr>
          <p:cNvSpPr>
            <a:spLocks xmlns:a="http://schemas.openxmlformats.org/drawingml/2006/main" noGrp="1"/>
          </p:cNvSpPr>
          <p:nvPr/>
        </p:nvSpPr>
        <p:spPr>
          <a:xfrm xmlns:a="http://schemas.openxmlformats.org/drawingml/2006/main">
            <a:off x="5257800" y="23241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1F5C"/>
                </a:solidFill>
              </a:defRPr>
            </a:pPr>
            <a:r>
              <a:rPr sz="900" b="1">
                <a:solidFill>
                  <a:srgbClr val="7A1F5C"/>
                </a:solidFill>
              </a:rPr>
              <a:t>OPERATIONS</a:t>
            </a:r>
          </a:p>
        </p:txBody>
      </p:sp>
      <p:sp>
        <p:nvSpPr>
          <p:cNvPr id="19" name="">
            <a:extLst xmlns:a="http://schemas.openxmlformats.org/drawingml/2006/main">
              <a:ext uri="{FF2B5EF4-FFF2-40B4-BE49-F238E27FC236}">
                <a16:creationId xmlns:a16="http://schemas.microsoft.com/office/drawing/2014/main" id="{79AF87BA-098F-4C8D-839F-D31809471BD8}"/>
              </a:ext>
            </a:extLst>
          </p:cNvPr>
          <p:cNvSpPr>
            <a:spLocks xmlns:a="http://schemas.openxmlformats.org/drawingml/2006/main" noGrp="1"/>
          </p:cNvSpPr>
          <p:nvPr/>
        </p:nvSpPr>
        <p:spPr>
          <a:xfrm xmlns:a="http://schemas.openxmlformats.org/drawingml/2006/main">
            <a:off x="5257800" y="2724150"/>
            <a:ext cx="1600200" cy="0"/>
          </a:xfrm>
          <a:prstGeom xmlns:a="http://schemas.openxmlformats.org/drawingml/2006/main" prst="line">
            <a:avLst/>
          </a:prstGeom>
          <a:noFill xmlns:a="http://schemas.openxmlformats.org/drawingml/2006/main"/>
          <a:ln xmlns:a="http://schemas.openxmlformats.org/drawingml/2006/main" w="19050">
            <a:solidFill>
              <a:srgbClr val="7A1F5C"/>
            </a:solidFill>
            <a:prstDash val="solid"/>
          </a:ln>
        </p:spPr>
      </p:sp>
      <p:sp>
        <p:nvSpPr>
          <p:cNvPr id="20" name="">
            <a:extLst xmlns:a="http://schemas.openxmlformats.org/drawingml/2006/main">
              <a:ext uri="{FF2B5EF4-FFF2-40B4-BE49-F238E27FC236}">
                <a16:creationId xmlns:a16="http://schemas.microsoft.com/office/drawing/2014/main" id="{6703B214-8CFC-4FD0-BCD4-EAD73305829C}"/>
              </a:ext>
            </a:extLst>
          </p:cNvPr>
          <p:cNvSpPr>
            <a:spLocks xmlns:a="http://schemas.openxmlformats.org/drawingml/2006/main" noGrp="1"/>
          </p:cNvSpPr>
          <p:nvPr/>
        </p:nvSpPr>
        <p:spPr>
          <a:xfrm xmlns:a="http://schemas.openxmlformats.org/drawingml/2006/main">
            <a:off x="5257800" y="2971800"/>
            <a:ext cx="16002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11C27"/>
                </a:solidFill>
              </a:defRPr>
            </a:pPr>
            <a:r>
              <a:rPr sz="1200" b="1">
                <a:solidFill>
                  <a:srgbClr val="211C27"/>
                </a:solidFill>
              </a:rPr>
              <a:t>100–550/day</a:t>
            </a:r>
          </a:p>
          <a:p xmlns:a="http://schemas.openxmlformats.org/drawingml/2006/main">
            <a:pPr algn="l">
              <a:defRPr sz="1200" b="1">
                <a:solidFill>
                  <a:srgbClr val="211C27"/>
                </a:solidFill>
              </a:defRPr>
            </a:pPr>
            <a:r>
              <a:rPr sz="1200" b="1">
                <a:solidFill>
                  <a:srgbClr val="211C27"/>
                </a:solidFill>
              </a:rPr>
              <a:t>3× surge</a:t>
            </a:r>
          </a:p>
          <a:p xmlns:a="http://schemas.openxmlformats.org/drawingml/2006/main">
            <a:pPr algn="l">
              <a:defRPr sz="1200" b="1">
                <a:solidFill>
                  <a:srgbClr val="211C27"/>
                </a:solidFill>
              </a:defRPr>
            </a:pPr>
            <a:r>
              <a:rPr sz="1200" b="1">
                <a:solidFill>
                  <a:srgbClr val="211C27"/>
                </a:solidFill>
              </a:rPr>
              <a:t>Queue feasibility</a:t>
            </a:r>
          </a:p>
          <a:p xmlns:a="http://schemas.openxmlformats.org/drawingml/2006/main">
            <a:pPr algn="l">
              <a:defRPr sz="1200" b="1">
                <a:solidFill>
                  <a:srgbClr val="211C27"/>
                </a:solidFill>
              </a:defRPr>
            </a:pPr>
            <a:r>
              <a:rPr sz="1200" b="1">
                <a:solidFill>
                  <a:srgbClr val="211C27"/>
                </a:solidFill>
              </a:rPr>
              <a:t>Fairness guardrail</a:t>
            </a:r>
          </a:p>
        </p:txBody>
      </p:sp>
      <p:sp>
        <p:nvSpPr>
          <p:cNvPr id="21" name="">
            <a:extLst xmlns:a="http://schemas.openxmlformats.org/drawingml/2006/main">
              <a:ext uri="{FF2B5EF4-FFF2-40B4-BE49-F238E27FC236}">
                <a16:creationId xmlns:a16="http://schemas.microsoft.com/office/drawing/2014/main" id="{7FEB0D4D-64B3-4EEB-B235-6D1FDE0737C8}"/>
              </a:ext>
            </a:extLst>
          </p:cNvPr>
          <p:cNvSpPr>
            <a:spLocks xmlns:a="http://schemas.openxmlformats.org/drawingml/2006/main" noGrp="1"/>
          </p:cNvSpPr>
          <p:nvPr/>
        </p:nvSpPr>
        <p:spPr>
          <a:xfrm xmlns:a="http://schemas.openxmlformats.org/drawingml/2006/main">
            <a:off x="5391150" y="4819650"/>
            <a:ext cx="1333500" cy="266700"/>
          </a:xfrm>
          <a:prstGeom xmlns:a="http://schemas.openxmlformats.org/drawingml/2006/main" prst="roundRect">
            <a:avLst>
              <a:gd name="adj" fmla="val 50000"/>
            </a:avLst>
          </a:prstGeom>
          <a:solidFill xmlns:a="http://schemas.openxmlformats.org/drawingml/2006/main">
            <a:srgbClr val="F7EEF4"/>
          </a:solidFill>
          <a:ln xmlns:a="http://schemas.openxmlformats.org/drawingml/2006/main" w="9525">
            <a:solidFill>
              <a:srgbClr val="7A1F5C"/>
            </a:solidFill>
            <a:prstDash val="solid"/>
          </a:ln>
        </p:spPr>
        <p:txBody>
          <a:bodyPr xmlns:a="http://schemas.openxmlformats.org/drawingml/2006/main"/>
          <a:lstStyle xmlns:a="http://schemas.openxmlformats.org/drawingml/2006/main"/>
          <a:p xmlns:a="http://schemas.openxmlformats.org/drawingml/2006/main">
            <a:pPr algn="ctr">
              <a:defRPr sz="825" b="1">
                <a:solidFill>
                  <a:srgbClr val="7A1F5C"/>
                </a:solidFill>
              </a:defRPr>
            </a:pPr>
            <a:r>
              <a:rPr sz="825" b="1">
                <a:solidFill>
                  <a:srgbClr val="7A1F5C"/>
                </a:solidFill>
              </a:rPr>
              <a:t>COVERED</a:t>
            </a:r>
          </a:p>
        </p:txBody>
      </p:sp>
      <p:sp>
        <p:nvSpPr>
          <p:cNvPr id="22" name="">
            <a:extLst xmlns:a="http://schemas.openxmlformats.org/drawingml/2006/main">
              <a:ext uri="{FF2B5EF4-FFF2-40B4-BE49-F238E27FC236}">
                <a16:creationId xmlns:a16="http://schemas.microsoft.com/office/drawing/2014/main" id="{B8457310-E218-4CC6-BEAC-0B4DC6A314E5}"/>
              </a:ext>
            </a:extLst>
          </p:cNvPr>
          <p:cNvSpPr>
            <a:spLocks xmlns:a="http://schemas.openxmlformats.org/drawingml/2006/main" noGrp="1"/>
          </p:cNvSpPr>
          <p:nvPr/>
        </p:nvSpPr>
        <p:spPr>
          <a:xfrm xmlns:a="http://schemas.openxmlformats.org/drawingml/2006/main">
            <a:off x="7258050" y="2076450"/>
            <a:ext cx="1981200" cy="3257550"/>
          </a:xfrm>
          <a:prstGeom xmlns:a="http://schemas.openxmlformats.org/drawingml/2006/main" prst="roundRect">
            <a:avLst>
              <a:gd name="adj" fmla="val 8654"/>
            </a:avLst>
          </a:prstGeom>
          <a:solidFill xmlns:a="http://schemas.openxmlformats.org/drawingml/2006/main">
            <a:srgbClr val="EAF7F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CEB13E8-37D7-4B8A-9901-176B9EADFBE4}"/>
              </a:ext>
            </a:extLst>
          </p:cNvPr>
          <p:cNvSpPr>
            <a:spLocks xmlns:a="http://schemas.openxmlformats.org/drawingml/2006/main" noGrp="1"/>
          </p:cNvSpPr>
          <p:nvPr/>
        </p:nvSpPr>
        <p:spPr>
          <a:xfrm xmlns:a="http://schemas.openxmlformats.org/drawingml/2006/main">
            <a:off x="7448550" y="23241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197A55"/>
                </a:solidFill>
              </a:defRPr>
            </a:pPr>
            <a:r>
              <a:rPr sz="900" b="1">
                <a:solidFill>
                  <a:srgbClr val="197A55"/>
                </a:solidFill>
              </a:rPr>
              <a:t>HUMAN</a:t>
            </a:r>
          </a:p>
        </p:txBody>
      </p:sp>
      <p:sp>
        <p:nvSpPr>
          <p:cNvPr id="24" name="">
            <a:extLst xmlns:a="http://schemas.openxmlformats.org/drawingml/2006/main">
              <a:ext uri="{FF2B5EF4-FFF2-40B4-BE49-F238E27FC236}">
                <a16:creationId xmlns:a16="http://schemas.microsoft.com/office/drawing/2014/main" id="{D0E9E65F-5A57-4118-8B59-5B469ED09433}"/>
              </a:ext>
            </a:extLst>
          </p:cNvPr>
          <p:cNvSpPr>
            <a:spLocks xmlns:a="http://schemas.openxmlformats.org/drawingml/2006/main" noGrp="1"/>
          </p:cNvSpPr>
          <p:nvPr/>
        </p:nvSpPr>
        <p:spPr>
          <a:xfrm xmlns:a="http://schemas.openxmlformats.org/drawingml/2006/main">
            <a:off x="7448550" y="2724150"/>
            <a:ext cx="1600200" cy="0"/>
          </a:xfrm>
          <a:prstGeom xmlns:a="http://schemas.openxmlformats.org/drawingml/2006/main" prst="line">
            <a:avLst/>
          </a:prstGeom>
          <a:noFill xmlns:a="http://schemas.openxmlformats.org/drawingml/2006/main"/>
          <a:ln xmlns:a="http://schemas.openxmlformats.org/drawingml/2006/main" w="19050">
            <a:solidFill>
              <a:srgbClr val="197A55"/>
            </a:solidFill>
            <a:prstDash val="solid"/>
          </a:ln>
        </p:spPr>
      </p:sp>
      <p:sp>
        <p:nvSpPr>
          <p:cNvPr id="25" name="">
            <a:extLst xmlns:a="http://schemas.openxmlformats.org/drawingml/2006/main">
              <a:ext uri="{FF2B5EF4-FFF2-40B4-BE49-F238E27FC236}">
                <a16:creationId xmlns:a16="http://schemas.microsoft.com/office/drawing/2014/main" id="{8B75AEDF-1D7E-49B7-BD1E-3E69A9EAEF44}"/>
              </a:ext>
            </a:extLst>
          </p:cNvPr>
          <p:cNvSpPr>
            <a:spLocks xmlns:a="http://schemas.openxmlformats.org/drawingml/2006/main" noGrp="1"/>
          </p:cNvSpPr>
          <p:nvPr/>
        </p:nvSpPr>
        <p:spPr>
          <a:xfrm xmlns:a="http://schemas.openxmlformats.org/drawingml/2006/main">
            <a:off x="7448550" y="2971800"/>
            <a:ext cx="16002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11C27"/>
                </a:solidFill>
              </a:defRPr>
            </a:pPr>
            <a:r>
              <a:rPr sz="1200" b="1">
                <a:solidFill>
                  <a:srgbClr val="211C27"/>
                </a:solidFill>
              </a:rPr>
              <a:t>Explain in seconds</a:t>
            </a:r>
          </a:p>
          <a:p xmlns:a="http://schemas.openxmlformats.org/drawingml/2006/main">
            <a:pPr algn="l">
              <a:defRPr sz="1200" b="1">
                <a:solidFill>
                  <a:srgbClr val="211C27"/>
                </a:solidFill>
              </a:defRPr>
            </a:pPr>
            <a:r>
              <a:rPr sz="1200" b="1">
                <a:solidFill>
                  <a:srgbClr val="211C27"/>
                </a:solidFill>
              </a:rPr>
              <a:t>Review + override</a:t>
            </a:r>
          </a:p>
          <a:p xmlns:a="http://schemas.openxmlformats.org/drawingml/2006/main">
            <a:pPr algn="l">
              <a:defRPr sz="1200" b="1">
                <a:solidFill>
                  <a:srgbClr val="211C27"/>
                </a:solidFill>
              </a:defRPr>
            </a:pPr>
            <a:r>
              <a:rPr sz="1200" b="1">
                <a:solidFill>
                  <a:srgbClr val="211C27"/>
                </a:solidFill>
              </a:rPr>
              <a:t>Audit trail</a:t>
            </a:r>
          </a:p>
          <a:p xmlns:a="http://schemas.openxmlformats.org/drawingml/2006/main">
            <a:pPr algn="l">
              <a:defRPr sz="1200" b="1">
                <a:solidFill>
                  <a:srgbClr val="211C27"/>
                </a:solidFill>
              </a:defRPr>
            </a:pPr>
            <a:r>
              <a:rPr sz="1200" b="1">
                <a:solidFill>
                  <a:srgbClr val="211C27"/>
                </a:solidFill>
              </a:rPr>
              <a:t>Adoption</a:t>
            </a:r>
          </a:p>
        </p:txBody>
      </p:sp>
      <p:sp>
        <p:nvSpPr>
          <p:cNvPr id="26" name="">
            <a:extLst xmlns:a="http://schemas.openxmlformats.org/drawingml/2006/main">
              <a:ext uri="{FF2B5EF4-FFF2-40B4-BE49-F238E27FC236}">
                <a16:creationId xmlns:a16="http://schemas.microsoft.com/office/drawing/2014/main" id="{07D1144B-7929-43F1-87BD-78E5EDF82D36}"/>
              </a:ext>
            </a:extLst>
          </p:cNvPr>
          <p:cNvSpPr>
            <a:spLocks xmlns:a="http://schemas.openxmlformats.org/drawingml/2006/main" noGrp="1"/>
          </p:cNvSpPr>
          <p:nvPr/>
        </p:nvSpPr>
        <p:spPr>
          <a:xfrm xmlns:a="http://schemas.openxmlformats.org/drawingml/2006/main">
            <a:off x="7581900" y="4819650"/>
            <a:ext cx="1333500" cy="266700"/>
          </a:xfrm>
          <a:prstGeom xmlns:a="http://schemas.openxmlformats.org/drawingml/2006/main" prst="roundRect">
            <a:avLst>
              <a:gd name="adj" fmla="val 50000"/>
            </a:avLst>
          </a:prstGeom>
          <a:solidFill xmlns:a="http://schemas.openxmlformats.org/drawingml/2006/main">
            <a:srgbClr val="EAF7F1"/>
          </a:solidFill>
          <a:ln xmlns:a="http://schemas.openxmlformats.org/drawingml/2006/main" w="9525">
            <a:solidFill>
              <a:srgbClr val="197A55"/>
            </a:solidFill>
            <a:prstDash val="solid"/>
          </a:ln>
        </p:spPr>
        <p:txBody>
          <a:bodyPr xmlns:a="http://schemas.openxmlformats.org/drawingml/2006/main"/>
          <a:lstStyle xmlns:a="http://schemas.openxmlformats.org/drawingml/2006/main"/>
          <a:p xmlns:a="http://schemas.openxmlformats.org/drawingml/2006/main">
            <a:pPr algn="ctr">
              <a:defRPr sz="825" b="1">
                <a:solidFill>
                  <a:srgbClr val="197A55"/>
                </a:solidFill>
              </a:defRPr>
            </a:pPr>
            <a:r>
              <a:rPr sz="825" b="1">
                <a:solidFill>
                  <a:srgbClr val="197A55"/>
                </a:solidFill>
              </a:rPr>
              <a:t>COVERED</a:t>
            </a:r>
          </a:p>
        </p:txBody>
      </p:sp>
      <p:sp>
        <p:nvSpPr>
          <p:cNvPr id="27" name="">
            <a:extLst xmlns:a="http://schemas.openxmlformats.org/drawingml/2006/main">
              <a:ext uri="{FF2B5EF4-FFF2-40B4-BE49-F238E27FC236}">
                <a16:creationId xmlns:a16="http://schemas.microsoft.com/office/drawing/2014/main" id="{C960101F-C15D-4A9C-A44B-2CF3AE777B56}"/>
              </a:ext>
            </a:extLst>
          </p:cNvPr>
          <p:cNvSpPr>
            <a:spLocks xmlns:a="http://schemas.openxmlformats.org/drawingml/2006/main" noGrp="1"/>
          </p:cNvSpPr>
          <p:nvPr/>
        </p:nvSpPr>
        <p:spPr>
          <a:xfrm xmlns:a="http://schemas.openxmlformats.org/drawingml/2006/main">
            <a:off x="9448800" y="2076450"/>
            <a:ext cx="1981200" cy="3257550"/>
          </a:xfrm>
          <a:prstGeom xmlns:a="http://schemas.openxmlformats.org/drawingml/2006/main" prst="roundRect">
            <a:avLst>
              <a:gd name="adj" fmla="val 8654"/>
            </a:avLst>
          </a:prstGeom>
          <a:solidFill xmlns:a="http://schemas.openxmlformats.org/drawingml/2006/main">
            <a:srgbClr val="FFF4D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C60316B-52B4-4317-B01B-05E6913FF96D}"/>
              </a:ext>
            </a:extLst>
          </p:cNvPr>
          <p:cNvSpPr>
            <a:spLocks xmlns:a="http://schemas.openxmlformats.org/drawingml/2006/main" noGrp="1"/>
          </p:cNvSpPr>
          <p:nvPr/>
        </p:nvSpPr>
        <p:spPr>
          <a:xfrm xmlns:a="http://schemas.openxmlformats.org/drawingml/2006/main">
            <a:off x="9639300" y="232410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A15C00"/>
                </a:solidFill>
              </a:defRPr>
            </a:pPr>
            <a:r>
              <a:rPr sz="900" b="1">
                <a:solidFill>
                  <a:srgbClr val="A15C00"/>
                </a:solidFill>
              </a:rPr>
              <a:t>SCALE + TRUST</a:t>
            </a:r>
          </a:p>
        </p:txBody>
      </p:sp>
      <p:sp>
        <p:nvSpPr>
          <p:cNvPr id="29" name="">
            <a:extLst xmlns:a="http://schemas.openxmlformats.org/drawingml/2006/main">
              <a:ext uri="{FF2B5EF4-FFF2-40B4-BE49-F238E27FC236}">
                <a16:creationId xmlns:a16="http://schemas.microsoft.com/office/drawing/2014/main" id="{BF30D4CB-0AC4-4ACC-B3AE-82EEE5DA7529}"/>
              </a:ext>
            </a:extLst>
          </p:cNvPr>
          <p:cNvSpPr>
            <a:spLocks xmlns:a="http://schemas.openxmlformats.org/drawingml/2006/main" noGrp="1"/>
          </p:cNvSpPr>
          <p:nvPr/>
        </p:nvSpPr>
        <p:spPr>
          <a:xfrm xmlns:a="http://schemas.openxmlformats.org/drawingml/2006/main">
            <a:off x="9639300" y="2724150"/>
            <a:ext cx="1600200" cy="0"/>
          </a:xfrm>
          <a:prstGeom xmlns:a="http://schemas.openxmlformats.org/drawingml/2006/main" prst="line">
            <a:avLst/>
          </a:prstGeom>
          <a:noFill xmlns:a="http://schemas.openxmlformats.org/drawingml/2006/main"/>
          <a:ln xmlns:a="http://schemas.openxmlformats.org/drawingml/2006/main" w="19050">
            <a:solidFill>
              <a:srgbClr val="A15C00"/>
            </a:solidFill>
            <a:prstDash val="solid"/>
          </a:ln>
        </p:spPr>
      </p:sp>
      <p:sp>
        <p:nvSpPr>
          <p:cNvPr id="30" name="">
            <a:extLst xmlns:a="http://schemas.openxmlformats.org/drawingml/2006/main">
              <a:ext uri="{FF2B5EF4-FFF2-40B4-BE49-F238E27FC236}">
                <a16:creationId xmlns:a16="http://schemas.microsoft.com/office/drawing/2014/main" id="{48AC5D9D-F3A3-495D-93A6-BEA2540907C9}"/>
              </a:ext>
            </a:extLst>
          </p:cNvPr>
          <p:cNvSpPr>
            <a:spLocks xmlns:a="http://schemas.openxmlformats.org/drawingml/2006/main" noGrp="1"/>
          </p:cNvSpPr>
          <p:nvPr/>
        </p:nvSpPr>
        <p:spPr>
          <a:xfrm xmlns:a="http://schemas.openxmlformats.org/drawingml/2006/main">
            <a:off x="9639300" y="2971800"/>
            <a:ext cx="16002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11C27"/>
                </a:solidFill>
              </a:defRPr>
            </a:pPr>
            <a:r>
              <a:rPr sz="1200" b="1">
                <a:solidFill>
                  <a:srgbClr val="211C27"/>
                </a:solidFill>
              </a:rPr>
              <a:t>Integration maturity</a:t>
            </a:r>
          </a:p>
          <a:p xmlns:a="http://schemas.openxmlformats.org/drawingml/2006/main">
            <a:pPr algn="l">
              <a:defRPr sz="1200" b="1">
                <a:solidFill>
                  <a:srgbClr val="211C27"/>
                </a:solidFill>
              </a:defRPr>
            </a:pPr>
            <a:r>
              <a:rPr sz="1200" b="1">
                <a:solidFill>
                  <a:srgbClr val="211C27"/>
                </a:solidFill>
              </a:rPr>
              <a:t>Privacy</a:t>
            </a:r>
          </a:p>
          <a:p xmlns:a="http://schemas.openxmlformats.org/drawingml/2006/main">
            <a:pPr algn="l">
              <a:defRPr sz="1200" b="1">
                <a:solidFill>
                  <a:srgbClr val="211C27"/>
                </a:solidFill>
              </a:defRPr>
            </a:pPr>
            <a:r>
              <a:rPr sz="1200" b="1">
                <a:solidFill>
                  <a:srgbClr val="211C27"/>
                </a:solidFill>
              </a:rPr>
              <a:t>India context</a:t>
            </a:r>
          </a:p>
          <a:p xmlns:a="http://schemas.openxmlformats.org/drawingml/2006/main">
            <a:pPr algn="l">
              <a:defRPr sz="1200" b="1">
                <a:solidFill>
                  <a:srgbClr val="211C27"/>
                </a:solidFill>
              </a:defRPr>
            </a:pPr>
            <a:r>
              <a:rPr sz="1200" b="1">
                <a:solidFill>
                  <a:srgbClr val="211C27"/>
                </a:solidFill>
              </a:rPr>
              <a:t>Scalable profiles</a:t>
            </a:r>
          </a:p>
        </p:txBody>
      </p:sp>
      <p:sp>
        <p:nvSpPr>
          <p:cNvPr id="31" name="">
            <a:extLst xmlns:a="http://schemas.openxmlformats.org/drawingml/2006/main">
              <a:ext uri="{FF2B5EF4-FFF2-40B4-BE49-F238E27FC236}">
                <a16:creationId xmlns:a16="http://schemas.microsoft.com/office/drawing/2014/main" id="{4BD83491-A1D0-49F6-AB89-A29658DAE6A1}"/>
              </a:ext>
            </a:extLst>
          </p:cNvPr>
          <p:cNvSpPr>
            <a:spLocks xmlns:a="http://schemas.openxmlformats.org/drawingml/2006/main" noGrp="1"/>
          </p:cNvSpPr>
          <p:nvPr/>
        </p:nvSpPr>
        <p:spPr>
          <a:xfrm xmlns:a="http://schemas.openxmlformats.org/drawingml/2006/main">
            <a:off x="9772650" y="4819650"/>
            <a:ext cx="1333500" cy="266700"/>
          </a:xfrm>
          <a:prstGeom xmlns:a="http://schemas.openxmlformats.org/drawingml/2006/main" prst="roundRect">
            <a:avLst>
              <a:gd name="adj" fmla="val 50000"/>
            </a:avLst>
          </a:prstGeom>
          <a:solidFill xmlns:a="http://schemas.openxmlformats.org/drawingml/2006/main">
            <a:srgbClr val="FFF4DF"/>
          </a:solidFill>
          <a:ln xmlns:a="http://schemas.openxmlformats.org/drawingml/2006/main" w="9525">
            <a:solidFill>
              <a:srgbClr val="A15C00"/>
            </a:solidFill>
            <a:prstDash val="solid"/>
          </a:ln>
        </p:spPr>
        <p:txBody>
          <a:bodyPr xmlns:a="http://schemas.openxmlformats.org/drawingml/2006/main"/>
          <a:lstStyle xmlns:a="http://schemas.openxmlformats.org/drawingml/2006/main"/>
          <a:p xmlns:a="http://schemas.openxmlformats.org/drawingml/2006/main">
            <a:pPr algn="ctr">
              <a:defRPr sz="825" b="1">
                <a:solidFill>
                  <a:srgbClr val="A15C00"/>
                </a:solidFill>
              </a:defRPr>
            </a:pPr>
            <a:r>
              <a:rPr sz="825" b="1">
                <a:solidFill>
                  <a:srgbClr val="A15C00"/>
                </a:solidFill>
              </a:rPr>
              <a:t>COVERED</a:t>
            </a:r>
          </a:p>
        </p:txBody>
      </p:sp>
      <p:sp>
        <p:nvSpPr>
          <p:cNvPr id="32" name="">
            <a:extLst xmlns:a="http://schemas.openxmlformats.org/drawingml/2006/main">
              <a:ext uri="{FF2B5EF4-FFF2-40B4-BE49-F238E27FC236}">
                <a16:creationId xmlns:a16="http://schemas.microsoft.com/office/drawing/2014/main" id="{33AF2A1A-B7FB-406C-831D-E1AC3B8706E0}"/>
              </a:ext>
            </a:extLst>
          </p:cNvPr>
          <p:cNvSpPr>
            <a:spLocks xmlns:a="http://schemas.openxmlformats.org/drawingml/2006/main" noGrp="1"/>
          </p:cNvSpPr>
          <p:nvPr/>
        </p:nvSpPr>
        <p:spPr>
          <a:xfrm xmlns:a="http://schemas.openxmlformats.org/drawingml/2006/main">
            <a:off x="685800" y="5657850"/>
            <a:ext cx="1082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0">
                <a:solidFill>
                  <a:srgbClr val="625B67"/>
                </a:solidFill>
              </a:defRPr>
            </a:pPr>
            <a:r>
              <a:rPr sz="975" b="0">
                <a:solidFill>
                  <a:srgbClr val="625B67"/>
                </a:solidFill>
              </a:rPr>
              <a:t>Detailed mapping: requirements traceability + proposal Appendix A</a:t>
            </a:r>
          </a:p>
        </p:txBody>
      </p:sp>
    </p:spTree>
    <p:extLst>
      <p:ext uri="{BB962C8B-B14F-4D97-AF65-F5344CB8AC3E}">
        <p14:creationId xmlns:p14="http://schemas.microsoft.com/office/powerpoint/2010/main" val="45085282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A4E3209-55E1-487D-85EC-6AB5ECA98B92}"/>
              </a:ext>
            </a:extLst>
          </p:cNvPr>
          <p:cNvSpPr>
            <a:spLocks xmlns:a="http://schemas.openxmlformats.org/drawingml/2006/main" noGrp="1"/>
          </p:cNvSpPr>
          <p:nvPr/>
        </p:nvSpPr>
        <p:spPr>
          <a:xfrm xmlns:a="http://schemas.openxmlformats.org/drawingml/2006/main">
            <a:off x="609600" y="3429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A1F5C"/>
                </a:solidFill>
              </a:defRPr>
            </a:pPr>
            <a:r>
              <a:rPr sz="825" b="1">
                <a:solidFill>
                  <a:srgbClr val="7A1F5C"/>
                </a:solidFill>
              </a:rPr>
              <a:t>ADOPTION BY DESIGN</a:t>
            </a:r>
          </a:p>
        </p:txBody>
      </p:sp>
      <p:sp>
        <p:nvSpPr>
          <p:cNvPr id="2" name="">
            <a:extLst xmlns:a="http://schemas.openxmlformats.org/drawingml/2006/main">
              <a:ext uri="{FF2B5EF4-FFF2-40B4-BE49-F238E27FC236}">
                <a16:creationId xmlns:a16="http://schemas.microsoft.com/office/drawing/2014/main" id="{1849FC1E-1C37-4975-863F-02B7FDB84A9F}"/>
              </a:ext>
            </a:extLst>
          </p:cNvPr>
          <p:cNvSpPr>
            <a:spLocks xmlns:a="http://schemas.openxmlformats.org/drawingml/2006/main" noGrp="1"/>
          </p:cNvSpPr>
          <p:nvPr/>
        </p:nvSpPr>
        <p:spPr>
          <a:xfrm xmlns:a="http://schemas.openxmlformats.org/drawingml/2006/main">
            <a:off x="609600" y="62865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211C27"/>
                </a:solidFill>
              </a:defRPr>
            </a:pPr>
            <a:r>
              <a:rPr sz="2550" b="1">
                <a:solidFill>
                  <a:srgbClr val="211C27"/>
                </a:solidFill>
              </a:rPr>
              <a:t>Fit the clinical workflow; do not ask the workflow to fit the model.</a:t>
            </a:r>
          </a:p>
        </p:txBody>
      </p:sp>
      <p:sp>
        <p:nvSpPr>
          <p:cNvPr id="3" name="">
            <a:extLst xmlns:a="http://schemas.openxmlformats.org/drawingml/2006/main">
              <a:ext uri="{FF2B5EF4-FFF2-40B4-BE49-F238E27FC236}">
                <a16:creationId xmlns:a16="http://schemas.microsoft.com/office/drawing/2014/main" id="{79A41FED-3373-4E29-845B-21FF6663256F}"/>
              </a:ext>
            </a:extLst>
          </p:cNvPr>
          <p:cNvSpPr>
            <a:spLocks xmlns:a="http://schemas.openxmlformats.org/drawingml/2006/main" noGrp="1"/>
          </p:cNvSpPr>
          <p:nvPr/>
        </p:nvSpPr>
        <p:spPr>
          <a:xfrm xmlns:a="http://schemas.openxmlformats.org/drawingml/2006/main">
            <a:off x="609600" y="12192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5B67"/>
                </a:solidFill>
              </a:defRPr>
            </a:pPr>
            <a:r>
              <a:rPr sz="1275" b="0">
                <a:solidFill>
                  <a:srgbClr val="625B67"/>
                </a:solidFill>
              </a:rPr>
              <a:t>One consolidated signal, quiet unchanged rows and explicit human authority reduce alert fatigue and ambiguity.</a:t>
            </a:r>
          </a:p>
        </p:txBody>
      </p:sp>
      <p:sp>
        <p:nvSpPr>
          <p:cNvPr id="4" name="">
            <a:extLst xmlns:a="http://schemas.openxmlformats.org/drawingml/2006/main">
              <a:ext uri="{FF2B5EF4-FFF2-40B4-BE49-F238E27FC236}">
                <a16:creationId xmlns:a16="http://schemas.microsoft.com/office/drawing/2014/main" id="{88ACB214-B43F-4125-BBFA-FD464AD7C891}"/>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5" name="">
            <a:extLst xmlns:a="http://schemas.openxmlformats.org/drawingml/2006/main">
              <a:ext uri="{FF2B5EF4-FFF2-40B4-BE49-F238E27FC236}">
                <a16:creationId xmlns:a16="http://schemas.microsoft.com/office/drawing/2014/main" id="{9FCDAF9D-9EB5-45E9-992D-42E924C0C834}"/>
              </a:ext>
            </a:extLst>
          </p:cNvPr>
          <p:cNvSpPr>
            <a:spLocks xmlns:a="http://schemas.openxmlformats.org/drawingml/2006/main" noGrp="1"/>
          </p:cNvSpPr>
          <p:nvPr/>
        </p:nvSpPr>
        <p:spPr>
          <a:xfrm xmlns:a="http://schemas.openxmlformats.org/drawingml/2006/main">
            <a:off x="609600" y="6581775"/>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625B67"/>
                </a:solidFill>
              </a:defRPr>
            </a:pPr>
            <a:r>
              <a:rPr sz="675" b="0">
                <a:solidFill>
                  <a:srgbClr val="625B67"/>
                </a:solidFill>
              </a:rPr>
              <a:t>Synthetic decision-support prototype — not validated for clinical use</a:t>
            </a:r>
          </a:p>
        </p:txBody>
      </p:sp>
      <p:sp>
        <p:nvSpPr>
          <p:cNvPr id="6" name="">
            <a:extLst xmlns:a="http://schemas.openxmlformats.org/drawingml/2006/main">
              <a:ext uri="{FF2B5EF4-FFF2-40B4-BE49-F238E27FC236}">
                <a16:creationId xmlns:a16="http://schemas.microsoft.com/office/drawing/2014/main" id="{1A7C8B47-E0E6-41FB-B87B-0FC7B6A7EA29}"/>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625B67"/>
                </a:solidFill>
              </a:defRPr>
            </a:pPr>
            <a:r>
              <a:rPr sz="750" b="1">
                <a:solidFill>
                  <a:srgbClr val="625B67"/>
                </a:solidFill>
              </a:rPr>
              <a:t>12</a:t>
            </a:r>
          </a:p>
        </p:txBody>
      </p:sp>
      <p:sp>
        <p:nvSpPr>
          <p:cNvPr id="7" name="">
            <a:extLst xmlns:a="http://schemas.openxmlformats.org/drawingml/2006/main">
              <a:ext uri="{FF2B5EF4-FFF2-40B4-BE49-F238E27FC236}">
                <a16:creationId xmlns:a16="http://schemas.microsoft.com/office/drawing/2014/main" id="{3231C0C1-456F-456D-8AD2-BCB929E75EDA}"/>
              </a:ext>
            </a:extLst>
          </p:cNvPr>
          <p:cNvSpPr>
            <a:spLocks xmlns:a="http://schemas.openxmlformats.org/drawingml/2006/main" noGrp="1"/>
          </p:cNvSpPr>
          <p:nvPr/>
        </p:nvSpPr>
        <p:spPr>
          <a:xfrm xmlns:a="http://schemas.openxmlformats.org/drawingml/2006/main">
            <a:off x="723900" y="21145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7A1F5C"/>
                </a:solidFill>
              </a:defRPr>
            </a:pPr>
            <a:r>
              <a:rPr sz="1050" b="1">
                <a:solidFill>
                  <a:srgbClr val="7A1F5C"/>
                </a:solidFill>
              </a:rPr>
              <a:t>01</a:t>
            </a:r>
          </a:p>
        </p:txBody>
      </p:sp>
      <p:sp>
        <p:nvSpPr>
          <p:cNvPr id="8" name="">
            <a:extLst xmlns:a="http://schemas.openxmlformats.org/drawingml/2006/main">
              <a:ext uri="{FF2B5EF4-FFF2-40B4-BE49-F238E27FC236}">
                <a16:creationId xmlns:a16="http://schemas.microsoft.com/office/drawing/2014/main" id="{9FE1A140-1DF8-47DF-87DE-198855748027}"/>
              </a:ext>
            </a:extLst>
          </p:cNvPr>
          <p:cNvSpPr>
            <a:spLocks xmlns:a="http://schemas.openxmlformats.org/drawingml/2006/main" noGrp="1"/>
          </p:cNvSpPr>
          <p:nvPr/>
        </p:nvSpPr>
        <p:spPr>
          <a:xfrm xmlns:a="http://schemas.openxmlformats.org/drawingml/2006/main">
            <a:off x="1257300" y="1943100"/>
            <a:ext cx="10248900" cy="742950"/>
          </a:xfrm>
          <a:prstGeom xmlns:a="http://schemas.openxmlformats.org/drawingml/2006/main" prst="roundRect">
            <a:avLst>
              <a:gd name="adj" fmla="val 17949"/>
            </a:avLst>
          </a:prstGeom>
          <a:solidFill xmlns:a="http://schemas.openxmlformats.org/drawingml/2006/main">
            <a:srgbClr val="F7EEF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9247FD5-BD40-43FA-8147-5CF74360E741}"/>
              </a:ext>
            </a:extLst>
          </p:cNvPr>
          <p:cNvSpPr>
            <a:spLocks xmlns:a="http://schemas.openxmlformats.org/drawingml/2006/main" noGrp="1"/>
          </p:cNvSpPr>
          <p:nvPr/>
        </p:nvSpPr>
        <p:spPr>
          <a:xfrm xmlns:a="http://schemas.openxmlformats.org/drawingml/2006/main">
            <a:off x="1504950" y="21145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11C27"/>
                </a:solidFill>
              </a:defRPr>
            </a:pPr>
            <a:r>
              <a:rPr sz="975" b="1">
                <a:solidFill>
                  <a:srgbClr val="211C27"/>
                </a:solidFill>
              </a:rPr>
              <a:t>TRIAGE NURSE</a:t>
            </a:r>
          </a:p>
        </p:txBody>
      </p:sp>
      <p:sp>
        <p:nvSpPr>
          <p:cNvPr id="10" name="">
            <a:extLst xmlns:a="http://schemas.openxmlformats.org/drawingml/2006/main">
              <a:ext uri="{FF2B5EF4-FFF2-40B4-BE49-F238E27FC236}">
                <a16:creationId xmlns:a16="http://schemas.microsoft.com/office/drawing/2014/main" id="{F803284C-7EED-4D2F-BA45-4FEE21D9385D}"/>
              </a:ext>
            </a:extLst>
          </p:cNvPr>
          <p:cNvSpPr>
            <a:spLocks xmlns:a="http://schemas.openxmlformats.org/drawingml/2006/main" noGrp="1"/>
          </p:cNvSpPr>
          <p:nvPr/>
        </p:nvSpPr>
        <p:spPr>
          <a:xfrm xmlns:a="http://schemas.openxmlformats.org/drawingml/2006/main">
            <a:off x="3962400" y="2095500"/>
            <a:ext cx="7086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11C27"/>
                </a:solidFill>
              </a:defRPr>
            </a:pPr>
            <a:r>
              <a:rPr sz="1350" b="1">
                <a:solidFill>
                  <a:srgbClr val="211C27"/>
                </a:solidFill>
              </a:rPr>
              <a:t>Who needs attention next—by when and why?</a:t>
            </a:r>
          </a:p>
        </p:txBody>
      </p:sp>
      <p:sp>
        <p:nvSpPr>
          <p:cNvPr id="11" name="">
            <a:extLst xmlns:a="http://schemas.openxmlformats.org/drawingml/2006/main">
              <a:ext uri="{FF2B5EF4-FFF2-40B4-BE49-F238E27FC236}">
                <a16:creationId xmlns:a16="http://schemas.microsoft.com/office/drawing/2014/main" id="{3F725BC9-F880-40F1-A046-08085111B4AE}"/>
              </a:ext>
            </a:extLst>
          </p:cNvPr>
          <p:cNvSpPr>
            <a:spLocks xmlns:a="http://schemas.openxmlformats.org/drawingml/2006/main" noGrp="1"/>
          </p:cNvSpPr>
          <p:nvPr/>
        </p:nvSpPr>
        <p:spPr>
          <a:xfrm xmlns:a="http://schemas.openxmlformats.org/drawingml/2006/main">
            <a:off x="723900" y="30099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7A1F5C"/>
                </a:solidFill>
              </a:defRPr>
            </a:pPr>
            <a:r>
              <a:rPr sz="1050" b="1">
                <a:solidFill>
                  <a:srgbClr val="7A1F5C"/>
                </a:solidFill>
              </a:rPr>
              <a:t>02</a:t>
            </a:r>
          </a:p>
        </p:txBody>
      </p:sp>
      <p:sp>
        <p:nvSpPr>
          <p:cNvPr id="12" name="">
            <a:extLst xmlns:a="http://schemas.openxmlformats.org/drawingml/2006/main">
              <a:ext uri="{FF2B5EF4-FFF2-40B4-BE49-F238E27FC236}">
                <a16:creationId xmlns:a16="http://schemas.microsoft.com/office/drawing/2014/main" id="{333BB781-509A-47B4-8B31-928A18ACAD78}"/>
              </a:ext>
            </a:extLst>
          </p:cNvPr>
          <p:cNvSpPr>
            <a:spLocks xmlns:a="http://schemas.openxmlformats.org/drawingml/2006/main" noGrp="1"/>
          </p:cNvSpPr>
          <p:nvPr/>
        </p:nvSpPr>
        <p:spPr>
          <a:xfrm xmlns:a="http://schemas.openxmlformats.org/drawingml/2006/main">
            <a:off x="1257300" y="2838450"/>
            <a:ext cx="10248900" cy="742950"/>
          </a:xfrm>
          <a:prstGeom xmlns:a="http://schemas.openxmlformats.org/drawingml/2006/main" prst="roundRect">
            <a:avLst>
              <a:gd name="adj" fmla="val 17949"/>
            </a:avLst>
          </a:prstGeom>
          <a:solidFill xmlns:a="http://schemas.openxmlformats.org/drawingml/2006/main">
            <a:srgbClr val="FEECE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0E815D5-7687-4A12-AC40-7AC1A4E5387C}"/>
              </a:ext>
            </a:extLst>
          </p:cNvPr>
          <p:cNvSpPr>
            <a:spLocks xmlns:a="http://schemas.openxmlformats.org/drawingml/2006/main" noGrp="1"/>
          </p:cNvSpPr>
          <p:nvPr/>
        </p:nvSpPr>
        <p:spPr>
          <a:xfrm xmlns:a="http://schemas.openxmlformats.org/drawingml/2006/main">
            <a:off x="1504950" y="30099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11C27"/>
                </a:solidFill>
              </a:defRPr>
            </a:pPr>
            <a:r>
              <a:rPr sz="975" b="1">
                <a:solidFill>
                  <a:srgbClr val="211C27"/>
                </a:solidFill>
              </a:rPr>
              <a:t>CHARGE NURSE</a:t>
            </a:r>
          </a:p>
        </p:txBody>
      </p:sp>
      <p:sp>
        <p:nvSpPr>
          <p:cNvPr id="14" name="">
            <a:extLst xmlns:a="http://schemas.openxmlformats.org/drawingml/2006/main">
              <a:ext uri="{FF2B5EF4-FFF2-40B4-BE49-F238E27FC236}">
                <a16:creationId xmlns:a16="http://schemas.microsoft.com/office/drawing/2014/main" id="{0269AA73-A768-4D7E-B7F6-C91D581037A4}"/>
              </a:ext>
            </a:extLst>
          </p:cNvPr>
          <p:cNvSpPr>
            <a:spLocks xmlns:a="http://schemas.openxmlformats.org/drawingml/2006/main" noGrp="1"/>
          </p:cNvSpPr>
          <p:nvPr/>
        </p:nvSpPr>
        <p:spPr>
          <a:xfrm xmlns:a="http://schemas.openxmlformats.org/drawingml/2006/main">
            <a:off x="3962400" y="2990850"/>
            <a:ext cx="7086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11C27"/>
                </a:solidFill>
              </a:defRPr>
            </a:pPr>
            <a:r>
              <a:rPr sz="1350" b="1">
                <a:solidFill>
                  <a:srgbClr val="211C27"/>
                </a:solidFill>
              </a:rPr>
              <a:t>Where has clinical need exceeded available capacity?</a:t>
            </a:r>
          </a:p>
        </p:txBody>
      </p:sp>
      <p:sp>
        <p:nvSpPr>
          <p:cNvPr id="15" name="">
            <a:extLst xmlns:a="http://schemas.openxmlformats.org/drawingml/2006/main">
              <a:ext uri="{FF2B5EF4-FFF2-40B4-BE49-F238E27FC236}">
                <a16:creationId xmlns:a16="http://schemas.microsoft.com/office/drawing/2014/main" id="{1EC13C8F-EBBC-48DB-97F9-9BC7EA3AB99D}"/>
              </a:ext>
            </a:extLst>
          </p:cNvPr>
          <p:cNvSpPr>
            <a:spLocks xmlns:a="http://schemas.openxmlformats.org/drawingml/2006/main" noGrp="1"/>
          </p:cNvSpPr>
          <p:nvPr/>
        </p:nvSpPr>
        <p:spPr>
          <a:xfrm xmlns:a="http://schemas.openxmlformats.org/drawingml/2006/main">
            <a:off x="723900" y="39052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7A1F5C"/>
                </a:solidFill>
              </a:defRPr>
            </a:pPr>
            <a:r>
              <a:rPr sz="1050" b="1">
                <a:solidFill>
                  <a:srgbClr val="7A1F5C"/>
                </a:solidFill>
              </a:rPr>
              <a:t>03</a:t>
            </a:r>
          </a:p>
        </p:txBody>
      </p:sp>
      <p:sp>
        <p:nvSpPr>
          <p:cNvPr id="16" name="">
            <a:extLst xmlns:a="http://schemas.openxmlformats.org/drawingml/2006/main">
              <a:ext uri="{FF2B5EF4-FFF2-40B4-BE49-F238E27FC236}">
                <a16:creationId xmlns:a16="http://schemas.microsoft.com/office/drawing/2014/main" id="{71B1108D-20BB-4243-87EB-708A6B54944F}"/>
              </a:ext>
            </a:extLst>
          </p:cNvPr>
          <p:cNvSpPr>
            <a:spLocks xmlns:a="http://schemas.openxmlformats.org/drawingml/2006/main" noGrp="1"/>
          </p:cNvSpPr>
          <p:nvPr/>
        </p:nvSpPr>
        <p:spPr>
          <a:xfrm xmlns:a="http://schemas.openxmlformats.org/drawingml/2006/main">
            <a:off x="1257300" y="3733800"/>
            <a:ext cx="10248900" cy="742950"/>
          </a:xfrm>
          <a:prstGeom xmlns:a="http://schemas.openxmlformats.org/drawingml/2006/main" prst="roundRect">
            <a:avLst>
              <a:gd name="adj" fmla="val 17949"/>
            </a:avLst>
          </a:prstGeom>
          <a:solidFill xmlns:a="http://schemas.openxmlformats.org/drawingml/2006/main">
            <a:srgbClr val="EEF5F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C7045B9-952D-44AF-B9FE-825F8D3D0259}"/>
              </a:ext>
            </a:extLst>
          </p:cNvPr>
          <p:cNvSpPr>
            <a:spLocks xmlns:a="http://schemas.openxmlformats.org/drawingml/2006/main" noGrp="1"/>
          </p:cNvSpPr>
          <p:nvPr/>
        </p:nvSpPr>
        <p:spPr>
          <a:xfrm xmlns:a="http://schemas.openxmlformats.org/drawingml/2006/main">
            <a:off x="1504950" y="39052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11C27"/>
                </a:solidFill>
              </a:defRPr>
            </a:pPr>
            <a:r>
              <a:rPr sz="975" b="1">
                <a:solidFill>
                  <a:srgbClr val="211C27"/>
                </a:solidFill>
              </a:rPr>
              <a:t>QUALITY / SAFETY</a:t>
            </a:r>
          </a:p>
        </p:txBody>
      </p:sp>
      <p:sp>
        <p:nvSpPr>
          <p:cNvPr id="18" name="">
            <a:extLst xmlns:a="http://schemas.openxmlformats.org/drawingml/2006/main">
              <a:ext uri="{FF2B5EF4-FFF2-40B4-BE49-F238E27FC236}">
                <a16:creationId xmlns:a16="http://schemas.microsoft.com/office/drawing/2014/main" id="{44D4C1D9-DA55-4999-A3EA-AE1DDCF1DBAB}"/>
              </a:ext>
            </a:extLst>
          </p:cNvPr>
          <p:cNvSpPr>
            <a:spLocks xmlns:a="http://schemas.openxmlformats.org/drawingml/2006/main" noGrp="1"/>
          </p:cNvSpPr>
          <p:nvPr/>
        </p:nvSpPr>
        <p:spPr>
          <a:xfrm xmlns:a="http://schemas.openxmlformats.org/drawingml/2006/main">
            <a:off x="3962400" y="3886200"/>
            <a:ext cx="7086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11C27"/>
                </a:solidFill>
              </a:defRPr>
            </a:pPr>
            <a:r>
              <a:rPr sz="1350" b="1">
                <a:solidFill>
                  <a:srgbClr val="211C27"/>
                </a:solidFill>
              </a:rPr>
              <a:t>Are rules, uncertainty, overrides and outcomes governed?</a:t>
            </a:r>
          </a:p>
        </p:txBody>
      </p:sp>
      <p:sp>
        <p:nvSpPr>
          <p:cNvPr id="19" name="">
            <a:extLst xmlns:a="http://schemas.openxmlformats.org/drawingml/2006/main">
              <a:ext uri="{FF2B5EF4-FFF2-40B4-BE49-F238E27FC236}">
                <a16:creationId xmlns:a16="http://schemas.microsoft.com/office/drawing/2014/main" id="{95C4344A-336A-404B-90D4-E0A7F2052D26}"/>
              </a:ext>
            </a:extLst>
          </p:cNvPr>
          <p:cNvSpPr>
            <a:spLocks xmlns:a="http://schemas.openxmlformats.org/drawingml/2006/main" noGrp="1"/>
          </p:cNvSpPr>
          <p:nvPr/>
        </p:nvSpPr>
        <p:spPr>
          <a:xfrm xmlns:a="http://schemas.openxmlformats.org/drawingml/2006/main">
            <a:off x="723900" y="480060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7A1F5C"/>
                </a:solidFill>
              </a:defRPr>
            </a:pPr>
            <a:r>
              <a:rPr sz="1050" b="1">
                <a:solidFill>
                  <a:srgbClr val="7A1F5C"/>
                </a:solidFill>
              </a:rPr>
              <a:t>04</a:t>
            </a:r>
          </a:p>
        </p:txBody>
      </p:sp>
      <p:sp>
        <p:nvSpPr>
          <p:cNvPr id="20" name="">
            <a:extLst xmlns:a="http://schemas.openxmlformats.org/drawingml/2006/main">
              <a:ext uri="{FF2B5EF4-FFF2-40B4-BE49-F238E27FC236}">
                <a16:creationId xmlns:a16="http://schemas.microsoft.com/office/drawing/2014/main" id="{1F301BD0-956B-46DC-9DCA-F32BA96C8F3D}"/>
              </a:ext>
            </a:extLst>
          </p:cNvPr>
          <p:cNvSpPr>
            <a:spLocks xmlns:a="http://schemas.openxmlformats.org/drawingml/2006/main" noGrp="1"/>
          </p:cNvSpPr>
          <p:nvPr/>
        </p:nvSpPr>
        <p:spPr>
          <a:xfrm xmlns:a="http://schemas.openxmlformats.org/drawingml/2006/main">
            <a:off x="1257300" y="4629150"/>
            <a:ext cx="10248900" cy="742950"/>
          </a:xfrm>
          <a:prstGeom xmlns:a="http://schemas.openxmlformats.org/drawingml/2006/main" prst="roundRect">
            <a:avLst>
              <a:gd name="adj" fmla="val 17949"/>
            </a:avLst>
          </a:prstGeom>
          <a:solidFill xmlns:a="http://schemas.openxmlformats.org/drawingml/2006/main">
            <a:srgbClr val="EAF7F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EF324B1-9C2C-4C24-B88D-4359DA7B3592}"/>
              </a:ext>
            </a:extLst>
          </p:cNvPr>
          <p:cNvSpPr>
            <a:spLocks xmlns:a="http://schemas.openxmlformats.org/drawingml/2006/main" noGrp="1"/>
          </p:cNvSpPr>
          <p:nvPr/>
        </p:nvSpPr>
        <p:spPr>
          <a:xfrm xmlns:a="http://schemas.openxmlformats.org/drawingml/2006/main">
            <a:off x="1504950" y="48006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11C27"/>
                </a:solidFill>
              </a:defRPr>
            </a:pPr>
            <a:r>
              <a:rPr sz="975" b="1">
                <a:solidFill>
                  <a:srgbClr val="211C27"/>
                </a:solidFill>
              </a:rPr>
              <a:t>IT / DIGITAL</a:t>
            </a:r>
          </a:p>
        </p:txBody>
      </p:sp>
      <p:sp>
        <p:nvSpPr>
          <p:cNvPr id="22" name="">
            <a:extLst xmlns:a="http://schemas.openxmlformats.org/drawingml/2006/main">
              <a:ext uri="{FF2B5EF4-FFF2-40B4-BE49-F238E27FC236}">
                <a16:creationId xmlns:a16="http://schemas.microsoft.com/office/drawing/2014/main" id="{8475EA95-8F5F-4E26-91F2-F7DF676B42B3}"/>
              </a:ext>
            </a:extLst>
          </p:cNvPr>
          <p:cNvSpPr>
            <a:spLocks xmlns:a="http://schemas.openxmlformats.org/drawingml/2006/main" noGrp="1"/>
          </p:cNvSpPr>
          <p:nvPr/>
        </p:nvSpPr>
        <p:spPr>
          <a:xfrm xmlns:a="http://schemas.openxmlformats.org/drawingml/2006/main">
            <a:off x="3962400" y="4781550"/>
            <a:ext cx="7086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11C27"/>
                </a:solidFill>
              </a:defRPr>
            </a:pPr>
            <a:r>
              <a:rPr sz="1350" b="1">
                <a:solidFill>
                  <a:srgbClr val="211C27"/>
                </a:solidFill>
              </a:rPr>
              <a:t>Can this integrate as a thin, observable layer?</a:t>
            </a:r>
          </a:p>
        </p:txBody>
      </p:sp>
      <p:sp>
        <p:nvSpPr>
          <p:cNvPr id="23" name="">
            <a:extLst xmlns:a="http://schemas.openxmlformats.org/drawingml/2006/main">
              <a:ext uri="{FF2B5EF4-FFF2-40B4-BE49-F238E27FC236}">
                <a16:creationId xmlns:a16="http://schemas.microsoft.com/office/drawing/2014/main" id="{AEA03952-7B5F-4E3B-A127-030EA6BFF62A}"/>
              </a:ext>
            </a:extLst>
          </p:cNvPr>
          <p:cNvSpPr>
            <a:spLocks xmlns:a="http://schemas.openxmlformats.org/drawingml/2006/main" noGrp="1"/>
          </p:cNvSpPr>
          <p:nvPr/>
        </p:nvSpPr>
        <p:spPr>
          <a:xfrm xmlns:a="http://schemas.openxmlformats.org/drawingml/2006/main">
            <a:off x="1257300" y="5524500"/>
            <a:ext cx="10248900" cy="609600"/>
          </a:xfrm>
          <a:prstGeom xmlns:a="http://schemas.openxmlformats.org/drawingml/2006/main" prst="roundRect">
            <a:avLst>
              <a:gd name="adj" fmla="val 18750"/>
            </a:avLst>
          </a:prstGeom>
          <a:solidFill xmlns:a="http://schemas.openxmlformats.org/drawingml/2006/main">
            <a:srgbClr val="F6F3F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657A3F6-4A9E-4512-80F3-648D5B97108C}"/>
              </a:ext>
            </a:extLst>
          </p:cNvPr>
          <p:cNvSpPr>
            <a:spLocks xmlns:a="http://schemas.openxmlformats.org/drawingml/2006/main" noGrp="1"/>
          </p:cNvSpPr>
          <p:nvPr/>
        </p:nvSpPr>
        <p:spPr>
          <a:xfrm xmlns:a="http://schemas.openxmlformats.org/drawingml/2006/main">
            <a:off x="1485900" y="5629275"/>
            <a:ext cx="9791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7A1F5C"/>
                </a:solidFill>
              </a:defRPr>
            </a:pPr>
            <a:r>
              <a:rPr sz="900" b="1">
                <a:solidFill>
                  <a:srgbClr val="7A1F5C"/>
                </a:solidFill>
              </a:rPr>
              <a:t>CURRENT SYNTHETIC SURGE WORKLOAD  •  0.86–1.12 alerts / waiting-patient-hour  •  2.20–5.56 alerts / reassessment-nurse-hour</a:t>
            </a:r>
          </a:p>
        </p:txBody>
      </p:sp>
      <p:sp>
        <p:nvSpPr>
          <p:cNvPr id="25" name="">
            <a:extLst xmlns:a="http://schemas.openxmlformats.org/drawingml/2006/main">
              <a:ext uri="{FF2B5EF4-FFF2-40B4-BE49-F238E27FC236}">
                <a16:creationId xmlns:a16="http://schemas.microsoft.com/office/drawing/2014/main" id="{35AC703D-4E72-42E7-A9FE-F0EE8F640D0C}"/>
              </a:ext>
            </a:extLst>
          </p:cNvPr>
          <p:cNvSpPr>
            <a:spLocks xmlns:a="http://schemas.openxmlformats.org/drawingml/2006/main" noGrp="1"/>
          </p:cNvSpPr>
          <p:nvPr/>
        </p:nvSpPr>
        <p:spPr>
          <a:xfrm xmlns:a="http://schemas.openxmlformats.org/drawingml/2006/main">
            <a:off x="1485900" y="5867400"/>
            <a:ext cx="9791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825" b="1">
                <a:solidFill>
                  <a:srgbClr val="625B67"/>
                </a:solidFill>
              </a:defRPr>
            </a:pPr>
            <a:r>
              <a:rPr sz="825" b="1">
                <a:solidFill>
                  <a:srgbClr val="625B67"/>
                </a:solidFill>
              </a:rPr>
              <a:t>Shadow mode first  •  Community is the warning case  •  nurse task testing remains external</a:t>
            </a:r>
          </a:p>
        </p:txBody>
      </p:sp>
    </p:spTree>
    <p:extLst>
      <p:ext uri="{BB962C8B-B14F-4D97-AF65-F5344CB8AC3E}">
        <p14:creationId xmlns:p14="http://schemas.microsoft.com/office/powerpoint/2010/main" val="97603106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017717C-C8A1-4AB9-88C6-CBD812003D8A}"/>
              </a:ext>
            </a:extLst>
          </p:cNvPr>
          <p:cNvSpPr>
            <a:spLocks xmlns:a="http://schemas.openxmlformats.org/drawingml/2006/main" noGrp="1"/>
          </p:cNvSpPr>
          <p:nvPr/>
        </p:nvSpPr>
        <p:spPr>
          <a:xfrm xmlns:a="http://schemas.openxmlformats.org/drawingml/2006/main">
            <a:off x="609600" y="3429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A1F5C"/>
                </a:solidFill>
              </a:defRPr>
            </a:pPr>
            <a:r>
              <a:rPr sz="825" b="1">
                <a:solidFill>
                  <a:srgbClr val="7A1F5C"/>
                </a:solidFill>
              </a:rPr>
              <a:t>INTEGRATION POSTURE</a:t>
            </a:r>
          </a:p>
        </p:txBody>
      </p:sp>
      <p:sp>
        <p:nvSpPr>
          <p:cNvPr id="2" name="">
            <a:extLst xmlns:a="http://schemas.openxmlformats.org/drawingml/2006/main">
              <a:ext uri="{FF2B5EF4-FFF2-40B4-BE49-F238E27FC236}">
                <a16:creationId xmlns:a16="http://schemas.microsoft.com/office/drawing/2014/main" id="{4846F59E-159A-432F-92FC-9CD5F812F5A3}"/>
              </a:ext>
            </a:extLst>
          </p:cNvPr>
          <p:cNvSpPr>
            <a:spLocks xmlns:a="http://schemas.openxmlformats.org/drawingml/2006/main" noGrp="1"/>
          </p:cNvSpPr>
          <p:nvPr/>
        </p:nvSpPr>
        <p:spPr>
          <a:xfrm xmlns:a="http://schemas.openxmlformats.org/drawingml/2006/main">
            <a:off x="609600" y="62865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211C27"/>
                </a:solidFill>
              </a:defRPr>
            </a:pPr>
            <a:r>
              <a:rPr sz="2550" b="1">
                <a:solidFill>
                  <a:srgbClr val="211C27"/>
                </a:solidFill>
              </a:rPr>
              <a:t>A thin operating layer—not an EHR replacement.</a:t>
            </a:r>
          </a:p>
        </p:txBody>
      </p:sp>
      <p:sp>
        <p:nvSpPr>
          <p:cNvPr id="3" name="">
            <a:extLst xmlns:a="http://schemas.openxmlformats.org/drawingml/2006/main">
              <a:ext uri="{FF2B5EF4-FFF2-40B4-BE49-F238E27FC236}">
                <a16:creationId xmlns:a16="http://schemas.microsoft.com/office/drawing/2014/main" id="{A18298AA-EC87-441A-8438-277B33327FD5}"/>
              </a:ext>
            </a:extLst>
          </p:cNvPr>
          <p:cNvSpPr>
            <a:spLocks xmlns:a="http://schemas.openxmlformats.org/drawingml/2006/main" noGrp="1"/>
          </p:cNvSpPr>
          <p:nvPr/>
        </p:nvSpPr>
        <p:spPr>
          <a:xfrm xmlns:a="http://schemas.openxmlformats.org/drawingml/2006/main">
            <a:off x="609600" y="12192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5B67"/>
                </a:solidFill>
              </a:defRPr>
            </a:pPr>
            <a:r>
              <a:rPr sz="1275" b="0">
                <a:solidFill>
                  <a:srgbClr val="625B67"/>
                </a:solidFill>
              </a:rPr>
              <a:t>The clinical requirement survives partial failure; only feasibility becomes unknown when the queue service is unavailable.</a:t>
            </a:r>
          </a:p>
        </p:txBody>
      </p:sp>
      <p:sp>
        <p:nvSpPr>
          <p:cNvPr id="4" name="">
            <a:extLst xmlns:a="http://schemas.openxmlformats.org/drawingml/2006/main">
              <a:ext uri="{FF2B5EF4-FFF2-40B4-BE49-F238E27FC236}">
                <a16:creationId xmlns:a16="http://schemas.microsoft.com/office/drawing/2014/main" id="{BBCD2941-5D21-4418-A695-8E4842E4DC89}"/>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5" name="">
            <a:extLst xmlns:a="http://schemas.openxmlformats.org/drawingml/2006/main">
              <a:ext uri="{FF2B5EF4-FFF2-40B4-BE49-F238E27FC236}">
                <a16:creationId xmlns:a16="http://schemas.microsoft.com/office/drawing/2014/main" id="{06058D4A-E6BF-49B6-BEE8-BCFA85BA3B0E}"/>
              </a:ext>
            </a:extLst>
          </p:cNvPr>
          <p:cNvSpPr>
            <a:spLocks xmlns:a="http://schemas.openxmlformats.org/drawingml/2006/main" noGrp="1"/>
          </p:cNvSpPr>
          <p:nvPr/>
        </p:nvSpPr>
        <p:spPr>
          <a:xfrm xmlns:a="http://schemas.openxmlformats.org/drawingml/2006/main">
            <a:off x="609600" y="6581775"/>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625B67"/>
                </a:solidFill>
              </a:defRPr>
            </a:pPr>
            <a:r>
              <a:rPr sz="675" b="0">
                <a:solidFill>
                  <a:srgbClr val="625B67"/>
                </a:solidFill>
              </a:rPr>
              <a:t>Synthetic decision-support prototype — not validated for clinical use</a:t>
            </a:r>
          </a:p>
        </p:txBody>
      </p:sp>
      <p:sp>
        <p:nvSpPr>
          <p:cNvPr id="6" name="">
            <a:extLst xmlns:a="http://schemas.openxmlformats.org/drawingml/2006/main">
              <a:ext uri="{FF2B5EF4-FFF2-40B4-BE49-F238E27FC236}">
                <a16:creationId xmlns:a16="http://schemas.microsoft.com/office/drawing/2014/main" id="{2CDE7D8E-8015-40F3-88A3-CF7CB710EC03}"/>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625B67"/>
                </a:solidFill>
              </a:defRPr>
            </a:pPr>
            <a:r>
              <a:rPr sz="750" b="1">
                <a:solidFill>
                  <a:srgbClr val="625B67"/>
                </a:solidFill>
              </a:rPr>
              <a:t>13</a:t>
            </a:r>
          </a:p>
        </p:txBody>
      </p:sp>
      <p:sp>
        <p:nvSpPr>
          <p:cNvPr id="7" name="">
            <a:extLst xmlns:a="http://schemas.openxmlformats.org/drawingml/2006/main">
              <a:ext uri="{FF2B5EF4-FFF2-40B4-BE49-F238E27FC236}">
                <a16:creationId xmlns:a16="http://schemas.microsoft.com/office/drawing/2014/main" id="{41545AF6-E5FE-4619-8A13-41B1B711F14B}"/>
              </a:ext>
            </a:extLst>
          </p:cNvPr>
          <p:cNvSpPr>
            <a:spLocks xmlns:a="http://schemas.openxmlformats.org/drawingml/2006/main" noGrp="1"/>
          </p:cNvSpPr>
          <p:nvPr/>
        </p:nvSpPr>
        <p:spPr>
          <a:xfrm xmlns:a="http://schemas.openxmlformats.org/drawingml/2006/main">
            <a:off x="723900" y="20193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25B67"/>
                </a:solidFill>
              </a:defRPr>
            </a:pPr>
            <a:r>
              <a:rPr sz="900" b="1">
                <a:solidFill>
                  <a:srgbClr val="625B67"/>
                </a:solidFill>
              </a:rPr>
              <a:t>HOSPITAL SYSTEMS</a:t>
            </a:r>
          </a:p>
        </p:txBody>
      </p:sp>
      <p:sp>
        <p:nvSpPr>
          <p:cNvPr id="8" name="">
            <a:extLst xmlns:a="http://schemas.openxmlformats.org/drawingml/2006/main">
              <a:ext uri="{FF2B5EF4-FFF2-40B4-BE49-F238E27FC236}">
                <a16:creationId xmlns:a16="http://schemas.microsoft.com/office/drawing/2014/main" id="{66049D27-1910-42B8-BE56-81C5BB5D89A3}"/>
              </a:ext>
            </a:extLst>
          </p:cNvPr>
          <p:cNvSpPr>
            <a:spLocks xmlns:a="http://schemas.openxmlformats.org/drawingml/2006/main" noGrp="1"/>
          </p:cNvSpPr>
          <p:nvPr/>
        </p:nvSpPr>
        <p:spPr>
          <a:xfrm xmlns:a="http://schemas.openxmlformats.org/drawingml/2006/main">
            <a:off x="723900" y="2400300"/>
            <a:ext cx="2381250" cy="2609850"/>
          </a:xfrm>
          <a:prstGeom xmlns:a="http://schemas.openxmlformats.org/drawingml/2006/main" prst="roundRect">
            <a:avLst>
              <a:gd name="adj" fmla="val 7200"/>
            </a:avLst>
          </a:prstGeom>
          <a:solidFill xmlns:a="http://schemas.openxmlformats.org/drawingml/2006/main">
            <a:srgbClr val="F6F3F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4BC43CB-348E-4A5D-8DDE-14A1E1057EB7}"/>
              </a:ext>
            </a:extLst>
          </p:cNvPr>
          <p:cNvSpPr>
            <a:spLocks xmlns:a="http://schemas.openxmlformats.org/drawingml/2006/main" noGrp="1"/>
          </p:cNvSpPr>
          <p:nvPr/>
        </p:nvSpPr>
        <p:spPr>
          <a:xfrm xmlns:a="http://schemas.openxmlformats.org/drawingml/2006/main">
            <a:off x="990600" y="266700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11C27"/>
                </a:solidFill>
              </a:defRPr>
            </a:pPr>
            <a:r>
              <a:rPr sz="1350" b="1">
                <a:solidFill>
                  <a:srgbClr val="211C27"/>
                </a:solidFill>
              </a:rPr>
              <a:t>EHR / ED system</a:t>
            </a:r>
          </a:p>
        </p:txBody>
      </p:sp>
      <p:sp>
        <p:nvSpPr>
          <p:cNvPr id="10" name="">
            <a:extLst xmlns:a="http://schemas.openxmlformats.org/drawingml/2006/main">
              <a:ext uri="{FF2B5EF4-FFF2-40B4-BE49-F238E27FC236}">
                <a16:creationId xmlns:a16="http://schemas.microsoft.com/office/drawing/2014/main" id="{968A02C8-1883-41EC-8431-4A18081D6F26}"/>
              </a:ext>
            </a:extLst>
          </p:cNvPr>
          <p:cNvSpPr>
            <a:spLocks xmlns:a="http://schemas.openxmlformats.org/drawingml/2006/main" noGrp="1"/>
          </p:cNvSpPr>
          <p:nvPr/>
        </p:nvSpPr>
        <p:spPr>
          <a:xfrm xmlns:a="http://schemas.openxmlformats.org/drawingml/2006/main">
            <a:off x="990600" y="323850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11C27"/>
                </a:solidFill>
              </a:defRPr>
            </a:pPr>
            <a:r>
              <a:rPr sz="1350" b="1">
                <a:solidFill>
                  <a:srgbClr val="211C27"/>
                </a:solidFill>
              </a:rPr>
              <a:t>Vitals devices</a:t>
            </a:r>
          </a:p>
        </p:txBody>
      </p:sp>
      <p:sp>
        <p:nvSpPr>
          <p:cNvPr id="11" name="">
            <a:extLst xmlns:a="http://schemas.openxmlformats.org/drawingml/2006/main">
              <a:ext uri="{FF2B5EF4-FFF2-40B4-BE49-F238E27FC236}">
                <a16:creationId xmlns:a16="http://schemas.microsoft.com/office/drawing/2014/main" id="{754C9186-570C-4ED5-811C-7E0012150000}"/>
              </a:ext>
            </a:extLst>
          </p:cNvPr>
          <p:cNvSpPr>
            <a:spLocks xmlns:a="http://schemas.openxmlformats.org/drawingml/2006/main" noGrp="1"/>
          </p:cNvSpPr>
          <p:nvPr/>
        </p:nvSpPr>
        <p:spPr>
          <a:xfrm xmlns:a="http://schemas.openxmlformats.org/drawingml/2006/main">
            <a:off x="990600" y="381000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11C27"/>
                </a:solidFill>
              </a:defRPr>
            </a:pPr>
            <a:r>
              <a:rPr sz="1350" b="1">
                <a:solidFill>
                  <a:srgbClr val="211C27"/>
                </a:solidFill>
              </a:rPr>
              <a:t>Staffing / capacity</a:t>
            </a:r>
          </a:p>
        </p:txBody>
      </p:sp>
      <p:sp>
        <p:nvSpPr>
          <p:cNvPr id="12" name="">
            <a:extLst xmlns:a="http://schemas.openxmlformats.org/drawingml/2006/main">
              <a:ext uri="{FF2B5EF4-FFF2-40B4-BE49-F238E27FC236}">
                <a16:creationId xmlns:a16="http://schemas.microsoft.com/office/drawing/2014/main" id="{E7BD9E85-B41A-4734-9F71-0C976684B5F7}"/>
              </a:ext>
            </a:extLst>
          </p:cNvPr>
          <p:cNvSpPr>
            <a:spLocks xmlns:a="http://schemas.openxmlformats.org/drawingml/2006/main" noGrp="1"/>
          </p:cNvSpPr>
          <p:nvPr/>
        </p:nvSpPr>
        <p:spPr>
          <a:xfrm xmlns:a="http://schemas.openxmlformats.org/drawingml/2006/main">
            <a:off x="990600" y="438150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11C27"/>
                </a:solidFill>
              </a:defRPr>
            </a:pPr>
            <a:r>
              <a:rPr sz="1350" b="1">
                <a:solidFill>
                  <a:srgbClr val="211C27"/>
                </a:solidFill>
              </a:rPr>
              <a:t>Identity / roles</a:t>
            </a:r>
          </a:p>
        </p:txBody>
      </p:sp>
      <p:sp>
        <p:nvSpPr>
          <p:cNvPr id="13" name="">
            <a:extLst xmlns:a="http://schemas.openxmlformats.org/drawingml/2006/main">
              <a:ext uri="{FF2B5EF4-FFF2-40B4-BE49-F238E27FC236}">
                <a16:creationId xmlns:a16="http://schemas.microsoft.com/office/drawing/2014/main" id="{068CA26C-531D-4FA6-AE9B-286E643C8DD3}"/>
              </a:ext>
            </a:extLst>
          </p:cNvPr>
          <p:cNvSpPr>
            <a:spLocks xmlns:a="http://schemas.openxmlformats.org/drawingml/2006/main" noGrp="1"/>
          </p:cNvSpPr>
          <p:nvPr/>
        </p:nvSpPr>
        <p:spPr>
          <a:xfrm xmlns:a="http://schemas.openxmlformats.org/drawingml/2006/main">
            <a:off x="3295650" y="331470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850" b="1">
                <a:solidFill>
                  <a:srgbClr val="7A1F5C"/>
                </a:solidFill>
              </a:defRPr>
            </a:pPr>
            <a:r>
              <a:rPr sz="2850" b="1">
                <a:solidFill>
                  <a:srgbClr val="7A1F5C"/>
                </a:solidFill>
              </a:rPr>
              <a:t>→</a:t>
            </a:r>
          </a:p>
        </p:txBody>
      </p:sp>
      <p:sp>
        <p:nvSpPr>
          <p:cNvPr id="14" name="">
            <a:extLst xmlns:a="http://schemas.openxmlformats.org/drawingml/2006/main">
              <a:ext uri="{FF2B5EF4-FFF2-40B4-BE49-F238E27FC236}">
                <a16:creationId xmlns:a16="http://schemas.microsoft.com/office/drawing/2014/main" id="{C022FAD1-8999-4868-BB8A-C65F9D77DB19}"/>
              </a:ext>
            </a:extLst>
          </p:cNvPr>
          <p:cNvSpPr>
            <a:spLocks xmlns:a="http://schemas.openxmlformats.org/drawingml/2006/main" noGrp="1"/>
          </p:cNvSpPr>
          <p:nvPr/>
        </p:nvSpPr>
        <p:spPr>
          <a:xfrm xmlns:a="http://schemas.openxmlformats.org/drawingml/2006/main">
            <a:off x="4000500" y="20193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1F5C"/>
                </a:solidFill>
              </a:defRPr>
            </a:pPr>
            <a:r>
              <a:rPr sz="900" b="1">
                <a:solidFill>
                  <a:srgbClr val="7A1F5C"/>
                </a:solidFill>
              </a:rPr>
              <a:t>LOCAL ADAPTER</a:t>
            </a:r>
          </a:p>
        </p:txBody>
      </p:sp>
      <p:sp>
        <p:nvSpPr>
          <p:cNvPr id="15" name="">
            <a:extLst xmlns:a="http://schemas.openxmlformats.org/drawingml/2006/main">
              <a:ext uri="{FF2B5EF4-FFF2-40B4-BE49-F238E27FC236}">
                <a16:creationId xmlns:a16="http://schemas.microsoft.com/office/drawing/2014/main" id="{1A14304B-C1D5-4EB6-980C-F310832F3808}"/>
              </a:ext>
            </a:extLst>
          </p:cNvPr>
          <p:cNvSpPr>
            <a:spLocks xmlns:a="http://schemas.openxmlformats.org/drawingml/2006/main" noGrp="1"/>
          </p:cNvSpPr>
          <p:nvPr/>
        </p:nvSpPr>
        <p:spPr>
          <a:xfrm xmlns:a="http://schemas.openxmlformats.org/drawingml/2006/main">
            <a:off x="4000500" y="2400300"/>
            <a:ext cx="2381250" cy="2609850"/>
          </a:xfrm>
          <a:prstGeom xmlns:a="http://schemas.openxmlformats.org/drawingml/2006/main" prst="roundRect">
            <a:avLst>
              <a:gd name="adj" fmla="val 7200"/>
            </a:avLst>
          </a:prstGeom>
          <a:solidFill xmlns:a="http://schemas.openxmlformats.org/drawingml/2006/main">
            <a:srgbClr val="F7EEF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06F2DCA-4988-486B-AE63-82AF1601C73C}"/>
              </a:ext>
            </a:extLst>
          </p:cNvPr>
          <p:cNvSpPr>
            <a:spLocks xmlns:a="http://schemas.openxmlformats.org/drawingml/2006/main" noGrp="1"/>
          </p:cNvSpPr>
          <p:nvPr/>
        </p:nvSpPr>
        <p:spPr>
          <a:xfrm xmlns:a="http://schemas.openxmlformats.org/drawingml/2006/main">
            <a:off x="4267200" y="266700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11C27"/>
                </a:solidFill>
              </a:defRPr>
            </a:pPr>
            <a:r>
              <a:rPr sz="1350" b="1">
                <a:solidFill>
                  <a:srgbClr val="211C27"/>
                </a:solidFill>
              </a:rPr>
              <a:t>Versioned contract</a:t>
            </a:r>
          </a:p>
        </p:txBody>
      </p:sp>
      <p:sp>
        <p:nvSpPr>
          <p:cNvPr id="17" name="">
            <a:extLst xmlns:a="http://schemas.openxmlformats.org/drawingml/2006/main">
              <a:ext uri="{FF2B5EF4-FFF2-40B4-BE49-F238E27FC236}">
                <a16:creationId xmlns:a16="http://schemas.microsoft.com/office/drawing/2014/main" id="{94A4BF50-5814-49B5-BC80-6DD17F94657A}"/>
              </a:ext>
            </a:extLst>
          </p:cNvPr>
          <p:cNvSpPr>
            <a:spLocks xmlns:a="http://schemas.openxmlformats.org/drawingml/2006/main" noGrp="1"/>
          </p:cNvSpPr>
          <p:nvPr/>
        </p:nvSpPr>
        <p:spPr>
          <a:xfrm xmlns:a="http://schemas.openxmlformats.org/drawingml/2006/main">
            <a:off x="4267200" y="3238500"/>
            <a:ext cx="1847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11C27"/>
                </a:solidFill>
              </a:defRPr>
            </a:pPr>
            <a:r>
              <a:rPr sz="1275" b="1">
                <a:solidFill>
                  <a:srgbClr val="211C27"/>
                </a:solidFill>
              </a:rPr>
              <a:t>Provenance + freshness</a:t>
            </a:r>
          </a:p>
        </p:txBody>
      </p:sp>
      <p:sp>
        <p:nvSpPr>
          <p:cNvPr id="18" name="">
            <a:extLst xmlns:a="http://schemas.openxmlformats.org/drawingml/2006/main">
              <a:ext uri="{FF2B5EF4-FFF2-40B4-BE49-F238E27FC236}">
                <a16:creationId xmlns:a16="http://schemas.microsoft.com/office/drawing/2014/main" id="{6D90A858-DA29-4EC5-9689-B7B63E81AFDE}"/>
              </a:ext>
            </a:extLst>
          </p:cNvPr>
          <p:cNvSpPr>
            <a:spLocks xmlns:a="http://schemas.openxmlformats.org/drawingml/2006/main" noGrp="1"/>
          </p:cNvSpPr>
          <p:nvPr/>
        </p:nvSpPr>
        <p:spPr>
          <a:xfrm xmlns:a="http://schemas.openxmlformats.org/drawingml/2006/main">
            <a:off x="4267200" y="390525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11C27"/>
                </a:solidFill>
              </a:defRPr>
            </a:pPr>
            <a:r>
              <a:rPr sz="1350" b="1">
                <a:solidFill>
                  <a:srgbClr val="211C27"/>
                </a:solidFill>
              </a:rPr>
              <a:t>Reconciliation</a:t>
            </a:r>
          </a:p>
        </p:txBody>
      </p:sp>
      <p:sp>
        <p:nvSpPr>
          <p:cNvPr id="19" name="">
            <a:extLst xmlns:a="http://schemas.openxmlformats.org/drawingml/2006/main">
              <a:ext uri="{FF2B5EF4-FFF2-40B4-BE49-F238E27FC236}">
                <a16:creationId xmlns:a16="http://schemas.microsoft.com/office/drawing/2014/main" id="{65330D5A-FF83-4410-A187-1310AAA9300F}"/>
              </a:ext>
            </a:extLst>
          </p:cNvPr>
          <p:cNvSpPr>
            <a:spLocks xmlns:a="http://schemas.openxmlformats.org/drawingml/2006/main" noGrp="1"/>
          </p:cNvSpPr>
          <p:nvPr/>
        </p:nvSpPr>
        <p:spPr>
          <a:xfrm xmlns:a="http://schemas.openxmlformats.org/drawingml/2006/main">
            <a:off x="4267200" y="447675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11C27"/>
                </a:solidFill>
              </a:defRPr>
            </a:pPr>
            <a:r>
              <a:rPr sz="1350" b="1">
                <a:solidFill>
                  <a:srgbClr val="211C27"/>
                </a:solidFill>
              </a:rPr>
              <a:t>Downtime path</a:t>
            </a:r>
          </a:p>
        </p:txBody>
      </p:sp>
      <p:sp>
        <p:nvSpPr>
          <p:cNvPr id="20" name="">
            <a:extLst xmlns:a="http://schemas.openxmlformats.org/drawingml/2006/main">
              <a:ext uri="{FF2B5EF4-FFF2-40B4-BE49-F238E27FC236}">
                <a16:creationId xmlns:a16="http://schemas.microsoft.com/office/drawing/2014/main" id="{4994F6F7-81B4-449B-86BC-3BBBFE697EC4}"/>
              </a:ext>
            </a:extLst>
          </p:cNvPr>
          <p:cNvSpPr>
            <a:spLocks xmlns:a="http://schemas.openxmlformats.org/drawingml/2006/main" noGrp="1"/>
          </p:cNvSpPr>
          <p:nvPr/>
        </p:nvSpPr>
        <p:spPr>
          <a:xfrm xmlns:a="http://schemas.openxmlformats.org/drawingml/2006/main">
            <a:off x="6572250" y="331470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850" b="1">
                <a:solidFill>
                  <a:srgbClr val="7A1F5C"/>
                </a:solidFill>
              </a:defRPr>
            </a:pPr>
            <a:r>
              <a:rPr sz="2850" b="1">
                <a:solidFill>
                  <a:srgbClr val="7A1F5C"/>
                </a:solidFill>
              </a:rPr>
              <a:t>→</a:t>
            </a:r>
          </a:p>
        </p:txBody>
      </p:sp>
      <p:sp>
        <p:nvSpPr>
          <p:cNvPr id="21" name="">
            <a:extLst xmlns:a="http://schemas.openxmlformats.org/drawingml/2006/main">
              <a:ext uri="{FF2B5EF4-FFF2-40B4-BE49-F238E27FC236}">
                <a16:creationId xmlns:a16="http://schemas.microsoft.com/office/drawing/2014/main" id="{141D5C58-594D-4134-B762-3582643309F7}"/>
              </a:ext>
            </a:extLst>
          </p:cNvPr>
          <p:cNvSpPr>
            <a:spLocks xmlns:a="http://schemas.openxmlformats.org/drawingml/2006/main" noGrp="1"/>
          </p:cNvSpPr>
          <p:nvPr/>
        </p:nvSpPr>
        <p:spPr>
          <a:xfrm xmlns:a="http://schemas.openxmlformats.org/drawingml/2006/main">
            <a:off x="7277100" y="20193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1F5C"/>
                </a:solidFill>
              </a:defRPr>
            </a:pPr>
            <a:r>
              <a:rPr sz="900" b="1">
                <a:solidFill>
                  <a:srgbClr val="7A1F5C"/>
                </a:solidFill>
              </a:rPr>
              <a:t>TRIAGELOOP</a:t>
            </a:r>
          </a:p>
        </p:txBody>
      </p:sp>
      <p:sp>
        <p:nvSpPr>
          <p:cNvPr id="22" name="">
            <a:extLst xmlns:a="http://schemas.openxmlformats.org/drawingml/2006/main">
              <a:ext uri="{FF2B5EF4-FFF2-40B4-BE49-F238E27FC236}">
                <a16:creationId xmlns:a16="http://schemas.microsoft.com/office/drawing/2014/main" id="{1FD1B89F-1FF7-4D6B-BA95-48E304ACC4A7}"/>
              </a:ext>
            </a:extLst>
          </p:cNvPr>
          <p:cNvSpPr>
            <a:spLocks xmlns:a="http://schemas.openxmlformats.org/drawingml/2006/main" noGrp="1"/>
          </p:cNvSpPr>
          <p:nvPr/>
        </p:nvSpPr>
        <p:spPr>
          <a:xfrm xmlns:a="http://schemas.openxmlformats.org/drawingml/2006/main">
            <a:off x="7277100" y="2400300"/>
            <a:ext cx="4229100" cy="2609850"/>
          </a:xfrm>
          <a:prstGeom xmlns:a="http://schemas.openxmlformats.org/drawingml/2006/main" prst="roundRect">
            <a:avLst>
              <a:gd name="adj" fmla="val 6569"/>
            </a:avLst>
          </a:prstGeom>
          <a:solidFill xmlns:a="http://schemas.openxmlformats.org/drawingml/2006/main">
            <a:srgbClr val="52163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A3567BF-09DE-4166-A4FA-2FFCE25CAFFD}"/>
              </a:ext>
            </a:extLst>
          </p:cNvPr>
          <p:cNvSpPr>
            <a:spLocks xmlns:a="http://schemas.openxmlformats.org/drawingml/2006/main" noGrp="1"/>
          </p:cNvSpPr>
          <p:nvPr/>
        </p:nvSpPr>
        <p:spPr>
          <a:xfrm xmlns:a="http://schemas.openxmlformats.org/drawingml/2006/main">
            <a:off x="7562850" y="2667000"/>
            <a:ext cx="3371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Rules + Safe Mode</a:t>
            </a:r>
          </a:p>
        </p:txBody>
      </p:sp>
      <p:sp>
        <p:nvSpPr>
          <p:cNvPr id="24" name="">
            <a:extLst xmlns:a="http://schemas.openxmlformats.org/drawingml/2006/main">
              <a:ext uri="{FF2B5EF4-FFF2-40B4-BE49-F238E27FC236}">
                <a16:creationId xmlns:a16="http://schemas.microsoft.com/office/drawing/2014/main" id="{0F0679CA-FA0F-45A6-8FA7-2FB38D9E2218}"/>
              </a:ext>
            </a:extLst>
          </p:cNvPr>
          <p:cNvSpPr>
            <a:spLocks xmlns:a="http://schemas.openxmlformats.org/drawingml/2006/main" noGrp="1"/>
          </p:cNvSpPr>
          <p:nvPr/>
        </p:nvSpPr>
        <p:spPr>
          <a:xfrm xmlns:a="http://schemas.openxmlformats.org/drawingml/2006/main">
            <a:off x="7562850" y="3238500"/>
            <a:ext cx="3371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Trajectory + Action Window</a:t>
            </a:r>
          </a:p>
        </p:txBody>
      </p:sp>
      <p:sp>
        <p:nvSpPr>
          <p:cNvPr id="25" name="">
            <a:extLst xmlns:a="http://schemas.openxmlformats.org/drawingml/2006/main">
              <a:ext uri="{FF2B5EF4-FFF2-40B4-BE49-F238E27FC236}">
                <a16:creationId xmlns:a16="http://schemas.microsoft.com/office/drawing/2014/main" id="{9735C359-A78A-4A9E-ACAF-A8461C5AF116}"/>
              </a:ext>
            </a:extLst>
          </p:cNvPr>
          <p:cNvSpPr>
            <a:spLocks xmlns:a="http://schemas.openxmlformats.org/drawingml/2006/main" noGrp="1"/>
          </p:cNvSpPr>
          <p:nvPr/>
        </p:nvSpPr>
        <p:spPr>
          <a:xfrm xmlns:a="http://schemas.openxmlformats.org/drawingml/2006/main">
            <a:off x="7562850" y="3810000"/>
            <a:ext cx="3371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Queue Twin + Clinical Slack</a:t>
            </a:r>
          </a:p>
        </p:txBody>
      </p:sp>
      <p:sp>
        <p:nvSpPr>
          <p:cNvPr id="26" name="">
            <a:extLst xmlns:a="http://schemas.openxmlformats.org/drawingml/2006/main">
              <a:ext uri="{FF2B5EF4-FFF2-40B4-BE49-F238E27FC236}">
                <a16:creationId xmlns:a16="http://schemas.microsoft.com/office/drawing/2014/main" id="{100AF919-3B2D-4509-B211-F604F182F86C}"/>
              </a:ext>
            </a:extLst>
          </p:cNvPr>
          <p:cNvSpPr>
            <a:spLocks xmlns:a="http://schemas.openxmlformats.org/drawingml/2006/main" noGrp="1"/>
          </p:cNvSpPr>
          <p:nvPr/>
        </p:nvSpPr>
        <p:spPr>
          <a:xfrm xmlns:a="http://schemas.openxmlformats.org/drawingml/2006/main">
            <a:off x="7562850" y="4381500"/>
            <a:ext cx="3371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FFFFFF"/>
                </a:solidFill>
              </a:defRPr>
            </a:pPr>
            <a:r>
              <a:rPr sz="1350" b="1">
                <a:solidFill>
                  <a:srgbClr val="FFFFFF"/>
                </a:solidFill>
              </a:rPr>
              <a:t>Clinician decision + audit</a:t>
            </a:r>
          </a:p>
        </p:txBody>
      </p:sp>
      <p:sp>
        <p:nvSpPr>
          <p:cNvPr id="27" name="">
            <a:extLst xmlns:a="http://schemas.openxmlformats.org/drawingml/2006/main">
              <a:ext uri="{FF2B5EF4-FFF2-40B4-BE49-F238E27FC236}">
                <a16:creationId xmlns:a16="http://schemas.microsoft.com/office/drawing/2014/main" id="{D027652F-BC91-45B5-B82C-C8C42FF6EC6A}"/>
              </a:ext>
            </a:extLst>
          </p:cNvPr>
          <p:cNvSpPr>
            <a:spLocks xmlns:a="http://schemas.openxmlformats.org/drawingml/2006/main" noGrp="1"/>
          </p:cNvSpPr>
          <p:nvPr/>
        </p:nvSpPr>
        <p:spPr>
          <a:xfrm xmlns:a="http://schemas.openxmlformats.org/drawingml/2006/main">
            <a:off x="2247900" y="5505450"/>
            <a:ext cx="7696200" cy="590550"/>
          </a:xfrm>
          <a:prstGeom xmlns:a="http://schemas.openxmlformats.org/drawingml/2006/main" prst="roundRect">
            <a:avLst>
              <a:gd name="adj" fmla="val 22581"/>
            </a:avLst>
          </a:prstGeom>
          <a:solidFill xmlns:a="http://schemas.openxmlformats.org/drawingml/2006/main">
            <a:srgbClr val="FEECE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F153597-7598-4E1B-8079-2270D4467A62}"/>
              </a:ext>
            </a:extLst>
          </p:cNvPr>
          <p:cNvSpPr>
            <a:spLocks xmlns:a="http://schemas.openxmlformats.org/drawingml/2006/main" noGrp="1"/>
          </p:cNvSpPr>
          <p:nvPr/>
        </p:nvSpPr>
        <p:spPr>
          <a:xfrm xmlns:a="http://schemas.openxmlformats.org/drawingml/2006/main">
            <a:off x="2495550" y="5686425"/>
            <a:ext cx="7200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B42318"/>
                </a:solidFill>
              </a:defRPr>
            </a:pPr>
            <a:r>
              <a:rPr sz="975" b="1">
                <a:solidFill>
                  <a:srgbClr val="B42318"/>
                </a:solidFill>
              </a:rPr>
              <a:t>FAILURE RULE  •  model unavailable → rules + category window  |  queue unavailable → deadline visible, feasibility unknown</a:t>
            </a:r>
          </a:p>
        </p:txBody>
      </p:sp>
    </p:spTree>
    <p:extLst>
      <p:ext uri="{BB962C8B-B14F-4D97-AF65-F5344CB8AC3E}">
        <p14:creationId xmlns:p14="http://schemas.microsoft.com/office/powerpoint/2010/main" val="192790006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EB63C16-F9CA-45DA-A070-3A20C79BAADF}"/>
              </a:ext>
            </a:extLst>
          </p:cNvPr>
          <p:cNvSpPr>
            <a:spLocks xmlns:a="http://schemas.openxmlformats.org/drawingml/2006/main" noGrp="1"/>
          </p:cNvSpPr>
          <p:nvPr/>
        </p:nvSpPr>
        <p:spPr>
          <a:xfrm xmlns:a="http://schemas.openxmlformats.org/drawingml/2006/main">
            <a:off x="609600" y="3429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A1F5C"/>
                </a:solidFill>
              </a:defRPr>
            </a:pPr>
            <a:r>
              <a:rPr sz="825" b="1">
                <a:solidFill>
                  <a:srgbClr val="7A1F5C"/>
                </a:solidFill>
              </a:rPr>
              <a:t>BUSINESS CASE</a:t>
            </a:r>
          </a:p>
        </p:txBody>
      </p:sp>
      <p:sp>
        <p:nvSpPr>
          <p:cNvPr id="2" name="">
            <a:extLst xmlns:a="http://schemas.openxmlformats.org/drawingml/2006/main">
              <a:ext uri="{FF2B5EF4-FFF2-40B4-BE49-F238E27FC236}">
                <a16:creationId xmlns:a16="http://schemas.microsoft.com/office/drawing/2014/main" id="{E3AC17E6-5B6E-40FC-9AA9-8A865F871F3C}"/>
              </a:ext>
            </a:extLst>
          </p:cNvPr>
          <p:cNvSpPr>
            <a:spLocks xmlns:a="http://schemas.openxmlformats.org/drawingml/2006/main" noGrp="1"/>
          </p:cNvSpPr>
          <p:nvPr/>
        </p:nvSpPr>
        <p:spPr>
          <a:xfrm xmlns:a="http://schemas.openxmlformats.org/drawingml/2006/main">
            <a:off x="609600" y="62865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211C27"/>
                </a:solidFill>
              </a:defRPr>
            </a:pPr>
            <a:r>
              <a:rPr sz="2550" b="1">
                <a:solidFill>
                  <a:srgbClr val="211C27"/>
                </a:solidFill>
              </a:rPr>
              <a:t>Measure value before monetizing it.</a:t>
            </a:r>
          </a:p>
        </p:txBody>
      </p:sp>
      <p:sp>
        <p:nvSpPr>
          <p:cNvPr id="3" name="">
            <a:extLst xmlns:a="http://schemas.openxmlformats.org/drawingml/2006/main">
              <a:ext uri="{FF2B5EF4-FFF2-40B4-BE49-F238E27FC236}">
                <a16:creationId xmlns:a16="http://schemas.microsoft.com/office/drawing/2014/main" id="{12973737-2268-46C3-A88E-F76809919BD6}"/>
              </a:ext>
            </a:extLst>
          </p:cNvPr>
          <p:cNvSpPr>
            <a:spLocks xmlns:a="http://schemas.openxmlformats.org/drawingml/2006/main" noGrp="1"/>
          </p:cNvSpPr>
          <p:nvPr/>
        </p:nvSpPr>
        <p:spPr>
          <a:xfrm xmlns:a="http://schemas.openxmlformats.org/drawingml/2006/main">
            <a:off x="609600" y="12192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5B67"/>
                </a:solidFill>
              </a:defRPr>
            </a:pPr>
            <a:r>
              <a:rPr sz="1275" b="0">
                <a:solidFill>
                  <a:srgbClr val="625B67"/>
                </a:solidFill>
              </a:rPr>
              <a:t>No synthetic rupee-savings claim. A local pilot earns the right to scale through observable process and safety outcomes.</a:t>
            </a:r>
          </a:p>
        </p:txBody>
      </p:sp>
      <p:sp>
        <p:nvSpPr>
          <p:cNvPr id="4" name="">
            <a:extLst xmlns:a="http://schemas.openxmlformats.org/drawingml/2006/main">
              <a:ext uri="{FF2B5EF4-FFF2-40B4-BE49-F238E27FC236}">
                <a16:creationId xmlns:a16="http://schemas.microsoft.com/office/drawing/2014/main" id="{617306EF-310E-4E95-A98B-090721DCE732}"/>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5" name="">
            <a:extLst xmlns:a="http://schemas.openxmlformats.org/drawingml/2006/main">
              <a:ext uri="{FF2B5EF4-FFF2-40B4-BE49-F238E27FC236}">
                <a16:creationId xmlns:a16="http://schemas.microsoft.com/office/drawing/2014/main" id="{EF30839B-344D-4043-BFA3-8A49B5CC01A1}"/>
              </a:ext>
            </a:extLst>
          </p:cNvPr>
          <p:cNvSpPr>
            <a:spLocks xmlns:a="http://schemas.openxmlformats.org/drawingml/2006/main" noGrp="1"/>
          </p:cNvSpPr>
          <p:nvPr/>
        </p:nvSpPr>
        <p:spPr>
          <a:xfrm xmlns:a="http://schemas.openxmlformats.org/drawingml/2006/main">
            <a:off x="609600" y="6581775"/>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625B67"/>
                </a:solidFill>
              </a:defRPr>
            </a:pPr>
            <a:r>
              <a:rPr sz="675" b="0">
                <a:solidFill>
                  <a:srgbClr val="625B67"/>
                </a:solidFill>
              </a:rPr>
              <a:t>Synthetic decision-support prototype — not validated for clinical use</a:t>
            </a:r>
          </a:p>
        </p:txBody>
      </p:sp>
      <p:sp>
        <p:nvSpPr>
          <p:cNvPr id="6" name="">
            <a:extLst xmlns:a="http://schemas.openxmlformats.org/drawingml/2006/main">
              <a:ext uri="{FF2B5EF4-FFF2-40B4-BE49-F238E27FC236}">
                <a16:creationId xmlns:a16="http://schemas.microsoft.com/office/drawing/2014/main" id="{CB430290-1CD6-4952-8A77-65264753E547}"/>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625B67"/>
                </a:solidFill>
              </a:defRPr>
            </a:pPr>
            <a:r>
              <a:rPr sz="750" b="1">
                <a:solidFill>
                  <a:srgbClr val="625B67"/>
                </a:solidFill>
              </a:rPr>
              <a:t>14</a:t>
            </a:r>
          </a:p>
        </p:txBody>
      </p:sp>
      <p:sp>
        <p:nvSpPr>
          <p:cNvPr id="7" name="">
            <a:extLst xmlns:a="http://schemas.openxmlformats.org/drawingml/2006/main">
              <a:ext uri="{FF2B5EF4-FFF2-40B4-BE49-F238E27FC236}">
                <a16:creationId xmlns:a16="http://schemas.microsoft.com/office/drawing/2014/main" id="{177380EF-0CC6-437D-9A76-40A213E05174}"/>
              </a:ext>
            </a:extLst>
          </p:cNvPr>
          <p:cNvSpPr>
            <a:spLocks xmlns:a="http://schemas.openxmlformats.org/drawingml/2006/main" noGrp="1"/>
          </p:cNvSpPr>
          <p:nvPr/>
        </p:nvSpPr>
        <p:spPr>
          <a:xfrm xmlns:a="http://schemas.openxmlformats.org/drawingml/2006/main">
            <a:off x="723900" y="19812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1F5C"/>
                </a:solidFill>
              </a:defRPr>
            </a:pPr>
            <a:r>
              <a:rPr sz="900" b="1">
                <a:solidFill>
                  <a:srgbClr val="7A1F5C"/>
                </a:solidFill>
              </a:rPr>
              <a:t>VALUE LEVERS</a:t>
            </a:r>
          </a:p>
        </p:txBody>
      </p:sp>
      <p:sp>
        <p:nvSpPr>
          <p:cNvPr id="8" name="">
            <a:extLst xmlns:a="http://schemas.openxmlformats.org/drawingml/2006/main">
              <a:ext uri="{FF2B5EF4-FFF2-40B4-BE49-F238E27FC236}">
                <a16:creationId xmlns:a16="http://schemas.microsoft.com/office/drawing/2014/main" id="{BAFCFBAC-822B-46BA-B9F7-F6820E77635E}"/>
              </a:ext>
            </a:extLst>
          </p:cNvPr>
          <p:cNvSpPr>
            <a:spLocks xmlns:a="http://schemas.openxmlformats.org/drawingml/2006/main" noGrp="1"/>
          </p:cNvSpPr>
          <p:nvPr/>
        </p:nvSpPr>
        <p:spPr>
          <a:xfrm xmlns:a="http://schemas.openxmlformats.org/drawingml/2006/main">
            <a:off x="723900" y="2343150"/>
            <a:ext cx="4191000" cy="476250"/>
          </a:xfrm>
          <a:prstGeom xmlns:a="http://schemas.openxmlformats.org/drawingml/2006/main" prst="roundRect">
            <a:avLst>
              <a:gd name="adj" fmla="val 24000"/>
            </a:avLst>
          </a:prstGeom>
          <a:solidFill xmlns:a="http://schemas.openxmlformats.org/drawingml/2006/main">
            <a:srgbClr val="F6F3F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1DABE88-22EA-4A5C-9B33-6867CD4C1650}"/>
              </a:ext>
            </a:extLst>
          </p:cNvPr>
          <p:cNvSpPr>
            <a:spLocks xmlns:a="http://schemas.openxmlformats.org/drawingml/2006/main" noGrp="1"/>
          </p:cNvSpPr>
          <p:nvPr/>
        </p:nvSpPr>
        <p:spPr>
          <a:xfrm xmlns:a="http://schemas.openxmlformats.org/drawingml/2006/main">
            <a:off x="876300" y="2495550"/>
            <a:ext cx="171450" cy="171450"/>
          </a:xfrm>
          <a:prstGeom xmlns:a="http://schemas.openxmlformats.org/drawingml/2006/main" prst="roundRect">
            <a:avLst>
              <a:gd name="adj" fmla="val 50000"/>
            </a:avLst>
          </a:prstGeom>
          <a:solidFill xmlns:a="http://schemas.openxmlformats.org/drawingml/2006/main">
            <a:srgbClr val="7A1F5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A18BF5D-CDA3-4F53-A617-890E2FD92AEA}"/>
              </a:ext>
            </a:extLst>
          </p:cNvPr>
          <p:cNvSpPr>
            <a:spLocks xmlns:a="http://schemas.openxmlformats.org/drawingml/2006/main" noGrp="1"/>
          </p:cNvSpPr>
          <p:nvPr/>
        </p:nvSpPr>
        <p:spPr>
          <a:xfrm xmlns:a="http://schemas.openxmlformats.org/drawingml/2006/main">
            <a:off x="1200150" y="24574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11C27"/>
                </a:solidFill>
              </a:defRPr>
            </a:pPr>
            <a:r>
              <a:rPr sz="1200" b="1">
                <a:solidFill>
                  <a:srgbClr val="211C27"/>
                </a:solidFill>
              </a:rPr>
              <a:t>Fewer missed action windows</a:t>
            </a:r>
          </a:p>
        </p:txBody>
      </p:sp>
      <p:sp>
        <p:nvSpPr>
          <p:cNvPr id="11" name="">
            <a:extLst xmlns:a="http://schemas.openxmlformats.org/drawingml/2006/main">
              <a:ext uri="{FF2B5EF4-FFF2-40B4-BE49-F238E27FC236}">
                <a16:creationId xmlns:a16="http://schemas.microsoft.com/office/drawing/2014/main" id="{E3F44E1E-73CE-45C2-BDE9-643348FBF3DA}"/>
              </a:ext>
            </a:extLst>
          </p:cNvPr>
          <p:cNvSpPr>
            <a:spLocks xmlns:a="http://schemas.openxmlformats.org/drawingml/2006/main" noGrp="1"/>
          </p:cNvSpPr>
          <p:nvPr/>
        </p:nvSpPr>
        <p:spPr>
          <a:xfrm xmlns:a="http://schemas.openxmlformats.org/drawingml/2006/main">
            <a:off x="723900" y="2933700"/>
            <a:ext cx="4191000" cy="476250"/>
          </a:xfrm>
          <a:prstGeom xmlns:a="http://schemas.openxmlformats.org/drawingml/2006/main" prst="roundRect">
            <a:avLst>
              <a:gd name="adj" fmla="val 24000"/>
            </a:avLst>
          </a:prstGeom>
          <a:solidFill xmlns:a="http://schemas.openxmlformats.org/drawingml/2006/main">
            <a:srgbClr val="F6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9EEEF8C-1B11-4226-A681-BA29CF72EF9E}"/>
              </a:ext>
            </a:extLst>
          </p:cNvPr>
          <p:cNvSpPr>
            <a:spLocks xmlns:a="http://schemas.openxmlformats.org/drawingml/2006/main" noGrp="1"/>
          </p:cNvSpPr>
          <p:nvPr/>
        </p:nvSpPr>
        <p:spPr>
          <a:xfrm xmlns:a="http://schemas.openxmlformats.org/drawingml/2006/main">
            <a:off x="876300" y="3086100"/>
            <a:ext cx="171450" cy="171450"/>
          </a:xfrm>
          <a:prstGeom xmlns:a="http://schemas.openxmlformats.org/drawingml/2006/main" prst="roundRect">
            <a:avLst>
              <a:gd name="adj" fmla="val 50000"/>
            </a:avLst>
          </a:prstGeom>
          <a:solidFill xmlns:a="http://schemas.openxmlformats.org/drawingml/2006/main">
            <a:srgbClr val="7A1F5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728F39C-A5A9-4341-B14A-D53A455969C9}"/>
              </a:ext>
            </a:extLst>
          </p:cNvPr>
          <p:cNvSpPr>
            <a:spLocks xmlns:a="http://schemas.openxmlformats.org/drawingml/2006/main" noGrp="1"/>
          </p:cNvSpPr>
          <p:nvPr/>
        </p:nvSpPr>
        <p:spPr>
          <a:xfrm xmlns:a="http://schemas.openxmlformats.org/drawingml/2006/main">
            <a:off x="1200150" y="30480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11C27"/>
                </a:solidFill>
              </a:defRPr>
            </a:pPr>
            <a:r>
              <a:rPr sz="1200" b="1">
                <a:solidFill>
                  <a:srgbClr val="211C27"/>
                </a:solidFill>
              </a:rPr>
              <a:t>Faster deterioration review</a:t>
            </a:r>
          </a:p>
        </p:txBody>
      </p:sp>
      <p:sp>
        <p:nvSpPr>
          <p:cNvPr id="14" name="">
            <a:extLst xmlns:a="http://schemas.openxmlformats.org/drawingml/2006/main">
              <a:ext uri="{FF2B5EF4-FFF2-40B4-BE49-F238E27FC236}">
                <a16:creationId xmlns:a16="http://schemas.microsoft.com/office/drawing/2014/main" id="{8823FD34-13D6-4352-A07A-73DDEE2640F8}"/>
              </a:ext>
            </a:extLst>
          </p:cNvPr>
          <p:cNvSpPr>
            <a:spLocks xmlns:a="http://schemas.openxmlformats.org/drawingml/2006/main" noGrp="1"/>
          </p:cNvSpPr>
          <p:nvPr/>
        </p:nvSpPr>
        <p:spPr>
          <a:xfrm xmlns:a="http://schemas.openxmlformats.org/drawingml/2006/main">
            <a:off x="723900" y="3524250"/>
            <a:ext cx="4191000" cy="476250"/>
          </a:xfrm>
          <a:prstGeom xmlns:a="http://schemas.openxmlformats.org/drawingml/2006/main" prst="roundRect">
            <a:avLst>
              <a:gd name="adj" fmla="val 24000"/>
            </a:avLst>
          </a:prstGeom>
          <a:solidFill xmlns:a="http://schemas.openxmlformats.org/drawingml/2006/main">
            <a:srgbClr val="F6F3F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DD198CA-7166-4686-BC4F-D9708D9DB11E}"/>
              </a:ext>
            </a:extLst>
          </p:cNvPr>
          <p:cNvSpPr>
            <a:spLocks xmlns:a="http://schemas.openxmlformats.org/drawingml/2006/main" noGrp="1"/>
          </p:cNvSpPr>
          <p:nvPr/>
        </p:nvSpPr>
        <p:spPr>
          <a:xfrm xmlns:a="http://schemas.openxmlformats.org/drawingml/2006/main">
            <a:off x="876300" y="3676650"/>
            <a:ext cx="171450" cy="171450"/>
          </a:xfrm>
          <a:prstGeom xmlns:a="http://schemas.openxmlformats.org/drawingml/2006/main" prst="roundRect">
            <a:avLst>
              <a:gd name="adj" fmla="val 50000"/>
            </a:avLst>
          </a:prstGeom>
          <a:solidFill xmlns:a="http://schemas.openxmlformats.org/drawingml/2006/main">
            <a:srgbClr val="7A1F5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80D99FB-7534-4966-B872-AD9FA846A27E}"/>
              </a:ext>
            </a:extLst>
          </p:cNvPr>
          <p:cNvSpPr>
            <a:spLocks xmlns:a="http://schemas.openxmlformats.org/drawingml/2006/main" noGrp="1"/>
          </p:cNvSpPr>
          <p:nvPr/>
        </p:nvSpPr>
        <p:spPr>
          <a:xfrm xmlns:a="http://schemas.openxmlformats.org/drawingml/2006/main">
            <a:off x="1200150" y="36385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11C27"/>
                </a:solidFill>
              </a:defRPr>
            </a:pPr>
            <a:r>
              <a:rPr sz="1200" b="1">
                <a:solidFill>
                  <a:srgbClr val="211C27"/>
                </a:solidFill>
              </a:rPr>
              <a:t>Less manual queue scanning</a:t>
            </a:r>
          </a:p>
        </p:txBody>
      </p:sp>
      <p:sp>
        <p:nvSpPr>
          <p:cNvPr id="17" name="">
            <a:extLst xmlns:a="http://schemas.openxmlformats.org/drawingml/2006/main">
              <a:ext uri="{FF2B5EF4-FFF2-40B4-BE49-F238E27FC236}">
                <a16:creationId xmlns:a16="http://schemas.microsoft.com/office/drawing/2014/main" id="{52ECA6A9-E10A-4508-9385-62CECBBD6569}"/>
              </a:ext>
            </a:extLst>
          </p:cNvPr>
          <p:cNvSpPr>
            <a:spLocks xmlns:a="http://schemas.openxmlformats.org/drawingml/2006/main" noGrp="1"/>
          </p:cNvSpPr>
          <p:nvPr/>
        </p:nvSpPr>
        <p:spPr>
          <a:xfrm xmlns:a="http://schemas.openxmlformats.org/drawingml/2006/main">
            <a:off x="723900" y="4114800"/>
            <a:ext cx="4191000" cy="476250"/>
          </a:xfrm>
          <a:prstGeom xmlns:a="http://schemas.openxmlformats.org/drawingml/2006/main" prst="roundRect">
            <a:avLst>
              <a:gd name="adj" fmla="val 24000"/>
            </a:avLst>
          </a:prstGeom>
          <a:solidFill xmlns:a="http://schemas.openxmlformats.org/drawingml/2006/main">
            <a:srgbClr val="F6F3F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B6A50AA-8A3B-4743-90FC-0874AF20BFFA}"/>
              </a:ext>
            </a:extLst>
          </p:cNvPr>
          <p:cNvSpPr>
            <a:spLocks xmlns:a="http://schemas.openxmlformats.org/drawingml/2006/main" noGrp="1"/>
          </p:cNvSpPr>
          <p:nvPr/>
        </p:nvSpPr>
        <p:spPr>
          <a:xfrm xmlns:a="http://schemas.openxmlformats.org/drawingml/2006/main">
            <a:off x="876300" y="4267200"/>
            <a:ext cx="171450" cy="171450"/>
          </a:xfrm>
          <a:prstGeom xmlns:a="http://schemas.openxmlformats.org/drawingml/2006/main" prst="roundRect">
            <a:avLst>
              <a:gd name="adj" fmla="val 50000"/>
            </a:avLst>
          </a:prstGeom>
          <a:solidFill xmlns:a="http://schemas.openxmlformats.org/drawingml/2006/main">
            <a:srgbClr val="7A1F5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D25CFA8-D2F9-41F3-9C3E-B0CA5F86D7BC}"/>
              </a:ext>
            </a:extLst>
          </p:cNvPr>
          <p:cNvSpPr>
            <a:spLocks xmlns:a="http://schemas.openxmlformats.org/drawingml/2006/main" noGrp="1"/>
          </p:cNvSpPr>
          <p:nvPr/>
        </p:nvSpPr>
        <p:spPr>
          <a:xfrm xmlns:a="http://schemas.openxmlformats.org/drawingml/2006/main">
            <a:off x="1200150" y="422910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11C27"/>
                </a:solidFill>
              </a:defRPr>
            </a:pPr>
            <a:r>
              <a:rPr sz="1200" b="1">
                <a:solidFill>
                  <a:srgbClr val="211C27"/>
                </a:solidFill>
              </a:rPr>
              <a:t>Earlier capacity conflict visibility</a:t>
            </a:r>
          </a:p>
        </p:txBody>
      </p:sp>
      <p:sp>
        <p:nvSpPr>
          <p:cNvPr id="20" name="">
            <a:extLst xmlns:a="http://schemas.openxmlformats.org/drawingml/2006/main">
              <a:ext uri="{FF2B5EF4-FFF2-40B4-BE49-F238E27FC236}">
                <a16:creationId xmlns:a16="http://schemas.microsoft.com/office/drawing/2014/main" id="{0BB26772-B7E3-471C-9A8C-44831E9B48F9}"/>
              </a:ext>
            </a:extLst>
          </p:cNvPr>
          <p:cNvSpPr>
            <a:spLocks xmlns:a="http://schemas.openxmlformats.org/drawingml/2006/main" noGrp="1"/>
          </p:cNvSpPr>
          <p:nvPr/>
        </p:nvSpPr>
        <p:spPr>
          <a:xfrm xmlns:a="http://schemas.openxmlformats.org/drawingml/2006/main">
            <a:off x="723900" y="4705350"/>
            <a:ext cx="4191000" cy="476250"/>
          </a:xfrm>
          <a:prstGeom xmlns:a="http://schemas.openxmlformats.org/drawingml/2006/main" prst="roundRect">
            <a:avLst>
              <a:gd name="adj" fmla="val 24000"/>
            </a:avLst>
          </a:prstGeom>
          <a:solidFill xmlns:a="http://schemas.openxmlformats.org/drawingml/2006/main">
            <a:srgbClr val="F6F3F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6E82683-CBDE-4750-9514-36135C2D9855}"/>
              </a:ext>
            </a:extLst>
          </p:cNvPr>
          <p:cNvSpPr>
            <a:spLocks xmlns:a="http://schemas.openxmlformats.org/drawingml/2006/main" noGrp="1"/>
          </p:cNvSpPr>
          <p:nvPr/>
        </p:nvSpPr>
        <p:spPr>
          <a:xfrm xmlns:a="http://schemas.openxmlformats.org/drawingml/2006/main">
            <a:off x="876300" y="4857750"/>
            <a:ext cx="171450" cy="171450"/>
          </a:xfrm>
          <a:prstGeom xmlns:a="http://schemas.openxmlformats.org/drawingml/2006/main" prst="roundRect">
            <a:avLst>
              <a:gd name="adj" fmla="val 50000"/>
            </a:avLst>
          </a:prstGeom>
          <a:solidFill xmlns:a="http://schemas.openxmlformats.org/drawingml/2006/main">
            <a:srgbClr val="7A1F5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CE4D13D-A36A-41F9-9DC6-D0FEA94CFFCF}"/>
              </a:ext>
            </a:extLst>
          </p:cNvPr>
          <p:cNvSpPr>
            <a:spLocks xmlns:a="http://schemas.openxmlformats.org/drawingml/2006/main" noGrp="1"/>
          </p:cNvSpPr>
          <p:nvPr/>
        </p:nvSpPr>
        <p:spPr>
          <a:xfrm xmlns:a="http://schemas.openxmlformats.org/drawingml/2006/main">
            <a:off x="1200150" y="48196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11C27"/>
                </a:solidFill>
              </a:defRPr>
            </a:pPr>
            <a:r>
              <a:rPr sz="1200" b="1">
                <a:solidFill>
                  <a:srgbClr val="211C27"/>
                </a:solidFill>
              </a:rPr>
              <a:t>Auditable decisions</a:t>
            </a:r>
          </a:p>
        </p:txBody>
      </p:sp>
      <p:sp>
        <p:nvSpPr>
          <p:cNvPr id="23" name="">
            <a:extLst xmlns:a="http://schemas.openxmlformats.org/drawingml/2006/main">
              <a:ext uri="{FF2B5EF4-FFF2-40B4-BE49-F238E27FC236}">
                <a16:creationId xmlns:a16="http://schemas.microsoft.com/office/drawing/2014/main" id="{3C3E591F-D877-4CD3-946D-8F1AD7DADD9C}"/>
              </a:ext>
            </a:extLst>
          </p:cNvPr>
          <p:cNvSpPr>
            <a:spLocks xmlns:a="http://schemas.openxmlformats.org/drawingml/2006/main" noGrp="1"/>
          </p:cNvSpPr>
          <p:nvPr/>
        </p:nvSpPr>
        <p:spPr>
          <a:xfrm xmlns:a="http://schemas.openxmlformats.org/drawingml/2006/main">
            <a:off x="5486400" y="19812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1F5C"/>
                </a:solidFill>
              </a:defRPr>
            </a:pPr>
            <a:r>
              <a:rPr sz="900" b="1">
                <a:solidFill>
                  <a:srgbClr val="7A1F5C"/>
                </a:solidFill>
              </a:rPr>
              <a:t>PILOT ECONOMICS</a:t>
            </a:r>
          </a:p>
        </p:txBody>
      </p:sp>
      <p:sp>
        <p:nvSpPr>
          <p:cNvPr id="24" name="">
            <a:extLst xmlns:a="http://schemas.openxmlformats.org/drawingml/2006/main">
              <a:ext uri="{FF2B5EF4-FFF2-40B4-BE49-F238E27FC236}">
                <a16:creationId xmlns:a16="http://schemas.microsoft.com/office/drawing/2014/main" id="{863B0E00-04E6-4BC4-B273-D568E442F218}"/>
              </a:ext>
            </a:extLst>
          </p:cNvPr>
          <p:cNvSpPr>
            <a:spLocks xmlns:a="http://schemas.openxmlformats.org/drawingml/2006/main" noGrp="1"/>
          </p:cNvSpPr>
          <p:nvPr/>
        </p:nvSpPr>
        <p:spPr>
          <a:xfrm xmlns:a="http://schemas.openxmlformats.org/drawingml/2006/main">
            <a:off x="5486400" y="2343150"/>
            <a:ext cx="6019800" cy="1562100"/>
          </a:xfrm>
          <a:prstGeom xmlns:a="http://schemas.openxmlformats.org/drawingml/2006/main" prst="roundRect">
            <a:avLst>
              <a:gd name="adj" fmla="val 10976"/>
            </a:avLst>
          </a:prstGeom>
          <a:solidFill xmlns:a="http://schemas.openxmlformats.org/drawingml/2006/main">
            <a:srgbClr val="F7EEF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FADD1CE-2A9E-407F-9B9E-5EC3112520B4}"/>
              </a:ext>
            </a:extLst>
          </p:cNvPr>
          <p:cNvSpPr>
            <a:spLocks xmlns:a="http://schemas.openxmlformats.org/drawingml/2006/main" noGrp="1"/>
          </p:cNvSpPr>
          <p:nvPr/>
        </p:nvSpPr>
        <p:spPr>
          <a:xfrm xmlns:a="http://schemas.openxmlformats.org/drawingml/2006/main">
            <a:off x="5753100" y="2590800"/>
            <a:ext cx="542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52163E"/>
                </a:solidFill>
              </a:defRPr>
            </a:pPr>
            <a:r>
              <a:rPr sz="1200" b="1">
                <a:solidFill>
                  <a:srgbClr val="52163E"/>
                </a:solidFill>
              </a:rPr>
              <a:t>Annual attributable value</a:t>
            </a:r>
          </a:p>
        </p:txBody>
      </p:sp>
      <p:sp>
        <p:nvSpPr>
          <p:cNvPr id="26" name="">
            <a:extLst xmlns:a="http://schemas.openxmlformats.org/drawingml/2006/main">
              <a:ext uri="{FF2B5EF4-FFF2-40B4-BE49-F238E27FC236}">
                <a16:creationId xmlns:a16="http://schemas.microsoft.com/office/drawing/2014/main" id="{7CE330ED-646D-41F7-8BCE-4AAEFA1C83F6}"/>
              </a:ext>
            </a:extLst>
          </p:cNvPr>
          <p:cNvSpPr>
            <a:spLocks xmlns:a="http://schemas.openxmlformats.org/drawingml/2006/main" noGrp="1"/>
          </p:cNvSpPr>
          <p:nvPr/>
        </p:nvSpPr>
        <p:spPr>
          <a:xfrm xmlns:a="http://schemas.openxmlformats.org/drawingml/2006/main">
            <a:off x="5753100" y="3009900"/>
            <a:ext cx="5429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11C27"/>
                </a:solidFill>
              </a:defRPr>
            </a:pPr>
            <a:r>
              <a:rPr sz="1200" b="1">
                <a:solidFill>
                  <a:srgbClr val="211C27"/>
                </a:solidFill>
              </a:rPr>
              <a:t>(avoidable process time × loaded staff cost)</a:t>
            </a:r>
          </a:p>
          <a:p xmlns:a="http://schemas.openxmlformats.org/drawingml/2006/main">
            <a:pPr algn="l">
              <a:defRPr sz="1200" b="1">
                <a:solidFill>
                  <a:srgbClr val="211C27"/>
                </a:solidFill>
              </a:defRPr>
            </a:pPr>
            <a:r>
              <a:rPr sz="1200" b="1">
                <a:solidFill>
                  <a:srgbClr val="211C27"/>
                </a:solidFill>
              </a:rPr>
              <a:t>+ operational exceptions avoided</a:t>
            </a:r>
          </a:p>
          <a:p xmlns:a="http://schemas.openxmlformats.org/drawingml/2006/main">
            <a:pPr algn="l">
              <a:defRPr sz="1200" b="1">
                <a:solidFill>
                  <a:srgbClr val="211C27"/>
                </a:solidFill>
              </a:defRPr>
            </a:pPr>
            <a:r>
              <a:rPr sz="1200" b="1">
                <a:solidFill>
                  <a:srgbClr val="211C27"/>
                </a:solidFill>
              </a:rPr>
              <a:t>+ audit / documentation efficiency</a:t>
            </a:r>
          </a:p>
          <a:p xmlns:a="http://schemas.openxmlformats.org/drawingml/2006/main">
            <a:pPr algn="l">
              <a:defRPr sz="1200" b="1">
                <a:solidFill>
                  <a:srgbClr val="211C27"/>
                </a:solidFill>
              </a:defRPr>
            </a:pPr>
            <a:r>
              <a:rPr sz="1200" b="1">
                <a:solidFill>
                  <a:srgbClr val="211C27"/>
                </a:solidFill>
              </a:rPr>
              <a:t>− integration, validation, change and operating cost</a:t>
            </a:r>
          </a:p>
        </p:txBody>
      </p:sp>
      <p:sp>
        <p:nvSpPr>
          <p:cNvPr id="27" name="">
            <a:extLst xmlns:a="http://schemas.openxmlformats.org/drawingml/2006/main">
              <a:ext uri="{FF2B5EF4-FFF2-40B4-BE49-F238E27FC236}">
                <a16:creationId xmlns:a16="http://schemas.microsoft.com/office/drawing/2014/main" id="{7A527E29-E0A6-4352-A191-AA02F91722B8}"/>
              </a:ext>
            </a:extLst>
          </p:cNvPr>
          <p:cNvSpPr>
            <a:spLocks xmlns:a="http://schemas.openxmlformats.org/drawingml/2006/main" noGrp="1"/>
          </p:cNvSpPr>
          <p:nvPr/>
        </p:nvSpPr>
        <p:spPr>
          <a:xfrm xmlns:a="http://schemas.openxmlformats.org/drawingml/2006/main">
            <a:off x="5486400" y="4133850"/>
            <a:ext cx="6019800" cy="1162050"/>
          </a:xfrm>
          <a:prstGeom xmlns:a="http://schemas.openxmlformats.org/drawingml/2006/main" prst="roundRect">
            <a:avLst>
              <a:gd name="adj" fmla="val 14754"/>
            </a:avLst>
          </a:prstGeom>
          <a:solidFill xmlns:a="http://schemas.openxmlformats.org/drawingml/2006/main">
            <a:srgbClr val="FEECE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0748D6A-C259-4EE2-8925-C330640FC71F}"/>
              </a:ext>
            </a:extLst>
          </p:cNvPr>
          <p:cNvSpPr>
            <a:spLocks xmlns:a="http://schemas.openxmlformats.org/drawingml/2006/main" noGrp="1"/>
          </p:cNvSpPr>
          <p:nvPr/>
        </p:nvSpPr>
        <p:spPr>
          <a:xfrm xmlns:a="http://schemas.openxmlformats.org/drawingml/2006/main">
            <a:off x="5753100" y="4381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B42318"/>
                </a:solidFill>
              </a:defRPr>
            </a:pPr>
            <a:r>
              <a:rPr sz="900" b="1">
                <a:solidFill>
                  <a:srgbClr val="B42318"/>
                </a:solidFill>
              </a:rPr>
              <a:t>DO NOT MONETIZE</a:t>
            </a:r>
          </a:p>
        </p:txBody>
      </p:sp>
      <p:sp>
        <p:nvSpPr>
          <p:cNvPr id="29" name="">
            <a:extLst xmlns:a="http://schemas.openxmlformats.org/drawingml/2006/main">
              <a:ext uri="{FF2B5EF4-FFF2-40B4-BE49-F238E27FC236}">
                <a16:creationId xmlns:a16="http://schemas.microsoft.com/office/drawing/2014/main" id="{CBC8276C-EDAA-40BF-A092-8ACB9F9FB4D3}"/>
              </a:ext>
            </a:extLst>
          </p:cNvPr>
          <p:cNvSpPr>
            <a:spLocks xmlns:a="http://schemas.openxmlformats.org/drawingml/2006/main" noGrp="1"/>
          </p:cNvSpPr>
          <p:nvPr/>
        </p:nvSpPr>
        <p:spPr>
          <a:xfrm xmlns:a="http://schemas.openxmlformats.org/drawingml/2006/main">
            <a:off x="5753100" y="4724400"/>
            <a:ext cx="542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11C27"/>
                </a:solidFill>
              </a:defRPr>
            </a:pPr>
            <a:r>
              <a:rPr sz="1275" b="1">
                <a:solidFill>
                  <a:srgbClr val="211C27"/>
                </a:solidFill>
              </a:rPr>
              <a:t>Patient harm avoided until independent clinical evidence supports the causal link.</a:t>
            </a:r>
          </a:p>
        </p:txBody>
      </p:sp>
      <p:sp>
        <p:nvSpPr>
          <p:cNvPr id="30" name="">
            <a:extLst xmlns:a="http://schemas.openxmlformats.org/drawingml/2006/main">
              <a:ext uri="{FF2B5EF4-FFF2-40B4-BE49-F238E27FC236}">
                <a16:creationId xmlns:a16="http://schemas.microsoft.com/office/drawing/2014/main" id="{4C56BCE7-8CF8-46AD-BA68-5559E2FC134D}"/>
              </a:ext>
            </a:extLst>
          </p:cNvPr>
          <p:cNvSpPr>
            <a:spLocks xmlns:a="http://schemas.openxmlformats.org/drawingml/2006/main" noGrp="1"/>
          </p:cNvSpPr>
          <p:nvPr/>
        </p:nvSpPr>
        <p:spPr>
          <a:xfrm xmlns:a="http://schemas.openxmlformats.org/drawingml/2006/main">
            <a:off x="723900" y="5829300"/>
            <a:ext cx="10782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625B67"/>
                </a:solidFill>
              </a:defRPr>
            </a:pPr>
            <a:r>
              <a:rPr sz="1050" b="1">
                <a:solidFill>
                  <a:srgbClr val="625B67"/>
                </a:solidFill>
              </a:rPr>
              <a:t>Buyer path: retrospective validation → shadow pilot → controlled production → multi-site scale</a:t>
            </a:r>
          </a:p>
        </p:txBody>
      </p:sp>
    </p:spTree>
    <p:extLst>
      <p:ext uri="{BB962C8B-B14F-4D97-AF65-F5344CB8AC3E}">
        <p14:creationId xmlns:p14="http://schemas.microsoft.com/office/powerpoint/2010/main" val="51150583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DF0D7CA-59EE-4D1C-BA0C-7050F6F20C69}"/>
              </a:ext>
            </a:extLst>
          </p:cNvPr>
          <p:cNvSpPr>
            <a:spLocks xmlns:a="http://schemas.openxmlformats.org/drawingml/2006/main" noGrp="1"/>
          </p:cNvSpPr>
          <p:nvPr/>
        </p:nvSpPr>
        <p:spPr>
          <a:xfrm xmlns:a="http://schemas.openxmlformats.org/drawingml/2006/main">
            <a:off x="609600" y="3429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A1F5C"/>
                </a:solidFill>
              </a:defRPr>
            </a:pPr>
            <a:r>
              <a:rPr sz="825" b="1">
                <a:solidFill>
                  <a:srgbClr val="7A1F5C"/>
                </a:solidFill>
              </a:rPr>
              <a:t>RESPONSIBLE PATH TO PILOT</a:t>
            </a:r>
          </a:p>
        </p:txBody>
      </p:sp>
      <p:sp>
        <p:nvSpPr>
          <p:cNvPr id="2" name="">
            <a:extLst xmlns:a="http://schemas.openxmlformats.org/drawingml/2006/main">
              <a:ext uri="{FF2B5EF4-FFF2-40B4-BE49-F238E27FC236}">
                <a16:creationId xmlns:a16="http://schemas.microsoft.com/office/drawing/2014/main" id="{E778B2F4-0305-45D0-8CFF-C4239411626C}"/>
              </a:ext>
            </a:extLst>
          </p:cNvPr>
          <p:cNvSpPr>
            <a:spLocks xmlns:a="http://schemas.openxmlformats.org/drawingml/2006/main" noGrp="1"/>
          </p:cNvSpPr>
          <p:nvPr/>
        </p:nvSpPr>
        <p:spPr>
          <a:xfrm xmlns:a="http://schemas.openxmlformats.org/drawingml/2006/main">
            <a:off x="609600" y="62865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211C27"/>
                </a:solidFill>
              </a:defRPr>
            </a:pPr>
            <a:r>
              <a:rPr sz="2550" b="1">
                <a:solidFill>
                  <a:srgbClr val="211C27"/>
                </a:solidFill>
              </a:rPr>
              <a:t>A 16-week route from retrospective proof to controlled use.</a:t>
            </a:r>
          </a:p>
        </p:txBody>
      </p:sp>
      <p:sp>
        <p:nvSpPr>
          <p:cNvPr id="3" name="">
            <a:extLst xmlns:a="http://schemas.openxmlformats.org/drawingml/2006/main">
              <a:ext uri="{FF2B5EF4-FFF2-40B4-BE49-F238E27FC236}">
                <a16:creationId xmlns:a16="http://schemas.microsoft.com/office/drawing/2014/main" id="{5D533B85-8827-484E-8EE4-68437E39843D}"/>
              </a:ext>
            </a:extLst>
          </p:cNvPr>
          <p:cNvSpPr>
            <a:spLocks xmlns:a="http://schemas.openxmlformats.org/drawingml/2006/main" noGrp="1"/>
          </p:cNvSpPr>
          <p:nvPr/>
        </p:nvSpPr>
        <p:spPr>
          <a:xfrm xmlns:a="http://schemas.openxmlformats.org/drawingml/2006/main">
            <a:off x="609600" y="12192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5B67"/>
                </a:solidFill>
              </a:defRPr>
            </a:pPr>
            <a:r>
              <a:rPr sz="1275" b="0">
                <a:solidFill>
                  <a:srgbClr val="625B67"/>
                </a:solidFill>
              </a:rPr>
              <a:t>Each phase has a go/no-go gate; safety or usability failure constrains the product instead of being narrated away.</a:t>
            </a:r>
          </a:p>
        </p:txBody>
      </p:sp>
      <p:sp>
        <p:nvSpPr>
          <p:cNvPr id="4" name="">
            <a:extLst xmlns:a="http://schemas.openxmlformats.org/drawingml/2006/main">
              <a:ext uri="{FF2B5EF4-FFF2-40B4-BE49-F238E27FC236}">
                <a16:creationId xmlns:a16="http://schemas.microsoft.com/office/drawing/2014/main" id="{2779A8DF-5843-4AA1-BFD0-EAE16108468F}"/>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5" name="">
            <a:extLst xmlns:a="http://schemas.openxmlformats.org/drawingml/2006/main">
              <a:ext uri="{FF2B5EF4-FFF2-40B4-BE49-F238E27FC236}">
                <a16:creationId xmlns:a16="http://schemas.microsoft.com/office/drawing/2014/main" id="{E749C18F-1A37-4A8B-B1A2-111497117879}"/>
              </a:ext>
            </a:extLst>
          </p:cNvPr>
          <p:cNvSpPr>
            <a:spLocks xmlns:a="http://schemas.openxmlformats.org/drawingml/2006/main" noGrp="1"/>
          </p:cNvSpPr>
          <p:nvPr/>
        </p:nvSpPr>
        <p:spPr>
          <a:xfrm xmlns:a="http://schemas.openxmlformats.org/drawingml/2006/main">
            <a:off x="609600" y="6581775"/>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625B67"/>
                </a:solidFill>
              </a:defRPr>
            </a:pPr>
            <a:r>
              <a:rPr sz="675" b="0">
                <a:solidFill>
                  <a:srgbClr val="625B67"/>
                </a:solidFill>
              </a:rPr>
              <a:t>Synthetic decision-support prototype — not validated for clinical use</a:t>
            </a:r>
          </a:p>
        </p:txBody>
      </p:sp>
      <p:sp>
        <p:nvSpPr>
          <p:cNvPr id="6" name="">
            <a:extLst xmlns:a="http://schemas.openxmlformats.org/drawingml/2006/main">
              <a:ext uri="{FF2B5EF4-FFF2-40B4-BE49-F238E27FC236}">
                <a16:creationId xmlns:a16="http://schemas.microsoft.com/office/drawing/2014/main" id="{A1469EA9-1E94-402D-899B-867260E1535D}"/>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625B67"/>
                </a:solidFill>
              </a:defRPr>
            </a:pPr>
            <a:r>
              <a:rPr sz="750" b="1">
                <a:solidFill>
                  <a:srgbClr val="625B67"/>
                </a:solidFill>
              </a:rPr>
              <a:t>15</a:t>
            </a:r>
          </a:p>
        </p:txBody>
      </p:sp>
      <p:sp>
        <p:nvSpPr>
          <p:cNvPr id="7" name="">
            <a:extLst xmlns:a="http://schemas.openxmlformats.org/drawingml/2006/main">
              <a:ext uri="{FF2B5EF4-FFF2-40B4-BE49-F238E27FC236}">
                <a16:creationId xmlns:a16="http://schemas.microsoft.com/office/drawing/2014/main" id="{9241082B-8DB7-41A5-90E2-0C263A252803}"/>
              </a:ext>
            </a:extLst>
          </p:cNvPr>
          <p:cNvSpPr>
            <a:spLocks xmlns:a="http://schemas.openxmlformats.org/drawingml/2006/main" noGrp="1"/>
          </p:cNvSpPr>
          <p:nvPr/>
        </p:nvSpPr>
        <p:spPr>
          <a:xfrm xmlns:a="http://schemas.openxmlformats.org/drawingml/2006/main">
            <a:off x="1066800" y="3181350"/>
            <a:ext cx="9810750" cy="0"/>
          </a:xfrm>
          <a:prstGeom xmlns:a="http://schemas.openxmlformats.org/drawingml/2006/main" prst="line">
            <a:avLst/>
          </a:prstGeom>
          <a:noFill xmlns:a="http://schemas.openxmlformats.org/drawingml/2006/main"/>
          <a:ln xmlns:a="http://schemas.openxmlformats.org/drawingml/2006/main" w="57150">
            <a:solidFill>
              <a:srgbClr val="E5DFE5"/>
            </a:solidFill>
            <a:prstDash val="solid"/>
          </a:ln>
        </p:spPr>
      </p:sp>
      <p:sp>
        <p:nvSpPr>
          <p:cNvPr id="8" name="">
            <a:extLst xmlns:a="http://schemas.openxmlformats.org/drawingml/2006/main">
              <a:ext uri="{FF2B5EF4-FFF2-40B4-BE49-F238E27FC236}">
                <a16:creationId xmlns:a16="http://schemas.microsoft.com/office/drawing/2014/main" id="{AC124670-1CD2-464C-906D-7E3646FF104A}"/>
              </a:ext>
            </a:extLst>
          </p:cNvPr>
          <p:cNvSpPr>
            <a:spLocks xmlns:a="http://schemas.openxmlformats.org/drawingml/2006/main" noGrp="1"/>
          </p:cNvSpPr>
          <p:nvPr/>
        </p:nvSpPr>
        <p:spPr>
          <a:xfrm xmlns:a="http://schemas.openxmlformats.org/drawingml/2006/main">
            <a:off x="895350" y="3009900"/>
            <a:ext cx="400050" cy="400050"/>
          </a:xfrm>
          <a:prstGeom xmlns:a="http://schemas.openxmlformats.org/drawingml/2006/main" prst="roundRect">
            <a:avLst>
              <a:gd name="adj" fmla="val 50000"/>
            </a:avLst>
          </a:prstGeom>
          <a:solidFill xmlns:a="http://schemas.openxmlformats.org/drawingml/2006/main">
            <a:srgbClr val="7A1F5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14FB15F-992A-4548-98D3-022B15AAD601}"/>
              </a:ext>
            </a:extLst>
          </p:cNvPr>
          <p:cNvSpPr>
            <a:spLocks xmlns:a="http://schemas.openxmlformats.org/drawingml/2006/main" noGrp="1"/>
          </p:cNvSpPr>
          <p:nvPr/>
        </p:nvSpPr>
        <p:spPr>
          <a:xfrm xmlns:a="http://schemas.openxmlformats.org/drawingml/2006/main">
            <a:off x="552450" y="2076450"/>
            <a:ext cx="1085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7A1F5C"/>
                </a:solidFill>
              </a:defRPr>
            </a:pPr>
            <a:r>
              <a:rPr sz="900" b="1">
                <a:solidFill>
                  <a:srgbClr val="7A1F5C"/>
                </a:solidFill>
              </a:rPr>
              <a:t>W1–2</a:t>
            </a:r>
          </a:p>
        </p:txBody>
      </p:sp>
      <p:sp>
        <p:nvSpPr>
          <p:cNvPr id="10" name="">
            <a:extLst xmlns:a="http://schemas.openxmlformats.org/drawingml/2006/main">
              <a:ext uri="{FF2B5EF4-FFF2-40B4-BE49-F238E27FC236}">
                <a16:creationId xmlns:a16="http://schemas.microsoft.com/office/drawing/2014/main" id="{3F82088C-4CF8-4C8C-AD63-D6813BDBE3B8}"/>
              </a:ext>
            </a:extLst>
          </p:cNvPr>
          <p:cNvSpPr>
            <a:spLocks xmlns:a="http://schemas.openxmlformats.org/drawingml/2006/main" noGrp="1"/>
          </p:cNvSpPr>
          <p:nvPr/>
        </p:nvSpPr>
        <p:spPr>
          <a:xfrm xmlns:a="http://schemas.openxmlformats.org/drawingml/2006/main">
            <a:off x="247650" y="24003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11C27"/>
                </a:solidFill>
              </a:defRPr>
            </a:pPr>
            <a:r>
              <a:rPr sz="1350" b="1">
                <a:solidFill>
                  <a:srgbClr val="211C27"/>
                </a:solidFill>
              </a:rPr>
              <a:t>Governance</a:t>
            </a:r>
          </a:p>
        </p:txBody>
      </p:sp>
      <p:sp>
        <p:nvSpPr>
          <p:cNvPr id="11" name="">
            <a:extLst xmlns:a="http://schemas.openxmlformats.org/drawingml/2006/main">
              <a:ext uri="{FF2B5EF4-FFF2-40B4-BE49-F238E27FC236}">
                <a16:creationId xmlns:a16="http://schemas.microsoft.com/office/drawing/2014/main" id="{7A1711EC-ADC7-4D3F-8EB5-7FA62DDAB3F8}"/>
              </a:ext>
            </a:extLst>
          </p:cNvPr>
          <p:cNvSpPr>
            <a:spLocks xmlns:a="http://schemas.openxmlformats.org/drawingml/2006/main" noGrp="1"/>
          </p:cNvSpPr>
          <p:nvPr/>
        </p:nvSpPr>
        <p:spPr>
          <a:xfrm xmlns:a="http://schemas.openxmlformats.org/drawingml/2006/main">
            <a:off x="171450" y="3676650"/>
            <a:ext cx="1866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625B67"/>
                </a:solidFill>
              </a:defRPr>
            </a:pPr>
            <a:r>
              <a:rPr sz="1050" b="0">
                <a:solidFill>
                  <a:srgbClr val="625B67"/>
                </a:solidFill>
              </a:rPr>
              <a:t>Intended use</a:t>
            </a:r>
          </a:p>
          <a:p xmlns:a="http://schemas.openxmlformats.org/drawingml/2006/main">
            <a:pPr algn="ctr">
              <a:defRPr sz="1050" b="0">
                <a:solidFill>
                  <a:srgbClr val="625B67"/>
                </a:solidFill>
              </a:defRPr>
            </a:pPr>
            <a:r>
              <a:rPr sz="1050" b="0">
                <a:solidFill>
                  <a:srgbClr val="625B67"/>
                </a:solidFill>
              </a:rPr>
              <a:t>workflow + safety case</a:t>
            </a:r>
          </a:p>
        </p:txBody>
      </p:sp>
      <p:sp>
        <p:nvSpPr>
          <p:cNvPr id="12" name="">
            <a:extLst xmlns:a="http://schemas.openxmlformats.org/drawingml/2006/main">
              <a:ext uri="{FF2B5EF4-FFF2-40B4-BE49-F238E27FC236}">
                <a16:creationId xmlns:a16="http://schemas.microsoft.com/office/drawing/2014/main" id="{D1842879-CB36-409D-B443-59562EF9A8CD}"/>
              </a:ext>
            </a:extLst>
          </p:cNvPr>
          <p:cNvSpPr>
            <a:spLocks xmlns:a="http://schemas.openxmlformats.org/drawingml/2006/main" noGrp="1"/>
          </p:cNvSpPr>
          <p:nvPr/>
        </p:nvSpPr>
        <p:spPr>
          <a:xfrm xmlns:a="http://schemas.openxmlformats.org/drawingml/2006/main">
            <a:off x="3200400" y="3009900"/>
            <a:ext cx="400050" cy="400050"/>
          </a:xfrm>
          <a:prstGeom xmlns:a="http://schemas.openxmlformats.org/drawingml/2006/main" prst="roundRect">
            <a:avLst>
              <a:gd name="adj" fmla="val 50000"/>
            </a:avLst>
          </a:prstGeom>
          <a:solidFill xmlns:a="http://schemas.openxmlformats.org/drawingml/2006/main">
            <a:srgbClr val="7A1F5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A5DBB1B-2BB2-4133-BE14-DF4804DE7F3A}"/>
              </a:ext>
            </a:extLst>
          </p:cNvPr>
          <p:cNvSpPr>
            <a:spLocks xmlns:a="http://schemas.openxmlformats.org/drawingml/2006/main" noGrp="1"/>
          </p:cNvSpPr>
          <p:nvPr/>
        </p:nvSpPr>
        <p:spPr>
          <a:xfrm xmlns:a="http://schemas.openxmlformats.org/drawingml/2006/main">
            <a:off x="2857500" y="2076450"/>
            <a:ext cx="1085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7A1F5C"/>
                </a:solidFill>
              </a:defRPr>
            </a:pPr>
            <a:r>
              <a:rPr sz="900" b="1">
                <a:solidFill>
                  <a:srgbClr val="7A1F5C"/>
                </a:solidFill>
              </a:rPr>
              <a:t>W3–6</a:t>
            </a:r>
          </a:p>
        </p:txBody>
      </p:sp>
      <p:sp>
        <p:nvSpPr>
          <p:cNvPr id="14" name="">
            <a:extLst xmlns:a="http://schemas.openxmlformats.org/drawingml/2006/main">
              <a:ext uri="{FF2B5EF4-FFF2-40B4-BE49-F238E27FC236}">
                <a16:creationId xmlns:a16="http://schemas.microsoft.com/office/drawing/2014/main" id="{7188AB05-DFA7-4FA3-8E8C-F8D21D509B45}"/>
              </a:ext>
            </a:extLst>
          </p:cNvPr>
          <p:cNvSpPr>
            <a:spLocks xmlns:a="http://schemas.openxmlformats.org/drawingml/2006/main" noGrp="1"/>
          </p:cNvSpPr>
          <p:nvPr/>
        </p:nvSpPr>
        <p:spPr>
          <a:xfrm xmlns:a="http://schemas.openxmlformats.org/drawingml/2006/main">
            <a:off x="2552700" y="24003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11C27"/>
                </a:solidFill>
              </a:defRPr>
            </a:pPr>
            <a:r>
              <a:rPr sz="1350" b="1">
                <a:solidFill>
                  <a:srgbClr val="211C27"/>
                </a:solidFill>
              </a:rPr>
              <a:t>Retrospective</a:t>
            </a:r>
          </a:p>
        </p:txBody>
      </p:sp>
      <p:sp>
        <p:nvSpPr>
          <p:cNvPr id="15" name="">
            <a:extLst xmlns:a="http://schemas.openxmlformats.org/drawingml/2006/main">
              <a:ext uri="{FF2B5EF4-FFF2-40B4-BE49-F238E27FC236}">
                <a16:creationId xmlns:a16="http://schemas.microsoft.com/office/drawing/2014/main" id="{DB2885FD-9BDD-4730-B2AB-929C97DF2FDE}"/>
              </a:ext>
            </a:extLst>
          </p:cNvPr>
          <p:cNvSpPr>
            <a:spLocks xmlns:a="http://schemas.openxmlformats.org/drawingml/2006/main" noGrp="1"/>
          </p:cNvSpPr>
          <p:nvPr/>
        </p:nvSpPr>
        <p:spPr>
          <a:xfrm xmlns:a="http://schemas.openxmlformats.org/drawingml/2006/main">
            <a:off x="2476500" y="3676650"/>
            <a:ext cx="1866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625B67"/>
                </a:solidFill>
              </a:defRPr>
            </a:pPr>
            <a:r>
              <a:rPr sz="1050" b="0">
                <a:solidFill>
                  <a:srgbClr val="625B67"/>
                </a:solidFill>
              </a:rPr>
              <a:t>Local data quality</a:t>
            </a:r>
          </a:p>
          <a:p xmlns:a="http://schemas.openxmlformats.org/drawingml/2006/main">
            <a:pPr algn="ctr">
              <a:defRPr sz="1050" b="0">
                <a:solidFill>
                  <a:srgbClr val="625B67"/>
                </a:solidFill>
              </a:defRPr>
            </a:pPr>
            <a:r>
              <a:rPr sz="1050" b="0">
                <a:solidFill>
                  <a:srgbClr val="625B67"/>
                </a:solidFill>
              </a:rPr>
              <a:t>calibration + subgroups</a:t>
            </a:r>
          </a:p>
        </p:txBody>
      </p:sp>
      <p:sp>
        <p:nvSpPr>
          <p:cNvPr id="16" name="">
            <a:extLst xmlns:a="http://schemas.openxmlformats.org/drawingml/2006/main">
              <a:ext uri="{FF2B5EF4-FFF2-40B4-BE49-F238E27FC236}">
                <a16:creationId xmlns:a16="http://schemas.microsoft.com/office/drawing/2014/main" id="{AB8C4C8E-834B-4D48-8004-B34B8F8E95A3}"/>
              </a:ext>
            </a:extLst>
          </p:cNvPr>
          <p:cNvSpPr>
            <a:spLocks xmlns:a="http://schemas.openxmlformats.org/drawingml/2006/main" noGrp="1"/>
          </p:cNvSpPr>
          <p:nvPr/>
        </p:nvSpPr>
        <p:spPr>
          <a:xfrm xmlns:a="http://schemas.openxmlformats.org/drawingml/2006/main">
            <a:off x="5505450" y="3009900"/>
            <a:ext cx="400050" cy="400050"/>
          </a:xfrm>
          <a:prstGeom xmlns:a="http://schemas.openxmlformats.org/drawingml/2006/main" prst="roundRect">
            <a:avLst>
              <a:gd name="adj" fmla="val 50000"/>
            </a:avLst>
          </a:prstGeom>
          <a:solidFill xmlns:a="http://schemas.openxmlformats.org/drawingml/2006/main">
            <a:srgbClr val="7A1F5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5EE445E-BACD-415B-9648-3441CA647649}"/>
              </a:ext>
            </a:extLst>
          </p:cNvPr>
          <p:cNvSpPr>
            <a:spLocks xmlns:a="http://schemas.openxmlformats.org/drawingml/2006/main" noGrp="1"/>
          </p:cNvSpPr>
          <p:nvPr/>
        </p:nvSpPr>
        <p:spPr>
          <a:xfrm xmlns:a="http://schemas.openxmlformats.org/drawingml/2006/main">
            <a:off x="5162550" y="2076450"/>
            <a:ext cx="1085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7A1F5C"/>
                </a:solidFill>
              </a:defRPr>
            </a:pPr>
            <a:r>
              <a:rPr sz="900" b="1">
                <a:solidFill>
                  <a:srgbClr val="7A1F5C"/>
                </a:solidFill>
              </a:rPr>
              <a:t>W5–8</a:t>
            </a:r>
          </a:p>
        </p:txBody>
      </p:sp>
      <p:sp>
        <p:nvSpPr>
          <p:cNvPr id="18" name="">
            <a:extLst xmlns:a="http://schemas.openxmlformats.org/drawingml/2006/main">
              <a:ext uri="{FF2B5EF4-FFF2-40B4-BE49-F238E27FC236}">
                <a16:creationId xmlns:a16="http://schemas.microsoft.com/office/drawing/2014/main" id="{04881D36-9B21-4E90-8518-59FA60525784}"/>
              </a:ext>
            </a:extLst>
          </p:cNvPr>
          <p:cNvSpPr>
            <a:spLocks xmlns:a="http://schemas.openxmlformats.org/drawingml/2006/main" noGrp="1"/>
          </p:cNvSpPr>
          <p:nvPr/>
        </p:nvSpPr>
        <p:spPr>
          <a:xfrm xmlns:a="http://schemas.openxmlformats.org/drawingml/2006/main">
            <a:off x="4857750" y="24003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11C27"/>
                </a:solidFill>
              </a:defRPr>
            </a:pPr>
            <a:r>
              <a:rPr sz="1350" b="1">
                <a:solidFill>
                  <a:srgbClr val="211C27"/>
                </a:solidFill>
              </a:rPr>
              <a:t>Integration</a:t>
            </a:r>
          </a:p>
        </p:txBody>
      </p:sp>
      <p:sp>
        <p:nvSpPr>
          <p:cNvPr id="19" name="">
            <a:extLst xmlns:a="http://schemas.openxmlformats.org/drawingml/2006/main">
              <a:ext uri="{FF2B5EF4-FFF2-40B4-BE49-F238E27FC236}">
                <a16:creationId xmlns:a16="http://schemas.microsoft.com/office/drawing/2014/main" id="{4476577B-854E-4132-92FA-1F05160E1CA5}"/>
              </a:ext>
            </a:extLst>
          </p:cNvPr>
          <p:cNvSpPr>
            <a:spLocks xmlns:a="http://schemas.openxmlformats.org/drawingml/2006/main" noGrp="1"/>
          </p:cNvSpPr>
          <p:nvPr/>
        </p:nvSpPr>
        <p:spPr>
          <a:xfrm xmlns:a="http://schemas.openxmlformats.org/drawingml/2006/main">
            <a:off x="4781550" y="3676650"/>
            <a:ext cx="1866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625B67"/>
                </a:solidFill>
              </a:defRPr>
            </a:pPr>
            <a:r>
              <a:rPr sz="1050" b="0">
                <a:solidFill>
                  <a:srgbClr val="625B67"/>
                </a:solidFill>
              </a:rPr>
              <a:t>Adapter + identity</a:t>
            </a:r>
          </a:p>
          <a:p xmlns:a="http://schemas.openxmlformats.org/drawingml/2006/main">
            <a:pPr algn="ctr">
              <a:defRPr sz="1050" b="0">
                <a:solidFill>
                  <a:srgbClr val="625B67"/>
                </a:solidFill>
              </a:defRPr>
            </a:pPr>
            <a:r>
              <a:rPr sz="1050" b="0">
                <a:solidFill>
                  <a:srgbClr val="625B67"/>
                </a:solidFill>
              </a:rPr>
              <a:t>monitoring + audit</a:t>
            </a:r>
          </a:p>
        </p:txBody>
      </p:sp>
      <p:sp>
        <p:nvSpPr>
          <p:cNvPr id="20" name="">
            <a:extLst xmlns:a="http://schemas.openxmlformats.org/drawingml/2006/main">
              <a:ext uri="{FF2B5EF4-FFF2-40B4-BE49-F238E27FC236}">
                <a16:creationId xmlns:a16="http://schemas.microsoft.com/office/drawing/2014/main" id="{FF11D3F4-1BA1-4FC4-8A0F-BA001A2391AD}"/>
              </a:ext>
            </a:extLst>
          </p:cNvPr>
          <p:cNvSpPr>
            <a:spLocks xmlns:a="http://schemas.openxmlformats.org/drawingml/2006/main" noGrp="1"/>
          </p:cNvSpPr>
          <p:nvPr/>
        </p:nvSpPr>
        <p:spPr>
          <a:xfrm xmlns:a="http://schemas.openxmlformats.org/drawingml/2006/main">
            <a:off x="7810500" y="3009900"/>
            <a:ext cx="400050" cy="400050"/>
          </a:xfrm>
          <a:prstGeom xmlns:a="http://schemas.openxmlformats.org/drawingml/2006/main" prst="roundRect">
            <a:avLst>
              <a:gd name="adj" fmla="val 50000"/>
            </a:avLst>
          </a:prstGeom>
          <a:solidFill xmlns:a="http://schemas.openxmlformats.org/drawingml/2006/main">
            <a:srgbClr val="7A1F5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AADA9FB-F32A-4BA4-81ED-9EB898B3F99B}"/>
              </a:ext>
            </a:extLst>
          </p:cNvPr>
          <p:cNvSpPr>
            <a:spLocks xmlns:a="http://schemas.openxmlformats.org/drawingml/2006/main" noGrp="1"/>
          </p:cNvSpPr>
          <p:nvPr/>
        </p:nvSpPr>
        <p:spPr>
          <a:xfrm xmlns:a="http://schemas.openxmlformats.org/drawingml/2006/main">
            <a:off x="7467600" y="2076450"/>
            <a:ext cx="1085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7A1F5C"/>
                </a:solidFill>
              </a:defRPr>
            </a:pPr>
            <a:r>
              <a:rPr sz="900" b="1">
                <a:solidFill>
                  <a:srgbClr val="7A1F5C"/>
                </a:solidFill>
              </a:rPr>
              <a:t>W9–12</a:t>
            </a:r>
          </a:p>
        </p:txBody>
      </p:sp>
      <p:sp>
        <p:nvSpPr>
          <p:cNvPr id="22" name="">
            <a:extLst xmlns:a="http://schemas.openxmlformats.org/drawingml/2006/main">
              <a:ext uri="{FF2B5EF4-FFF2-40B4-BE49-F238E27FC236}">
                <a16:creationId xmlns:a16="http://schemas.microsoft.com/office/drawing/2014/main" id="{EDBDD273-65B1-4B09-9F46-3FD00734D6F7}"/>
              </a:ext>
            </a:extLst>
          </p:cNvPr>
          <p:cNvSpPr>
            <a:spLocks xmlns:a="http://schemas.openxmlformats.org/drawingml/2006/main" noGrp="1"/>
          </p:cNvSpPr>
          <p:nvPr/>
        </p:nvSpPr>
        <p:spPr>
          <a:xfrm xmlns:a="http://schemas.openxmlformats.org/drawingml/2006/main">
            <a:off x="7162800" y="24003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11C27"/>
                </a:solidFill>
              </a:defRPr>
            </a:pPr>
            <a:r>
              <a:rPr sz="1350" b="1">
                <a:solidFill>
                  <a:srgbClr val="211C27"/>
                </a:solidFill>
              </a:rPr>
              <a:t>Shadow</a:t>
            </a:r>
          </a:p>
        </p:txBody>
      </p:sp>
      <p:sp>
        <p:nvSpPr>
          <p:cNvPr id="23" name="">
            <a:extLst xmlns:a="http://schemas.openxmlformats.org/drawingml/2006/main">
              <a:ext uri="{FF2B5EF4-FFF2-40B4-BE49-F238E27FC236}">
                <a16:creationId xmlns:a16="http://schemas.microsoft.com/office/drawing/2014/main" id="{A07F7F36-DCFE-40D5-B36E-2678EE614790}"/>
              </a:ext>
            </a:extLst>
          </p:cNvPr>
          <p:cNvSpPr>
            <a:spLocks xmlns:a="http://schemas.openxmlformats.org/drawingml/2006/main" noGrp="1"/>
          </p:cNvSpPr>
          <p:nvPr/>
        </p:nvSpPr>
        <p:spPr>
          <a:xfrm xmlns:a="http://schemas.openxmlformats.org/drawingml/2006/main">
            <a:off x="7086600" y="3676650"/>
            <a:ext cx="1866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625B67"/>
                </a:solidFill>
              </a:defRPr>
            </a:pPr>
            <a:r>
              <a:rPr sz="1050" b="0">
                <a:solidFill>
                  <a:srgbClr val="625B67"/>
                </a:solidFill>
              </a:rPr>
              <a:t>Silent recommendations</a:t>
            </a:r>
          </a:p>
          <a:p xmlns:a="http://schemas.openxmlformats.org/drawingml/2006/main">
            <a:pPr algn="ctr">
              <a:defRPr sz="1050" b="0">
                <a:solidFill>
                  <a:srgbClr val="625B67"/>
                </a:solidFill>
              </a:defRPr>
            </a:pPr>
            <a:r>
              <a:rPr sz="1050" b="0">
                <a:solidFill>
                  <a:srgbClr val="625B67"/>
                </a:solidFill>
              </a:rPr>
              <a:t>usability + alert burden</a:t>
            </a:r>
          </a:p>
        </p:txBody>
      </p:sp>
      <p:sp>
        <p:nvSpPr>
          <p:cNvPr id="24" name="">
            <a:extLst xmlns:a="http://schemas.openxmlformats.org/drawingml/2006/main">
              <a:ext uri="{FF2B5EF4-FFF2-40B4-BE49-F238E27FC236}">
                <a16:creationId xmlns:a16="http://schemas.microsoft.com/office/drawing/2014/main" id="{08F50419-20AB-4EE8-BDA8-F4CC29F2CA77}"/>
              </a:ext>
            </a:extLst>
          </p:cNvPr>
          <p:cNvSpPr>
            <a:spLocks xmlns:a="http://schemas.openxmlformats.org/drawingml/2006/main" noGrp="1"/>
          </p:cNvSpPr>
          <p:nvPr/>
        </p:nvSpPr>
        <p:spPr>
          <a:xfrm xmlns:a="http://schemas.openxmlformats.org/drawingml/2006/main">
            <a:off x="10115550" y="3009900"/>
            <a:ext cx="400050" cy="400050"/>
          </a:xfrm>
          <a:prstGeom xmlns:a="http://schemas.openxmlformats.org/drawingml/2006/main" prst="roundRect">
            <a:avLst>
              <a:gd name="adj" fmla="val 50000"/>
            </a:avLst>
          </a:prstGeom>
          <a:solidFill xmlns:a="http://schemas.openxmlformats.org/drawingml/2006/main">
            <a:srgbClr val="7A1F5C"/>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0B0287E-B5C2-42AB-B7F7-208152916F0A}"/>
              </a:ext>
            </a:extLst>
          </p:cNvPr>
          <p:cNvSpPr>
            <a:spLocks xmlns:a="http://schemas.openxmlformats.org/drawingml/2006/main" noGrp="1"/>
          </p:cNvSpPr>
          <p:nvPr/>
        </p:nvSpPr>
        <p:spPr>
          <a:xfrm xmlns:a="http://schemas.openxmlformats.org/drawingml/2006/main">
            <a:off x="9772650" y="2076450"/>
            <a:ext cx="1085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7A1F5C"/>
                </a:solidFill>
              </a:defRPr>
            </a:pPr>
            <a:r>
              <a:rPr sz="900" b="1">
                <a:solidFill>
                  <a:srgbClr val="7A1F5C"/>
                </a:solidFill>
              </a:rPr>
              <a:t>W13–16</a:t>
            </a:r>
          </a:p>
        </p:txBody>
      </p:sp>
      <p:sp>
        <p:nvSpPr>
          <p:cNvPr id="26" name="">
            <a:extLst xmlns:a="http://schemas.openxmlformats.org/drawingml/2006/main">
              <a:ext uri="{FF2B5EF4-FFF2-40B4-BE49-F238E27FC236}">
                <a16:creationId xmlns:a16="http://schemas.microsoft.com/office/drawing/2014/main" id="{DEA7D75E-2B61-439B-A08F-812C88C2B710}"/>
              </a:ext>
            </a:extLst>
          </p:cNvPr>
          <p:cNvSpPr>
            <a:spLocks xmlns:a="http://schemas.openxmlformats.org/drawingml/2006/main" noGrp="1"/>
          </p:cNvSpPr>
          <p:nvPr/>
        </p:nvSpPr>
        <p:spPr>
          <a:xfrm xmlns:a="http://schemas.openxmlformats.org/drawingml/2006/main">
            <a:off x="9467850" y="24003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211C27"/>
                </a:solidFill>
              </a:defRPr>
            </a:pPr>
            <a:r>
              <a:rPr sz="1350" b="1">
                <a:solidFill>
                  <a:srgbClr val="211C27"/>
                </a:solidFill>
              </a:rPr>
              <a:t>Controlled pilot</a:t>
            </a:r>
          </a:p>
        </p:txBody>
      </p:sp>
      <p:sp>
        <p:nvSpPr>
          <p:cNvPr id="27" name="">
            <a:extLst xmlns:a="http://schemas.openxmlformats.org/drawingml/2006/main">
              <a:ext uri="{FF2B5EF4-FFF2-40B4-BE49-F238E27FC236}">
                <a16:creationId xmlns:a16="http://schemas.microsoft.com/office/drawing/2014/main" id="{4FD25BEC-4E77-4BB0-B776-01F02EA08820}"/>
              </a:ext>
            </a:extLst>
          </p:cNvPr>
          <p:cNvSpPr>
            <a:spLocks xmlns:a="http://schemas.openxmlformats.org/drawingml/2006/main" noGrp="1"/>
          </p:cNvSpPr>
          <p:nvPr/>
        </p:nvSpPr>
        <p:spPr>
          <a:xfrm xmlns:a="http://schemas.openxmlformats.org/drawingml/2006/main">
            <a:off x="9391650" y="3676650"/>
            <a:ext cx="1866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0">
                <a:solidFill>
                  <a:srgbClr val="625B67"/>
                </a:solidFill>
              </a:defRPr>
            </a:pPr>
            <a:r>
              <a:rPr sz="1050" b="0">
                <a:solidFill>
                  <a:srgbClr val="625B67"/>
                </a:solidFill>
              </a:rPr>
              <a:t>Weekly governance</a:t>
            </a:r>
          </a:p>
          <a:p xmlns:a="http://schemas.openxmlformats.org/drawingml/2006/main">
            <a:pPr algn="ctr">
              <a:defRPr sz="1050" b="0">
                <a:solidFill>
                  <a:srgbClr val="625B67"/>
                </a:solidFill>
              </a:defRPr>
            </a:pPr>
            <a:r>
              <a:rPr sz="1050" b="0">
                <a:solidFill>
                  <a:srgbClr val="625B67"/>
                </a:solidFill>
              </a:rPr>
              <a:t>rollback + analysis</a:t>
            </a:r>
          </a:p>
        </p:txBody>
      </p:sp>
      <p:sp>
        <p:nvSpPr>
          <p:cNvPr id="28" name="">
            <a:extLst xmlns:a="http://schemas.openxmlformats.org/drawingml/2006/main">
              <a:ext uri="{FF2B5EF4-FFF2-40B4-BE49-F238E27FC236}">
                <a16:creationId xmlns:a16="http://schemas.microsoft.com/office/drawing/2014/main" id="{85DC6A01-1990-4987-B0C8-009A3463E9C6}"/>
              </a:ext>
            </a:extLst>
          </p:cNvPr>
          <p:cNvSpPr>
            <a:spLocks xmlns:a="http://schemas.openxmlformats.org/drawingml/2006/main" noGrp="1"/>
          </p:cNvSpPr>
          <p:nvPr/>
        </p:nvSpPr>
        <p:spPr>
          <a:xfrm xmlns:a="http://schemas.openxmlformats.org/drawingml/2006/main">
            <a:off x="1428750" y="4953000"/>
            <a:ext cx="9334500" cy="819150"/>
          </a:xfrm>
          <a:prstGeom xmlns:a="http://schemas.openxmlformats.org/drawingml/2006/main" prst="roundRect">
            <a:avLst>
              <a:gd name="adj" fmla="val 18605"/>
            </a:avLst>
          </a:prstGeom>
          <a:solidFill xmlns:a="http://schemas.openxmlformats.org/drawingml/2006/main">
            <a:srgbClr val="F6F3F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7E9F9F1-3010-4A12-B74D-A9435D9C8DFC}"/>
              </a:ext>
            </a:extLst>
          </p:cNvPr>
          <p:cNvSpPr>
            <a:spLocks xmlns:a="http://schemas.openxmlformats.org/drawingml/2006/main" noGrp="1"/>
          </p:cNvSpPr>
          <p:nvPr/>
        </p:nvSpPr>
        <p:spPr>
          <a:xfrm xmlns:a="http://schemas.openxmlformats.org/drawingml/2006/main">
            <a:off x="1695450" y="51816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A1F5C"/>
                </a:solidFill>
              </a:defRPr>
            </a:pPr>
            <a:r>
              <a:rPr sz="900" b="1">
                <a:solidFill>
                  <a:srgbClr val="7A1F5C"/>
                </a:solidFill>
              </a:rPr>
              <a:t>EXIT GATES</a:t>
            </a:r>
          </a:p>
        </p:txBody>
      </p:sp>
      <p:sp>
        <p:nvSpPr>
          <p:cNvPr id="30" name="">
            <a:extLst xmlns:a="http://schemas.openxmlformats.org/drawingml/2006/main">
              <a:ext uri="{FF2B5EF4-FFF2-40B4-BE49-F238E27FC236}">
                <a16:creationId xmlns:a16="http://schemas.microsoft.com/office/drawing/2014/main" id="{73EBDDD0-0FF0-4798-8F37-96B7E6007E9C}"/>
              </a:ext>
            </a:extLst>
          </p:cNvPr>
          <p:cNvSpPr>
            <a:spLocks xmlns:a="http://schemas.openxmlformats.org/drawingml/2006/main" noGrp="1"/>
          </p:cNvSpPr>
          <p:nvPr/>
        </p:nvSpPr>
        <p:spPr>
          <a:xfrm xmlns:a="http://schemas.openxmlformats.org/drawingml/2006/main">
            <a:off x="2952750" y="5124450"/>
            <a:ext cx="752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11C27"/>
                </a:solidFill>
              </a:defRPr>
            </a:pPr>
            <a:r>
              <a:rPr sz="1200" b="1">
                <a:solidFill>
                  <a:srgbClr val="211C27"/>
                </a:solidFill>
              </a:rPr>
              <a:t>Safety • Action Window adherence • subgroup performance • alert burden • nurse comprehension • reliability • audit completeness</a:t>
            </a:r>
          </a:p>
        </p:txBody>
      </p:sp>
    </p:spTree>
    <p:extLst>
      <p:ext uri="{BB962C8B-B14F-4D97-AF65-F5344CB8AC3E}">
        <p14:creationId xmlns:p14="http://schemas.microsoft.com/office/powerpoint/2010/main" val="761581955"/>
      </p:ext>
    </p:extLst>
  </p:cSld>
</p:sld>
</file>

<file path=ppt/slides/slide16.xml><?xml version="1.0" encoding="utf-8"?>
<p:sld xmlns:p="http://schemas.openxmlformats.org/presentationml/2006/main">
  <p:cSld>
    <p:bg>
      <p:bgPr>
        <a:solidFill xmlns:a="http://schemas.openxmlformats.org/drawingml/2006/main">
          <a:srgbClr val="52163E"/>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2DC530A-920E-4476-AC5B-B02F78A15E23}"/>
              </a:ext>
            </a:extLst>
          </p:cNvPr>
          <p:cNvSpPr>
            <a:spLocks xmlns:a="http://schemas.openxmlformats.org/drawingml/2006/main" noGrp="1"/>
          </p:cNvSpPr>
          <p:nvPr/>
        </p:nvSpPr>
        <p:spPr>
          <a:xfrm xmlns:a="http://schemas.openxmlformats.org/drawingml/2006/main">
            <a:off x="609600" y="3429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F2CFE5"/>
                </a:solidFill>
              </a:defRPr>
            </a:pPr>
            <a:r>
              <a:rPr sz="825" b="1">
                <a:solidFill>
                  <a:srgbClr val="F2CFE5"/>
                </a:solidFill>
              </a:rPr>
              <a:t>THE ASK</a:t>
            </a:r>
          </a:p>
        </p:txBody>
      </p:sp>
      <p:sp>
        <p:nvSpPr>
          <p:cNvPr id="2" name="">
            <a:extLst xmlns:a="http://schemas.openxmlformats.org/drawingml/2006/main">
              <a:ext uri="{FF2B5EF4-FFF2-40B4-BE49-F238E27FC236}">
                <a16:creationId xmlns:a16="http://schemas.microsoft.com/office/drawing/2014/main" id="{1555511B-530E-4E03-87B4-3F75C4832753}"/>
              </a:ext>
            </a:extLst>
          </p:cNvPr>
          <p:cNvSpPr>
            <a:spLocks xmlns:a="http://schemas.openxmlformats.org/drawingml/2006/main" noGrp="1"/>
          </p:cNvSpPr>
          <p:nvPr/>
        </p:nvSpPr>
        <p:spPr>
          <a:xfrm xmlns:a="http://schemas.openxmlformats.org/drawingml/2006/main">
            <a:off x="609600" y="62865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FFFFFF"/>
                </a:solidFill>
              </a:defRPr>
            </a:pPr>
            <a:r>
              <a:rPr sz="2550" b="1">
                <a:solidFill>
                  <a:srgbClr val="FFFFFF"/>
                </a:solidFill>
              </a:rPr>
              <a:t>Advance the deadline-aware model of triage.</a:t>
            </a:r>
          </a:p>
        </p:txBody>
      </p:sp>
      <p:sp>
        <p:nvSpPr>
          <p:cNvPr id="3" name="">
            <a:extLst xmlns:a="http://schemas.openxmlformats.org/drawingml/2006/main">
              <a:ext uri="{FF2B5EF4-FFF2-40B4-BE49-F238E27FC236}">
                <a16:creationId xmlns:a16="http://schemas.microsoft.com/office/drawing/2014/main" id="{463981EE-5EC6-4342-BE89-32B076C5D24A}"/>
              </a:ext>
            </a:extLst>
          </p:cNvPr>
          <p:cNvSpPr>
            <a:spLocks xmlns:a="http://schemas.openxmlformats.org/drawingml/2006/main" noGrp="1"/>
          </p:cNvSpPr>
          <p:nvPr/>
        </p:nvSpPr>
        <p:spPr>
          <a:xfrm xmlns:a="http://schemas.openxmlformats.org/drawingml/2006/main">
            <a:off x="609600" y="12192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EADCE6"/>
                </a:solidFill>
              </a:defRPr>
            </a:pPr>
            <a:r>
              <a:rPr sz="1275" b="0">
                <a:solidFill>
                  <a:srgbClr val="EADCE6"/>
                </a:solidFill>
              </a:rPr>
              <a:t>Give every waiting patient a changing, explainable action deadline—and give the department an honest view of whether it can meet it.</a:t>
            </a:r>
          </a:p>
        </p:txBody>
      </p:sp>
      <p:sp>
        <p:nvSpPr>
          <p:cNvPr id="4" name="">
            <a:extLst xmlns:a="http://schemas.openxmlformats.org/drawingml/2006/main">
              <a:ext uri="{FF2B5EF4-FFF2-40B4-BE49-F238E27FC236}">
                <a16:creationId xmlns:a16="http://schemas.microsoft.com/office/drawing/2014/main" id="{97BA7521-18A4-4B7E-9595-7751CA496EBF}"/>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8F5677"/>
            </a:solidFill>
            <a:prstDash val="solid"/>
          </a:ln>
        </p:spPr>
      </p:sp>
      <p:sp>
        <p:nvSpPr>
          <p:cNvPr id="5" name="">
            <a:extLst xmlns:a="http://schemas.openxmlformats.org/drawingml/2006/main">
              <a:ext uri="{FF2B5EF4-FFF2-40B4-BE49-F238E27FC236}">
                <a16:creationId xmlns:a16="http://schemas.microsoft.com/office/drawing/2014/main" id="{030DF98B-F6B8-4BDC-B413-406AA78EBAF5}"/>
              </a:ext>
            </a:extLst>
          </p:cNvPr>
          <p:cNvSpPr>
            <a:spLocks xmlns:a="http://schemas.openxmlformats.org/drawingml/2006/main" noGrp="1"/>
          </p:cNvSpPr>
          <p:nvPr/>
        </p:nvSpPr>
        <p:spPr>
          <a:xfrm xmlns:a="http://schemas.openxmlformats.org/drawingml/2006/main">
            <a:off x="609600" y="6581775"/>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EADCE6"/>
                </a:solidFill>
              </a:defRPr>
            </a:pPr>
            <a:r>
              <a:rPr sz="675" b="0">
                <a:solidFill>
                  <a:srgbClr val="EADCE6"/>
                </a:solidFill>
              </a:rPr>
              <a:t>Synthetic decision-support prototype — not validated for clinical use</a:t>
            </a:r>
          </a:p>
        </p:txBody>
      </p:sp>
      <p:sp>
        <p:nvSpPr>
          <p:cNvPr id="6" name="">
            <a:extLst xmlns:a="http://schemas.openxmlformats.org/drawingml/2006/main">
              <a:ext uri="{FF2B5EF4-FFF2-40B4-BE49-F238E27FC236}">
                <a16:creationId xmlns:a16="http://schemas.microsoft.com/office/drawing/2014/main" id="{DCDA797D-CF0D-4583-8A7B-214B6BE670D7}"/>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EADCE6"/>
                </a:solidFill>
              </a:defRPr>
            </a:pPr>
            <a:r>
              <a:rPr sz="750" b="1">
                <a:solidFill>
                  <a:srgbClr val="EADCE6"/>
                </a:solidFill>
              </a:rPr>
              <a:t>16</a:t>
            </a:r>
          </a:p>
        </p:txBody>
      </p:sp>
      <p:sp>
        <p:nvSpPr>
          <p:cNvPr id="7" name="">
            <a:extLst xmlns:a="http://schemas.openxmlformats.org/drawingml/2006/main">
              <a:ext uri="{FF2B5EF4-FFF2-40B4-BE49-F238E27FC236}">
                <a16:creationId xmlns:a16="http://schemas.microsoft.com/office/drawing/2014/main" id="{86572BBE-77CF-47F4-88F7-C90F194BFE05}"/>
              </a:ext>
            </a:extLst>
          </p:cNvPr>
          <p:cNvSpPr>
            <a:spLocks xmlns:a="http://schemas.openxmlformats.org/drawingml/2006/main" noGrp="1"/>
          </p:cNvSpPr>
          <p:nvPr/>
        </p:nvSpPr>
        <p:spPr>
          <a:xfrm xmlns:a="http://schemas.openxmlformats.org/drawingml/2006/main">
            <a:off x="800100" y="23622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2CFE5"/>
                </a:solidFill>
              </a:defRPr>
            </a:pPr>
            <a:r>
              <a:rPr sz="1125" b="1">
                <a:solidFill>
                  <a:srgbClr val="F2CFE5"/>
                </a:solidFill>
              </a:rPr>
              <a:t>PATIENT NEED</a:t>
            </a:r>
          </a:p>
        </p:txBody>
      </p:sp>
      <p:sp>
        <p:nvSpPr>
          <p:cNvPr id="8" name="">
            <a:extLst xmlns:a="http://schemas.openxmlformats.org/drawingml/2006/main">
              <a:ext uri="{FF2B5EF4-FFF2-40B4-BE49-F238E27FC236}">
                <a16:creationId xmlns:a16="http://schemas.microsoft.com/office/drawing/2014/main" id="{F4212AFC-D7B7-4761-8820-DEA1755B0826}"/>
              </a:ext>
            </a:extLst>
          </p:cNvPr>
          <p:cNvSpPr>
            <a:spLocks xmlns:a="http://schemas.openxmlformats.org/drawingml/2006/main" noGrp="1"/>
          </p:cNvSpPr>
          <p:nvPr/>
        </p:nvSpPr>
        <p:spPr>
          <a:xfrm xmlns:a="http://schemas.openxmlformats.org/drawingml/2006/main">
            <a:off x="3276600" y="2266950"/>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FFFFFF"/>
                </a:solidFill>
              </a:defRPr>
            </a:pPr>
            <a:r>
              <a:rPr sz="2550" b="1">
                <a:solidFill>
                  <a:srgbClr val="FFFFFF"/>
                </a:solidFill>
              </a:rPr>
              <a:t>→</a:t>
            </a:r>
          </a:p>
        </p:txBody>
      </p:sp>
      <p:sp>
        <p:nvSpPr>
          <p:cNvPr id="9" name="">
            <a:extLst xmlns:a="http://schemas.openxmlformats.org/drawingml/2006/main">
              <a:ext uri="{FF2B5EF4-FFF2-40B4-BE49-F238E27FC236}">
                <a16:creationId xmlns:a16="http://schemas.microsoft.com/office/drawing/2014/main" id="{078C349A-9D1F-4233-A160-DA6DF1CE47BF}"/>
              </a:ext>
            </a:extLst>
          </p:cNvPr>
          <p:cNvSpPr>
            <a:spLocks xmlns:a="http://schemas.openxmlformats.org/drawingml/2006/main" noGrp="1"/>
          </p:cNvSpPr>
          <p:nvPr/>
        </p:nvSpPr>
        <p:spPr>
          <a:xfrm xmlns:a="http://schemas.openxmlformats.org/drawingml/2006/main">
            <a:off x="3943350" y="23622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ACTION WINDOW</a:t>
            </a:r>
          </a:p>
        </p:txBody>
      </p:sp>
      <p:sp>
        <p:nvSpPr>
          <p:cNvPr id="10" name="">
            <a:extLst xmlns:a="http://schemas.openxmlformats.org/drawingml/2006/main">
              <a:ext uri="{FF2B5EF4-FFF2-40B4-BE49-F238E27FC236}">
                <a16:creationId xmlns:a16="http://schemas.microsoft.com/office/drawing/2014/main" id="{319C3FC7-2CEE-4D55-B504-72D299260081}"/>
              </a:ext>
            </a:extLst>
          </p:cNvPr>
          <p:cNvSpPr>
            <a:spLocks xmlns:a="http://schemas.openxmlformats.org/drawingml/2006/main" noGrp="1"/>
          </p:cNvSpPr>
          <p:nvPr/>
        </p:nvSpPr>
        <p:spPr>
          <a:xfrm xmlns:a="http://schemas.openxmlformats.org/drawingml/2006/main">
            <a:off x="6419850" y="2266950"/>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FFFFFF"/>
                </a:solidFill>
              </a:defRPr>
            </a:pPr>
            <a:r>
              <a:rPr sz="2550" b="1">
                <a:solidFill>
                  <a:srgbClr val="FFFFFF"/>
                </a:solidFill>
              </a:rPr>
              <a:t>→</a:t>
            </a:r>
          </a:p>
        </p:txBody>
      </p:sp>
      <p:sp>
        <p:nvSpPr>
          <p:cNvPr id="11" name="">
            <a:extLst xmlns:a="http://schemas.openxmlformats.org/drawingml/2006/main">
              <a:ext uri="{FF2B5EF4-FFF2-40B4-BE49-F238E27FC236}">
                <a16:creationId xmlns:a16="http://schemas.microsoft.com/office/drawing/2014/main" id="{AEC4F45A-8B93-40B5-85E0-6E24126BD242}"/>
              </a:ext>
            </a:extLst>
          </p:cNvPr>
          <p:cNvSpPr>
            <a:spLocks xmlns:a="http://schemas.openxmlformats.org/drawingml/2006/main" noGrp="1"/>
          </p:cNvSpPr>
          <p:nvPr/>
        </p:nvSpPr>
        <p:spPr>
          <a:xfrm xmlns:a="http://schemas.openxmlformats.org/drawingml/2006/main">
            <a:off x="7086600" y="23622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CLINICAL SLACK</a:t>
            </a:r>
          </a:p>
        </p:txBody>
      </p:sp>
      <p:sp>
        <p:nvSpPr>
          <p:cNvPr id="12" name="">
            <a:extLst xmlns:a="http://schemas.openxmlformats.org/drawingml/2006/main">
              <a:ext uri="{FF2B5EF4-FFF2-40B4-BE49-F238E27FC236}">
                <a16:creationId xmlns:a16="http://schemas.microsoft.com/office/drawing/2014/main" id="{02D15DF9-C732-44A9-80CE-64791BAA35AB}"/>
              </a:ext>
            </a:extLst>
          </p:cNvPr>
          <p:cNvSpPr>
            <a:spLocks xmlns:a="http://schemas.openxmlformats.org/drawingml/2006/main" noGrp="1"/>
          </p:cNvSpPr>
          <p:nvPr/>
        </p:nvSpPr>
        <p:spPr>
          <a:xfrm xmlns:a="http://schemas.openxmlformats.org/drawingml/2006/main">
            <a:off x="9563100" y="2266950"/>
            <a:ext cx="66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FFFFFF"/>
                </a:solidFill>
              </a:defRPr>
            </a:pPr>
            <a:r>
              <a:rPr sz="2550" b="1">
                <a:solidFill>
                  <a:srgbClr val="FFFFFF"/>
                </a:solidFill>
              </a:rPr>
              <a:t>→</a:t>
            </a:r>
          </a:p>
        </p:txBody>
      </p:sp>
      <p:sp>
        <p:nvSpPr>
          <p:cNvPr id="13" name="">
            <a:extLst xmlns:a="http://schemas.openxmlformats.org/drawingml/2006/main">
              <a:ext uri="{FF2B5EF4-FFF2-40B4-BE49-F238E27FC236}">
                <a16:creationId xmlns:a16="http://schemas.microsoft.com/office/drawing/2014/main" id="{C8537D62-DCD1-4215-BD2A-B4C0BCE052E6}"/>
              </a:ext>
            </a:extLst>
          </p:cNvPr>
          <p:cNvSpPr>
            <a:spLocks xmlns:a="http://schemas.openxmlformats.org/drawingml/2006/main" noGrp="1"/>
          </p:cNvSpPr>
          <p:nvPr/>
        </p:nvSpPr>
        <p:spPr>
          <a:xfrm xmlns:a="http://schemas.openxmlformats.org/drawingml/2006/main">
            <a:off x="10191750" y="23622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2CFE5"/>
                </a:solidFill>
              </a:defRPr>
            </a:pPr>
            <a:r>
              <a:rPr sz="1125" b="1">
                <a:solidFill>
                  <a:srgbClr val="F2CFE5"/>
                </a:solidFill>
              </a:rPr>
              <a:t>CLINICIAN</a:t>
            </a:r>
          </a:p>
        </p:txBody>
      </p:sp>
      <p:sp>
        <p:nvSpPr>
          <p:cNvPr id="14" name="">
            <a:extLst xmlns:a="http://schemas.openxmlformats.org/drawingml/2006/main">
              <a:ext uri="{FF2B5EF4-FFF2-40B4-BE49-F238E27FC236}">
                <a16:creationId xmlns:a16="http://schemas.microsoft.com/office/drawing/2014/main" id="{CA16CB8F-71D9-454B-8652-501074CA593D}"/>
              </a:ext>
            </a:extLst>
          </p:cNvPr>
          <p:cNvSpPr>
            <a:spLocks xmlns:a="http://schemas.openxmlformats.org/drawingml/2006/main" noGrp="1"/>
          </p:cNvSpPr>
          <p:nvPr/>
        </p:nvSpPr>
        <p:spPr>
          <a:xfrm xmlns:a="http://schemas.openxmlformats.org/drawingml/2006/main">
            <a:off x="1333500" y="3105150"/>
            <a:ext cx="9525000" cy="0"/>
          </a:xfrm>
          <a:prstGeom xmlns:a="http://schemas.openxmlformats.org/drawingml/2006/main" prst="line">
            <a:avLst/>
          </a:prstGeom>
          <a:noFill xmlns:a="http://schemas.openxmlformats.org/drawingml/2006/main"/>
          <a:ln xmlns:a="http://schemas.openxmlformats.org/drawingml/2006/main" w="19050">
            <a:solidFill>
              <a:srgbClr val="8F5677"/>
            </a:solidFill>
            <a:prstDash val="solid"/>
          </a:ln>
        </p:spPr>
      </p:sp>
      <p:sp>
        <p:nvSpPr>
          <p:cNvPr id="15" name="">
            <a:extLst xmlns:a="http://schemas.openxmlformats.org/drawingml/2006/main">
              <a:ext uri="{FF2B5EF4-FFF2-40B4-BE49-F238E27FC236}">
                <a16:creationId xmlns:a16="http://schemas.microsoft.com/office/drawing/2014/main" id="{906B2D97-B5C2-4FE9-A7CF-76F8EB776E1E}"/>
              </a:ext>
            </a:extLst>
          </p:cNvPr>
          <p:cNvSpPr>
            <a:spLocks xmlns:a="http://schemas.openxmlformats.org/drawingml/2006/main" noGrp="1"/>
          </p:cNvSpPr>
          <p:nvPr/>
        </p:nvSpPr>
        <p:spPr>
          <a:xfrm xmlns:a="http://schemas.openxmlformats.org/drawingml/2006/main">
            <a:off x="1428750" y="3581400"/>
            <a:ext cx="933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100" b="1">
                <a:solidFill>
                  <a:srgbClr val="FFFFFF"/>
                </a:solidFill>
              </a:defRPr>
            </a:pPr>
            <a:r>
              <a:rPr sz="2100" b="1">
                <a:solidFill>
                  <a:srgbClr val="FFFFFF"/>
                </a:solidFill>
              </a:rPr>
              <a:t>When capacity is constrained, TriageLoop does not create false reassurance.</a:t>
            </a:r>
          </a:p>
        </p:txBody>
      </p:sp>
      <p:sp>
        <p:nvSpPr>
          <p:cNvPr id="16" name="">
            <a:extLst xmlns:a="http://schemas.openxmlformats.org/drawingml/2006/main">
              <a:ext uri="{FF2B5EF4-FFF2-40B4-BE49-F238E27FC236}">
                <a16:creationId xmlns:a16="http://schemas.microsoft.com/office/drawing/2014/main" id="{BCCEB102-74F9-4454-89E1-1548A6C7C94E}"/>
              </a:ext>
            </a:extLst>
          </p:cNvPr>
          <p:cNvSpPr>
            <a:spLocks xmlns:a="http://schemas.openxmlformats.org/drawingml/2006/main" noGrp="1"/>
          </p:cNvSpPr>
          <p:nvPr/>
        </p:nvSpPr>
        <p:spPr>
          <a:xfrm xmlns:a="http://schemas.openxmlformats.org/drawingml/2006/main">
            <a:off x="1809750" y="4229100"/>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0">
                <a:solidFill>
                  <a:srgbClr val="EADCE6"/>
                </a:solidFill>
              </a:defRPr>
            </a:pPr>
            <a:r>
              <a:rPr sz="1575" b="0">
                <a:solidFill>
                  <a:srgbClr val="EADCE6"/>
                </a:solidFill>
              </a:rPr>
              <a:t>It shows where clinical need and operational reality have diverged—early enough for a clinician and charge nurse to act.</a:t>
            </a:r>
          </a:p>
        </p:txBody>
      </p:sp>
      <p:sp>
        <p:nvSpPr>
          <p:cNvPr id="17" name="">
            <a:extLst xmlns:a="http://schemas.openxmlformats.org/drawingml/2006/main">
              <a:ext uri="{FF2B5EF4-FFF2-40B4-BE49-F238E27FC236}">
                <a16:creationId xmlns:a16="http://schemas.microsoft.com/office/drawing/2014/main" id="{3B19580F-E703-4FB7-B39D-9EDF98B414FE}"/>
              </a:ext>
            </a:extLst>
          </p:cNvPr>
          <p:cNvSpPr>
            <a:spLocks xmlns:a="http://schemas.openxmlformats.org/drawingml/2006/main" noGrp="1"/>
          </p:cNvSpPr>
          <p:nvPr/>
        </p:nvSpPr>
        <p:spPr>
          <a:xfrm xmlns:a="http://schemas.openxmlformats.org/drawingml/2006/main">
            <a:off x="3619500" y="5334000"/>
            <a:ext cx="495300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FFFFFF"/>
            </a:solidFill>
            <a:prstDash val="solid"/>
          </a:ln>
        </p:spPr>
        <p:txBody>
          <a:bodyPr xmlns:a="http://schemas.openxmlformats.org/drawingml/2006/main"/>
          <a:lstStyle xmlns:a="http://schemas.openxmlformats.org/drawingml/2006/main"/>
          <a:p xmlns:a="http://schemas.openxmlformats.org/drawingml/2006/main">
            <a:pPr algn="ctr">
              <a:defRPr sz="825" b="1">
                <a:solidFill>
                  <a:srgbClr val="52163E"/>
                </a:solidFill>
              </a:defRPr>
            </a:pPr>
            <a:r>
              <a:rPr sz="825" b="1">
                <a:solidFill>
                  <a:srgbClr val="52163E"/>
                </a:solidFill>
              </a:rPr>
              <a:t>PROPOSED NEXT STEP  •  LOCAL RETROSPECTIVE + SHADOW PILOT</a:t>
            </a:r>
          </a:p>
        </p:txBody>
      </p:sp>
    </p:spTree>
    <p:extLst>
      <p:ext uri="{BB962C8B-B14F-4D97-AF65-F5344CB8AC3E}">
        <p14:creationId xmlns:p14="http://schemas.microsoft.com/office/powerpoint/2010/main" val="37274033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4D71117-A678-4944-A926-C90BA2D8DDC4}"/>
              </a:ext>
            </a:extLst>
          </p:cNvPr>
          <p:cNvSpPr>
            <a:spLocks xmlns:a="http://schemas.openxmlformats.org/drawingml/2006/main" noGrp="1"/>
          </p:cNvSpPr>
          <p:nvPr/>
        </p:nvSpPr>
        <p:spPr>
          <a:xfrm xmlns:a="http://schemas.openxmlformats.org/drawingml/2006/main">
            <a:off x="609600" y="3429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A1F5C"/>
                </a:solidFill>
              </a:defRPr>
            </a:pPr>
            <a:r>
              <a:rPr sz="825" b="1">
                <a:solidFill>
                  <a:srgbClr val="7A1F5C"/>
                </a:solidFill>
              </a:rPr>
              <a:t>APPENDIX</a:t>
            </a:r>
          </a:p>
        </p:txBody>
      </p:sp>
      <p:sp>
        <p:nvSpPr>
          <p:cNvPr id="2" name="">
            <a:extLst xmlns:a="http://schemas.openxmlformats.org/drawingml/2006/main">
              <a:ext uri="{FF2B5EF4-FFF2-40B4-BE49-F238E27FC236}">
                <a16:creationId xmlns:a16="http://schemas.microsoft.com/office/drawing/2014/main" id="{C100417A-36C3-45AC-9224-A76197E67762}"/>
              </a:ext>
            </a:extLst>
          </p:cNvPr>
          <p:cNvSpPr>
            <a:spLocks xmlns:a="http://schemas.openxmlformats.org/drawingml/2006/main" noGrp="1"/>
          </p:cNvSpPr>
          <p:nvPr/>
        </p:nvSpPr>
        <p:spPr>
          <a:xfrm xmlns:a="http://schemas.openxmlformats.org/drawingml/2006/main">
            <a:off x="609600" y="62865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211C27"/>
                </a:solidFill>
              </a:defRPr>
            </a:pPr>
            <a:r>
              <a:rPr sz="2550" b="1">
                <a:solidFill>
                  <a:srgbClr val="211C27"/>
                </a:solidFill>
              </a:rPr>
              <a:t>Verification design and claim boundaries</a:t>
            </a:r>
          </a:p>
        </p:txBody>
      </p:sp>
      <p:sp>
        <p:nvSpPr>
          <p:cNvPr id="3" name="">
            <a:extLst xmlns:a="http://schemas.openxmlformats.org/drawingml/2006/main">
              <a:ext uri="{FF2B5EF4-FFF2-40B4-BE49-F238E27FC236}">
                <a16:creationId xmlns:a16="http://schemas.microsoft.com/office/drawing/2014/main" id="{61B70A79-7D68-40DB-BE77-A1B5B05D622D}"/>
              </a:ext>
            </a:extLst>
          </p:cNvPr>
          <p:cNvSpPr>
            <a:spLocks xmlns:a="http://schemas.openxmlformats.org/drawingml/2006/main" noGrp="1"/>
          </p:cNvSpPr>
          <p:nvPr/>
        </p:nvSpPr>
        <p:spPr>
          <a:xfrm xmlns:a="http://schemas.openxmlformats.org/drawingml/2006/main">
            <a:off x="609600" y="12192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5B67"/>
                </a:solidFill>
              </a:defRPr>
            </a:pPr>
            <a:r>
              <a:rPr sz="1275" b="0">
                <a:solidFill>
                  <a:srgbClr val="625B67"/>
                </a:solidFill>
              </a:rPr>
              <a:t>The evidence is reproducible, paired and intentionally bounded.</a:t>
            </a:r>
          </a:p>
        </p:txBody>
      </p:sp>
      <p:sp>
        <p:nvSpPr>
          <p:cNvPr id="4" name="">
            <a:extLst xmlns:a="http://schemas.openxmlformats.org/drawingml/2006/main">
              <a:ext uri="{FF2B5EF4-FFF2-40B4-BE49-F238E27FC236}">
                <a16:creationId xmlns:a16="http://schemas.microsoft.com/office/drawing/2014/main" id="{5039FB07-C368-4627-9323-4CE6505DFD46}"/>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5" name="">
            <a:extLst xmlns:a="http://schemas.openxmlformats.org/drawingml/2006/main">
              <a:ext uri="{FF2B5EF4-FFF2-40B4-BE49-F238E27FC236}">
                <a16:creationId xmlns:a16="http://schemas.microsoft.com/office/drawing/2014/main" id="{C15119C3-351D-4739-8ACD-DA04BE8C8902}"/>
              </a:ext>
            </a:extLst>
          </p:cNvPr>
          <p:cNvSpPr>
            <a:spLocks xmlns:a="http://schemas.openxmlformats.org/drawingml/2006/main" noGrp="1"/>
          </p:cNvSpPr>
          <p:nvPr/>
        </p:nvSpPr>
        <p:spPr>
          <a:xfrm xmlns:a="http://schemas.openxmlformats.org/drawingml/2006/main">
            <a:off x="609600" y="6581775"/>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625B67"/>
                </a:solidFill>
              </a:defRPr>
            </a:pPr>
            <a:r>
              <a:rPr sz="675" b="0">
                <a:solidFill>
                  <a:srgbClr val="625B67"/>
                </a:solidFill>
              </a:rPr>
              <a:t>Synthetic decision-support prototype — not validated for clinical use</a:t>
            </a:r>
          </a:p>
        </p:txBody>
      </p:sp>
      <p:sp>
        <p:nvSpPr>
          <p:cNvPr id="6" name="">
            <a:extLst xmlns:a="http://schemas.openxmlformats.org/drawingml/2006/main">
              <a:ext uri="{FF2B5EF4-FFF2-40B4-BE49-F238E27FC236}">
                <a16:creationId xmlns:a16="http://schemas.microsoft.com/office/drawing/2014/main" id="{F66B0F0C-80B5-4BCD-AB4B-765B6C3004D9}"/>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625B67"/>
                </a:solidFill>
              </a:defRPr>
            </a:pPr>
            <a:r>
              <a:rPr sz="750" b="1">
                <a:solidFill>
                  <a:srgbClr val="625B67"/>
                </a:solidFill>
              </a:rPr>
              <a:t>17</a:t>
            </a:r>
          </a:p>
        </p:txBody>
      </p:sp>
      <p:sp>
        <p:nvSpPr>
          <p:cNvPr id="7" name="">
            <a:extLst xmlns:a="http://schemas.openxmlformats.org/drawingml/2006/main">
              <a:ext uri="{FF2B5EF4-FFF2-40B4-BE49-F238E27FC236}">
                <a16:creationId xmlns:a16="http://schemas.microsoft.com/office/drawing/2014/main" id="{A3486CE7-6961-4853-B565-2986CE84E8E6}"/>
              </a:ext>
            </a:extLst>
          </p:cNvPr>
          <p:cNvSpPr>
            <a:spLocks xmlns:a="http://schemas.openxmlformats.org/drawingml/2006/main" noGrp="1"/>
          </p:cNvSpPr>
          <p:nvPr/>
        </p:nvSpPr>
        <p:spPr>
          <a:xfrm xmlns:a="http://schemas.openxmlformats.org/drawingml/2006/main">
            <a:off x="742950" y="1885950"/>
            <a:ext cx="2038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7A1F5C"/>
                </a:solidFill>
              </a:defRPr>
            </a:pPr>
            <a:r>
              <a:rPr sz="750" b="1">
                <a:solidFill>
                  <a:srgbClr val="7A1F5C"/>
                </a:solidFill>
              </a:rPr>
              <a:t>POPULATION</a:t>
            </a:r>
          </a:p>
        </p:txBody>
      </p:sp>
      <p:sp>
        <p:nvSpPr>
          <p:cNvPr id="8" name="">
            <a:extLst xmlns:a="http://schemas.openxmlformats.org/drawingml/2006/main">
              <a:ext uri="{FF2B5EF4-FFF2-40B4-BE49-F238E27FC236}">
                <a16:creationId xmlns:a16="http://schemas.microsoft.com/office/drawing/2014/main" id="{B61B18E6-E4D0-4B0E-9C76-2B5F675CD0B2}"/>
              </a:ext>
            </a:extLst>
          </p:cNvPr>
          <p:cNvSpPr>
            <a:spLocks xmlns:a="http://schemas.openxmlformats.org/drawingml/2006/main" noGrp="1"/>
          </p:cNvSpPr>
          <p:nvPr/>
        </p:nvSpPr>
        <p:spPr>
          <a:xfrm xmlns:a="http://schemas.openxmlformats.org/drawingml/2006/main">
            <a:off x="2876550" y="1866900"/>
            <a:ext cx="8305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211C27"/>
                </a:solidFill>
              </a:defRPr>
            </a:pPr>
            <a:r>
              <a:rPr sz="1050" b="0">
                <a:solidFill>
                  <a:srgbClr val="211C27"/>
                </a:solidFill>
              </a:rPr>
              <a:t>Seeded 10,000-encounter synthetic longitudinal generator + 28 curated edge cases</a:t>
            </a:r>
          </a:p>
        </p:txBody>
      </p:sp>
      <p:sp>
        <p:nvSpPr>
          <p:cNvPr id="9" name="">
            <a:extLst xmlns:a="http://schemas.openxmlformats.org/drawingml/2006/main">
              <a:ext uri="{FF2B5EF4-FFF2-40B4-BE49-F238E27FC236}">
                <a16:creationId xmlns:a16="http://schemas.microsoft.com/office/drawing/2014/main" id="{774AD8BA-B626-4CB0-B1BD-AB14E8911F2A}"/>
              </a:ext>
            </a:extLst>
          </p:cNvPr>
          <p:cNvSpPr>
            <a:spLocks xmlns:a="http://schemas.openxmlformats.org/drawingml/2006/main" noGrp="1"/>
          </p:cNvSpPr>
          <p:nvPr/>
        </p:nvSpPr>
        <p:spPr>
          <a:xfrm xmlns:a="http://schemas.openxmlformats.org/drawingml/2006/main">
            <a:off x="742950" y="2209800"/>
            <a:ext cx="104394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10" name="">
            <a:extLst xmlns:a="http://schemas.openxmlformats.org/drawingml/2006/main">
              <a:ext uri="{FF2B5EF4-FFF2-40B4-BE49-F238E27FC236}">
                <a16:creationId xmlns:a16="http://schemas.microsoft.com/office/drawing/2014/main" id="{2ACFA076-8E87-4EBB-B9CB-10AEF444EE98}"/>
              </a:ext>
            </a:extLst>
          </p:cNvPr>
          <p:cNvSpPr>
            <a:spLocks xmlns:a="http://schemas.openxmlformats.org/drawingml/2006/main" noGrp="1"/>
          </p:cNvSpPr>
          <p:nvPr/>
        </p:nvSpPr>
        <p:spPr>
          <a:xfrm xmlns:a="http://schemas.openxmlformats.org/drawingml/2006/main">
            <a:off x="742950" y="2362200"/>
            <a:ext cx="2038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7A1F5C"/>
                </a:solidFill>
              </a:defRPr>
            </a:pPr>
            <a:r>
              <a:rPr sz="750" b="1">
                <a:solidFill>
                  <a:srgbClr val="7A1F5C"/>
                </a:solidFill>
              </a:rPr>
              <a:t>SITES</a:t>
            </a:r>
          </a:p>
        </p:txBody>
      </p:sp>
      <p:sp>
        <p:nvSpPr>
          <p:cNvPr id="11" name="">
            <a:extLst xmlns:a="http://schemas.openxmlformats.org/drawingml/2006/main">
              <a:ext uri="{FF2B5EF4-FFF2-40B4-BE49-F238E27FC236}">
                <a16:creationId xmlns:a16="http://schemas.microsoft.com/office/drawing/2014/main" id="{FB011D81-CC29-4EE5-AB62-0330C7D37606}"/>
              </a:ext>
            </a:extLst>
          </p:cNvPr>
          <p:cNvSpPr>
            <a:spLocks xmlns:a="http://schemas.openxmlformats.org/drawingml/2006/main" noGrp="1"/>
          </p:cNvSpPr>
          <p:nvPr/>
        </p:nvSpPr>
        <p:spPr>
          <a:xfrm xmlns:a="http://schemas.openxmlformats.org/drawingml/2006/main">
            <a:off x="2876550" y="2343150"/>
            <a:ext cx="8305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211C27"/>
                </a:solidFill>
              </a:defRPr>
            </a:pPr>
            <a:r>
              <a:rPr sz="1050" b="0">
                <a:solidFill>
                  <a:srgbClr val="211C27"/>
                </a:solidFill>
              </a:rPr>
              <a:t>Community 100/day • Regional 300/day • Urban trauma 550/day</a:t>
            </a:r>
          </a:p>
        </p:txBody>
      </p:sp>
      <p:sp>
        <p:nvSpPr>
          <p:cNvPr id="12" name="">
            <a:extLst xmlns:a="http://schemas.openxmlformats.org/drawingml/2006/main">
              <a:ext uri="{FF2B5EF4-FFF2-40B4-BE49-F238E27FC236}">
                <a16:creationId xmlns:a16="http://schemas.microsoft.com/office/drawing/2014/main" id="{BD0EBCF1-01F9-418C-A112-2B1BB52120C4}"/>
              </a:ext>
            </a:extLst>
          </p:cNvPr>
          <p:cNvSpPr>
            <a:spLocks xmlns:a="http://schemas.openxmlformats.org/drawingml/2006/main" noGrp="1"/>
          </p:cNvSpPr>
          <p:nvPr/>
        </p:nvSpPr>
        <p:spPr>
          <a:xfrm xmlns:a="http://schemas.openxmlformats.org/drawingml/2006/main">
            <a:off x="742950" y="2686050"/>
            <a:ext cx="104394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13" name="">
            <a:extLst xmlns:a="http://schemas.openxmlformats.org/drawingml/2006/main">
              <a:ext uri="{FF2B5EF4-FFF2-40B4-BE49-F238E27FC236}">
                <a16:creationId xmlns:a16="http://schemas.microsoft.com/office/drawing/2014/main" id="{412ADDB8-8979-4D36-AB94-2B42B473F3D9}"/>
              </a:ext>
            </a:extLst>
          </p:cNvPr>
          <p:cNvSpPr>
            <a:spLocks xmlns:a="http://schemas.openxmlformats.org/drawingml/2006/main" noGrp="1"/>
          </p:cNvSpPr>
          <p:nvPr/>
        </p:nvSpPr>
        <p:spPr>
          <a:xfrm xmlns:a="http://schemas.openxmlformats.org/drawingml/2006/main">
            <a:off x="742950" y="2838450"/>
            <a:ext cx="2038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7A1F5C"/>
                </a:solidFill>
              </a:defRPr>
            </a:pPr>
            <a:r>
              <a:rPr sz="750" b="1">
                <a:solidFill>
                  <a:srgbClr val="7A1F5C"/>
                </a:solidFill>
              </a:rPr>
              <a:t>DEMAND</a:t>
            </a:r>
          </a:p>
        </p:txBody>
      </p:sp>
      <p:sp>
        <p:nvSpPr>
          <p:cNvPr id="14" name="">
            <a:extLst xmlns:a="http://schemas.openxmlformats.org/drawingml/2006/main">
              <a:ext uri="{FF2B5EF4-FFF2-40B4-BE49-F238E27FC236}">
                <a16:creationId xmlns:a16="http://schemas.microsoft.com/office/drawing/2014/main" id="{2E040D71-5571-43E0-B56E-62B143532EC1}"/>
              </a:ext>
            </a:extLst>
          </p:cNvPr>
          <p:cNvSpPr>
            <a:spLocks xmlns:a="http://schemas.openxmlformats.org/drawingml/2006/main" noGrp="1"/>
          </p:cNvSpPr>
          <p:nvPr/>
        </p:nvSpPr>
        <p:spPr>
          <a:xfrm xmlns:a="http://schemas.openxmlformats.org/drawingml/2006/main">
            <a:off x="2876550" y="2819400"/>
            <a:ext cx="8305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211C27"/>
                </a:solidFill>
              </a:defRPr>
            </a:pPr>
            <a:r>
              <a:rPr sz="1050" b="0">
                <a:solidFill>
                  <a:srgbClr val="211C27"/>
                </a:solidFill>
              </a:rPr>
              <a:t>Baseline and 3× surge</a:t>
            </a:r>
          </a:p>
        </p:txBody>
      </p:sp>
      <p:sp>
        <p:nvSpPr>
          <p:cNvPr id="15" name="">
            <a:extLst xmlns:a="http://schemas.openxmlformats.org/drawingml/2006/main">
              <a:ext uri="{FF2B5EF4-FFF2-40B4-BE49-F238E27FC236}">
                <a16:creationId xmlns:a16="http://schemas.microsoft.com/office/drawing/2014/main" id="{EBB4CC0D-D24D-444D-9B8E-EDEF8352D2CA}"/>
              </a:ext>
            </a:extLst>
          </p:cNvPr>
          <p:cNvSpPr>
            <a:spLocks xmlns:a="http://schemas.openxmlformats.org/drawingml/2006/main" noGrp="1"/>
          </p:cNvSpPr>
          <p:nvPr/>
        </p:nvSpPr>
        <p:spPr>
          <a:xfrm xmlns:a="http://schemas.openxmlformats.org/drawingml/2006/main">
            <a:off x="742950" y="3162300"/>
            <a:ext cx="104394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16" name="">
            <a:extLst xmlns:a="http://schemas.openxmlformats.org/drawingml/2006/main">
              <a:ext uri="{FF2B5EF4-FFF2-40B4-BE49-F238E27FC236}">
                <a16:creationId xmlns:a16="http://schemas.microsoft.com/office/drawing/2014/main" id="{4A55E2A4-52AC-4948-B308-0E30633C24E3}"/>
              </a:ext>
            </a:extLst>
          </p:cNvPr>
          <p:cNvSpPr>
            <a:spLocks xmlns:a="http://schemas.openxmlformats.org/drawingml/2006/main" noGrp="1"/>
          </p:cNvSpPr>
          <p:nvPr/>
        </p:nvSpPr>
        <p:spPr>
          <a:xfrm xmlns:a="http://schemas.openxmlformats.org/drawingml/2006/main">
            <a:off x="742950" y="3314700"/>
            <a:ext cx="2038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7A1F5C"/>
                </a:solidFill>
              </a:defRPr>
            </a:pPr>
            <a:r>
              <a:rPr sz="750" b="1">
                <a:solidFill>
                  <a:srgbClr val="7A1F5C"/>
                </a:solidFill>
              </a:rPr>
              <a:t>MATRICES</a:t>
            </a:r>
          </a:p>
        </p:txBody>
      </p:sp>
      <p:sp>
        <p:nvSpPr>
          <p:cNvPr id="17" name="">
            <a:extLst xmlns:a="http://schemas.openxmlformats.org/drawingml/2006/main">
              <a:ext uri="{FF2B5EF4-FFF2-40B4-BE49-F238E27FC236}">
                <a16:creationId xmlns:a16="http://schemas.microsoft.com/office/drawing/2014/main" id="{4430C395-4DEE-4D63-9C2E-76B859049E29}"/>
              </a:ext>
            </a:extLst>
          </p:cNvPr>
          <p:cNvSpPr>
            <a:spLocks xmlns:a="http://schemas.openxmlformats.org/drawingml/2006/main" noGrp="1"/>
          </p:cNvSpPr>
          <p:nvPr/>
        </p:nvSpPr>
        <p:spPr>
          <a:xfrm xmlns:a="http://schemas.openxmlformats.org/drawingml/2006/main">
            <a:off x="2876550" y="3295650"/>
            <a:ext cx="8305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211C27"/>
                </a:solidFill>
              </a:defRPr>
            </a:pPr>
            <a:r>
              <a:rPr sz="1050" b="0">
                <a:solidFill>
                  <a:srgbClr val="211C27"/>
                </a:solidFill>
              </a:rPr>
              <a:t>TL-03: 1,800 shifts / 3 policies • TL-05: 1,200 shifts / 2 policies</a:t>
            </a:r>
          </a:p>
        </p:txBody>
      </p:sp>
      <p:sp>
        <p:nvSpPr>
          <p:cNvPr id="18" name="">
            <a:extLst xmlns:a="http://schemas.openxmlformats.org/drawingml/2006/main">
              <a:ext uri="{FF2B5EF4-FFF2-40B4-BE49-F238E27FC236}">
                <a16:creationId xmlns:a16="http://schemas.microsoft.com/office/drawing/2014/main" id="{2B2BC475-F162-4FBC-905F-6583DA2E3E26}"/>
              </a:ext>
            </a:extLst>
          </p:cNvPr>
          <p:cNvSpPr>
            <a:spLocks xmlns:a="http://schemas.openxmlformats.org/drawingml/2006/main" noGrp="1"/>
          </p:cNvSpPr>
          <p:nvPr/>
        </p:nvSpPr>
        <p:spPr>
          <a:xfrm xmlns:a="http://schemas.openxmlformats.org/drawingml/2006/main">
            <a:off x="742950" y="3638550"/>
            <a:ext cx="104394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19" name="">
            <a:extLst xmlns:a="http://schemas.openxmlformats.org/drawingml/2006/main">
              <a:ext uri="{FF2B5EF4-FFF2-40B4-BE49-F238E27FC236}">
                <a16:creationId xmlns:a16="http://schemas.microsoft.com/office/drawing/2014/main" id="{2018FC80-1427-4EB3-8B50-7E2FEED9B642}"/>
              </a:ext>
            </a:extLst>
          </p:cNvPr>
          <p:cNvSpPr>
            <a:spLocks xmlns:a="http://schemas.openxmlformats.org/drawingml/2006/main" noGrp="1"/>
          </p:cNvSpPr>
          <p:nvPr/>
        </p:nvSpPr>
        <p:spPr>
          <a:xfrm xmlns:a="http://schemas.openxmlformats.org/drawingml/2006/main">
            <a:off x="742950" y="3790950"/>
            <a:ext cx="2038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7A1F5C"/>
                </a:solidFill>
              </a:defRPr>
            </a:pPr>
            <a:r>
              <a:rPr sz="750" b="1">
                <a:solidFill>
                  <a:srgbClr val="7A1F5C"/>
                </a:solidFill>
              </a:rPr>
              <a:t>POLICIES</a:t>
            </a:r>
          </a:p>
        </p:txBody>
      </p:sp>
      <p:sp>
        <p:nvSpPr>
          <p:cNvPr id="20" name="">
            <a:extLst xmlns:a="http://schemas.openxmlformats.org/drawingml/2006/main">
              <a:ext uri="{FF2B5EF4-FFF2-40B4-BE49-F238E27FC236}">
                <a16:creationId xmlns:a16="http://schemas.microsoft.com/office/drawing/2014/main" id="{08F4DA0C-9B0D-4069-870E-3E621E25BB9A}"/>
              </a:ext>
            </a:extLst>
          </p:cNvPr>
          <p:cNvSpPr>
            <a:spLocks xmlns:a="http://schemas.openxmlformats.org/drawingml/2006/main" noGrp="1"/>
          </p:cNvSpPr>
          <p:nvPr/>
        </p:nvSpPr>
        <p:spPr>
          <a:xfrm xmlns:a="http://schemas.openxmlformats.org/drawingml/2006/main">
            <a:off x="2876550" y="3771900"/>
            <a:ext cx="8305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211C27"/>
                </a:solidFill>
              </a:defRPr>
            </a:pPr>
            <a:r>
              <a:rPr sz="1050" b="0">
                <a:solidFill>
                  <a:srgbClr val="211C27"/>
                </a:solidFill>
              </a:rPr>
              <a:t>Static/FIFO/TriageLoop in TL-03 • periodic re-triage/TriageLoop in TL-05</a:t>
            </a:r>
          </a:p>
        </p:txBody>
      </p:sp>
      <p:sp>
        <p:nvSpPr>
          <p:cNvPr id="21" name="">
            <a:extLst xmlns:a="http://schemas.openxmlformats.org/drawingml/2006/main">
              <a:ext uri="{FF2B5EF4-FFF2-40B4-BE49-F238E27FC236}">
                <a16:creationId xmlns:a16="http://schemas.microsoft.com/office/drawing/2014/main" id="{8AAB7D64-2751-44EC-98B2-D988CC8CD653}"/>
              </a:ext>
            </a:extLst>
          </p:cNvPr>
          <p:cNvSpPr>
            <a:spLocks xmlns:a="http://schemas.openxmlformats.org/drawingml/2006/main" noGrp="1"/>
          </p:cNvSpPr>
          <p:nvPr/>
        </p:nvSpPr>
        <p:spPr>
          <a:xfrm xmlns:a="http://schemas.openxmlformats.org/drawingml/2006/main">
            <a:off x="742950" y="4114800"/>
            <a:ext cx="104394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22" name="">
            <a:extLst xmlns:a="http://schemas.openxmlformats.org/drawingml/2006/main">
              <a:ext uri="{FF2B5EF4-FFF2-40B4-BE49-F238E27FC236}">
                <a16:creationId xmlns:a16="http://schemas.microsoft.com/office/drawing/2014/main" id="{35409EB6-D065-4AEE-9421-593D8A9D747A}"/>
              </a:ext>
            </a:extLst>
          </p:cNvPr>
          <p:cNvSpPr>
            <a:spLocks xmlns:a="http://schemas.openxmlformats.org/drawingml/2006/main" noGrp="1"/>
          </p:cNvSpPr>
          <p:nvPr/>
        </p:nvSpPr>
        <p:spPr>
          <a:xfrm xmlns:a="http://schemas.openxmlformats.org/drawingml/2006/main">
            <a:off x="742950" y="4267200"/>
            <a:ext cx="2038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7A1F5C"/>
                </a:solidFill>
              </a:defRPr>
            </a:pPr>
            <a:r>
              <a:rPr sz="750" b="1">
                <a:solidFill>
                  <a:srgbClr val="7A1F5C"/>
                </a:solidFill>
              </a:rPr>
              <a:t>LEAD ENDPOINT</a:t>
            </a:r>
          </a:p>
        </p:txBody>
      </p:sp>
      <p:sp>
        <p:nvSpPr>
          <p:cNvPr id="23" name="">
            <a:extLst xmlns:a="http://schemas.openxmlformats.org/drawingml/2006/main">
              <a:ext uri="{FF2B5EF4-FFF2-40B4-BE49-F238E27FC236}">
                <a16:creationId xmlns:a16="http://schemas.microsoft.com/office/drawing/2014/main" id="{0F119862-1351-4348-BE05-42E3A1C20EB1}"/>
              </a:ext>
            </a:extLst>
          </p:cNvPr>
          <p:cNvSpPr>
            <a:spLocks xmlns:a="http://schemas.openxmlformats.org/drawingml/2006/main" noGrp="1"/>
          </p:cNvSpPr>
          <p:nvPr/>
        </p:nvSpPr>
        <p:spPr>
          <a:xfrm xmlns:a="http://schemas.openxmlformats.org/drawingml/2006/main">
            <a:off x="2876550" y="4248150"/>
            <a:ext cx="8305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211C27"/>
                </a:solidFill>
              </a:defRPr>
            </a:pPr>
            <a:r>
              <a:rPr sz="1050" b="0">
                <a:solidFill>
                  <a:srgbClr val="211C27"/>
                </a:solidFill>
              </a:rPr>
              <a:t>Action Window miss rate; paired shifts with bootstrap confidence interval</a:t>
            </a:r>
          </a:p>
        </p:txBody>
      </p:sp>
      <p:sp>
        <p:nvSpPr>
          <p:cNvPr id="24" name="">
            <a:extLst xmlns:a="http://schemas.openxmlformats.org/drawingml/2006/main">
              <a:ext uri="{FF2B5EF4-FFF2-40B4-BE49-F238E27FC236}">
                <a16:creationId xmlns:a16="http://schemas.microsoft.com/office/drawing/2014/main" id="{96D5DBE2-2839-4057-886A-E52A92B27B9E}"/>
              </a:ext>
            </a:extLst>
          </p:cNvPr>
          <p:cNvSpPr>
            <a:spLocks xmlns:a="http://schemas.openxmlformats.org/drawingml/2006/main" noGrp="1"/>
          </p:cNvSpPr>
          <p:nvPr/>
        </p:nvSpPr>
        <p:spPr>
          <a:xfrm xmlns:a="http://schemas.openxmlformats.org/drawingml/2006/main">
            <a:off x="742950" y="4591050"/>
            <a:ext cx="104394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25" name="">
            <a:extLst xmlns:a="http://schemas.openxmlformats.org/drawingml/2006/main">
              <a:ext uri="{FF2B5EF4-FFF2-40B4-BE49-F238E27FC236}">
                <a16:creationId xmlns:a16="http://schemas.microsoft.com/office/drawing/2014/main" id="{9EEBC7EE-7F2E-48F0-93E9-9F9B2A25CA8E}"/>
              </a:ext>
            </a:extLst>
          </p:cNvPr>
          <p:cNvSpPr>
            <a:spLocks xmlns:a="http://schemas.openxmlformats.org/drawingml/2006/main" noGrp="1"/>
          </p:cNvSpPr>
          <p:nvPr/>
        </p:nvSpPr>
        <p:spPr>
          <a:xfrm xmlns:a="http://schemas.openxmlformats.org/drawingml/2006/main">
            <a:off x="742950" y="4743450"/>
            <a:ext cx="2038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7A1F5C"/>
                </a:solidFill>
              </a:defRPr>
            </a:pPr>
            <a:r>
              <a:rPr sz="750" b="1">
                <a:solidFill>
                  <a:srgbClr val="7A1F5C"/>
                </a:solidFill>
              </a:rPr>
              <a:t>SENSITIVITY</a:t>
            </a:r>
          </a:p>
        </p:txBody>
      </p:sp>
      <p:sp>
        <p:nvSpPr>
          <p:cNvPr id="26" name="">
            <a:extLst xmlns:a="http://schemas.openxmlformats.org/drawingml/2006/main">
              <a:ext uri="{FF2B5EF4-FFF2-40B4-BE49-F238E27FC236}">
                <a16:creationId xmlns:a16="http://schemas.microsoft.com/office/drawing/2014/main" id="{081EE64B-05BC-4F1C-8325-BFADF2F980D4}"/>
              </a:ext>
            </a:extLst>
          </p:cNvPr>
          <p:cNvSpPr>
            <a:spLocks xmlns:a="http://schemas.openxmlformats.org/drawingml/2006/main" noGrp="1"/>
          </p:cNvSpPr>
          <p:nvPr/>
        </p:nvSpPr>
        <p:spPr>
          <a:xfrm xmlns:a="http://schemas.openxmlformats.org/drawingml/2006/main">
            <a:off x="2876550" y="4724400"/>
            <a:ext cx="8305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211C27"/>
                </a:solidFill>
              </a:defRPr>
            </a:pPr>
            <a:r>
              <a:rPr sz="1050" b="0">
                <a:solidFill>
                  <a:srgbClr val="211C27"/>
                </a:solidFill>
              </a:rPr>
              <a:t>Periodic comparator: 12.8% / 13.0% / 24.1% fewer misses at 10 / 20 / 30 min</a:t>
            </a:r>
          </a:p>
        </p:txBody>
      </p:sp>
      <p:sp>
        <p:nvSpPr>
          <p:cNvPr id="27" name="">
            <a:extLst xmlns:a="http://schemas.openxmlformats.org/drawingml/2006/main">
              <a:ext uri="{FF2B5EF4-FFF2-40B4-BE49-F238E27FC236}">
                <a16:creationId xmlns:a16="http://schemas.microsoft.com/office/drawing/2014/main" id="{751D6F1E-7DA7-421B-BB2B-E5F57DE338F0}"/>
              </a:ext>
            </a:extLst>
          </p:cNvPr>
          <p:cNvSpPr>
            <a:spLocks xmlns:a="http://schemas.openxmlformats.org/drawingml/2006/main" noGrp="1"/>
          </p:cNvSpPr>
          <p:nvPr/>
        </p:nvSpPr>
        <p:spPr>
          <a:xfrm xmlns:a="http://schemas.openxmlformats.org/drawingml/2006/main">
            <a:off x="742950" y="5067300"/>
            <a:ext cx="104394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28" name="">
            <a:extLst xmlns:a="http://schemas.openxmlformats.org/drawingml/2006/main">
              <a:ext uri="{FF2B5EF4-FFF2-40B4-BE49-F238E27FC236}">
                <a16:creationId xmlns:a16="http://schemas.microsoft.com/office/drawing/2014/main" id="{FCAE6D21-00BF-4D1A-8A76-AE099C28E9B8}"/>
              </a:ext>
            </a:extLst>
          </p:cNvPr>
          <p:cNvSpPr>
            <a:spLocks xmlns:a="http://schemas.openxmlformats.org/drawingml/2006/main" noGrp="1"/>
          </p:cNvSpPr>
          <p:nvPr/>
        </p:nvSpPr>
        <p:spPr>
          <a:xfrm xmlns:a="http://schemas.openxmlformats.org/drawingml/2006/main">
            <a:off x="742950" y="5219700"/>
            <a:ext cx="2038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1">
                <a:solidFill>
                  <a:srgbClr val="7A1F5C"/>
                </a:solidFill>
              </a:defRPr>
            </a:pPr>
            <a:r>
              <a:rPr sz="750" b="1">
                <a:solidFill>
                  <a:srgbClr val="7A1F5C"/>
                </a:solidFill>
              </a:rPr>
              <a:t>BOUNDARY</a:t>
            </a:r>
          </a:p>
        </p:txBody>
      </p:sp>
      <p:sp>
        <p:nvSpPr>
          <p:cNvPr id="29" name="">
            <a:extLst xmlns:a="http://schemas.openxmlformats.org/drawingml/2006/main">
              <a:ext uri="{FF2B5EF4-FFF2-40B4-BE49-F238E27FC236}">
                <a16:creationId xmlns:a16="http://schemas.microsoft.com/office/drawing/2014/main" id="{E09A8768-84FF-4D62-95FD-52EB866A7051}"/>
              </a:ext>
            </a:extLst>
          </p:cNvPr>
          <p:cNvSpPr>
            <a:spLocks xmlns:a="http://schemas.openxmlformats.org/drawingml/2006/main" noGrp="1"/>
          </p:cNvSpPr>
          <p:nvPr/>
        </p:nvSpPr>
        <p:spPr>
          <a:xfrm xmlns:a="http://schemas.openxmlformats.org/drawingml/2006/main">
            <a:off x="2876550" y="5200650"/>
            <a:ext cx="8305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211C27"/>
                </a:solidFill>
              </a:defRPr>
            </a:pPr>
            <a:r>
              <a:rPr sz="1050" b="0">
                <a:solidFill>
                  <a:srgbClr val="211C27"/>
                </a:solidFill>
              </a:rPr>
              <a:t>Only 30 min exceeds 20%; post-verification analysis, not a retroactive TL-05 gate</a:t>
            </a:r>
          </a:p>
        </p:txBody>
      </p:sp>
      <p:sp>
        <p:nvSpPr>
          <p:cNvPr id="30" name="">
            <a:extLst xmlns:a="http://schemas.openxmlformats.org/drawingml/2006/main">
              <a:ext uri="{FF2B5EF4-FFF2-40B4-BE49-F238E27FC236}">
                <a16:creationId xmlns:a16="http://schemas.microsoft.com/office/drawing/2014/main" id="{5F56C864-3F01-465F-B265-A5B85A9C70E3}"/>
              </a:ext>
            </a:extLst>
          </p:cNvPr>
          <p:cNvSpPr>
            <a:spLocks xmlns:a="http://schemas.openxmlformats.org/drawingml/2006/main" noGrp="1"/>
          </p:cNvSpPr>
          <p:nvPr/>
        </p:nvSpPr>
        <p:spPr>
          <a:xfrm xmlns:a="http://schemas.openxmlformats.org/drawingml/2006/main">
            <a:off x="742950" y="5543550"/>
            <a:ext cx="104394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31" name="">
            <a:extLst xmlns:a="http://schemas.openxmlformats.org/drawingml/2006/main">
              <a:ext uri="{FF2B5EF4-FFF2-40B4-BE49-F238E27FC236}">
                <a16:creationId xmlns:a16="http://schemas.microsoft.com/office/drawing/2014/main" id="{7E7E19D9-32FC-4662-BB1C-9D28FE5E0002}"/>
              </a:ext>
            </a:extLst>
          </p:cNvPr>
          <p:cNvSpPr>
            <a:spLocks xmlns:a="http://schemas.openxmlformats.org/drawingml/2006/main" noGrp="1"/>
          </p:cNvSpPr>
          <p:nvPr/>
        </p:nvSpPr>
        <p:spPr>
          <a:xfrm xmlns:a="http://schemas.openxmlformats.org/drawingml/2006/main">
            <a:off x="742950" y="5962650"/>
            <a:ext cx="1043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B42318"/>
                </a:solidFill>
              </a:defRPr>
            </a:pPr>
            <a:r>
              <a:rPr sz="975" b="1">
                <a:solidFill>
                  <a:srgbClr val="B42318"/>
                </a:solidFill>
              </a:rPr>
              <a:t>NOT ESTABLISHED  •  real-world clinical accuracy, patient benefit, safe staffing, hospital savings or legal compliance</a:t>
            </a:r>
          </a:p>
        </p:txBody>
      </p:sp>
    </p:spTree>
    <p:extLst>
      <p:ext uri="{BB962C8B-B14F-4D97-AF65-F5344CB8AC3E}">
        <p14:creationId xmlns:p14="http://schemas.microsoft.com/office/powerpoint/2010/main" val="51536711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4B6132C-1451-45AE-8119-D298D2C9C9FA}"/>
              </a:ext>
            </a:extLst>
          </p:cNvPr>
          <p:cNvSpPr>
            <a:spLocks xmlns:a="http://schemas.openxmlformats.org/drawingml/2006/main" noGrp="1"/>
          </p:cNvSpPr>
          <p:nvPr/>
        </p:nvSpPr>
        <p:spPr>
          <a:xfrm xmlns:a="http://schemas.openxmlformats.org/drawingml/2006/main">
            <a:off x="609600" y="3429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A1F5C"/>
                </a:solidFill>
              </a:defRPr>
            </a:pPr>
            <a:r>
              <a:rPr sz="825" b="1">
                <a:solidFill>
                  <a:srgbClr val="7A1F5C"/>
                </a:solidFill>
              </a:rPr>
              <a:t>APPENDIX</a:t>
            </a:r>
          </a:p>
        </p:txBody>
      </p:sp>
      <p:sp>
        <p:nvSpPr>
          <p:cNvPr id="2" name="">
            <a:extLst xmlns:a="http://schemas.openxmlformats.org/drawingml/2006/main">
              <a:ext uri="{FF2B5EF4-FFF2-40B4-BE49-F238E27FC236}">
                <a16:creationId xmlns:a16="http://schemas.microsoft.com/office/drawing/2014/main" id="{5240EBC3-4105-46A8-BFC4-75BD7819EC6F}"/>
              </a:ext>
            </a:extLst>
          </p:cNvPr>
          <p:cNvSpPr>
            <a:spLocks xmlns:a="http://schemas.openxmlformats.org/drawingml/2006/main" noGrp="1"/>
          </p:cNvSpPr>
          <p:nvPr/>
        </p:nvSpPr>
        <p:spPr>
          <a:xfrm xmlns:a="http://schemas.openxmlformats.org/drawingml/2006/main">
            <a:off x="609600" y="62865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211C27"/>
                </a:solidFill>
              </a:defRPr>
            </a:pPr>
            <a:r>
              <a:rPr sz="2550" b="1">
                <a:solidFill>
                  <a:srgbClr val="211C27"/>
                </a:solidFill>
              </a:rPr>
              <a:t>India governance baseline</a:t>
            </a:r>
          </a:p>
        </p:txBody>
      </p:sp>
      <p:sp>
        <p:nvSpPr>
          <p:cNvPr id="3" name="">
            <a:extLst xmlns:a="http://schemas.openxmlformats.org/drawingml/2006/main">
              <a:ext uri="{FF2B5EF4-FFF2-40B4-BE49-F238E27FC236}">
                <a16:creationId xmlns:a16="http://schemas.microsoft.com/office/drawing/2014/main" id="{679C4C83-A298-4483-85BE-55647226ECD6}"/>
              </a:ext>
            </a:extLst>
          </p:cNvPr>
          <p:cNvSpPr>
            <a:spLocks xmlns:a="http://schemas.openxmlformats.org/drawingml/2006/main" noGrp="1"/>
          </p:cNvSpPr>
          <p:nvPr/>
        </p:nvSpPr>
        <p:spPr>
          <a:xfrm xmlns:a="http://schemas.openxmlformats.org/drawingml/2006/main">
            <a:off x="609600" y="12192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5B67"/>
                </a:solidFill>
              </a:defRPr>
            </a:pPr>
            <a:r>
              <a:rPr sz="1275" b="0">
                <a:solidFill>
                  <a:srgbClr val="625B67"/>
                </a:solidFill>
              </a:rPr>
              <a:t>Official policy references inform the design; deployment still requires hospital legal, security and clinical-governance review.</a:t>
            </a:r>
          </a:p>
        </p:txBody>
      </p:sp>
      <p:sp>
        <p:nvSpPr>
          <p:cNvPr id="4" name="">
            <a:extLst xmlns:a="http://schemas.openxmlformats.org/drawingml/2006/main">
              <a:ext uri="{FF2B5EF4-FFF2-40B4-BE49-F238E27FC236}">
                <a16:creationId xmlns:a16="http://schemas.microsoft.com/office/drawing/2014/main" id="{237A9499-5DB8-40AE-896B-5E1F008322E6}"/>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5" name="">
            <a:extLst xmlns:a="http://schemas.openxmlformats.org/drawingml/2006/main">
              <a:ext uri="{FF2B5EF4-FFF2-40B4-BE49-F238E27FC236}">
                <a16:creationId xmlns:a16="http://schemas.microsoft.com/office/drawing/2014/main" id="{3E3FA42F-8094-4255-8B14-AB5FE24C78CF}"/>
              </a:ext>
            </a:extLst>
          </p:cNvPr>
          <p:cNvSpPr>
            <a:spLocks xmlns:a="http://schemas.openxmlformats.org/drawingml/2006/main" noGrp="1"/>
          </p:cNvSpPr>
          <p:nvPr/>
        </p:nvSpPr>
        <p:spPr>
          <a:xfrm xmlns:a="http://schemas.openxmlformats.org/drawingml/2006/main">
            <a:off x="609600" y="6581775"/>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625B67"/>
                </a:solidFill>
              </a:defRPr>
            </a:pPr>
            <a:r>
              <a:rPr sz="675" b="0">
                <a:solidFill>
                  <a:srgbClr val="625B67"/>
                </a:solidFill>
              </a:rPr>
              <a:t>Synthetic decision-support prototype — not validated for clinical use</a:t>
            </a:r>
          </a:p>
        </p:txBody>
      </p:sp>
      <p:sp>
        <p:nvSpPr>
          <p:cNvPr id="6" name="">
            <a:extLst xmlns:a="http://schemas.openxmlformats.org/drawingml/2006/main">
              <a:ext uri="{FF2B5EF4-FFF2-40B4-BE49-F238E27FC236}">
                <a16:creationId xmlns:a16="http://schemas.microsoft.com/office/drawing/2014/main" id="{A0862E32-F928-4C02-81D1-8DAF8F0C9F58}"/>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625B67"/>
                </a:solidFill>
              </a:defRPr>
            </a:pPr>
            <a:r>
              <a:rPr sz="750" b="1">
                <a:solidFill>
                  <a:srgbClr val="625B67"/>
                </a:solidFill>
              </a:rPr>
              <a:t>18</a:t>
            </a:r>
          </a:p>
        </p:txBody>
      </p:sp>
      <p:sp>
        <p:nvSpPr>
          <p:cNvPr id="7" name="">
            <a:extLst xmlns:a="http://schemas.openxmlformats.org/drawingml/2006/main">
              <a:ext uri="{FF2B5EF4-FFF2-40B4-BE49-F238E27FC236}">
                <a16:creationId xmlns:a16="http://schemas.microsoft.com/office/drawing/2014/main" id="{5333F089-7429-43E4-8EEF-C897C5B6E497}"/>
              </a:ext>
            </a:extLst>
          </p:cNvPr>
          <p:cNvSpPr>
            <a:spLocks xmlns:a="http://schemas.openxmlformats.org/drawingml/2006/main" noGrp="1"/>
          </p:cNvSpPr>
          <p:nvPr/>
        </p:nvSpPr>
        <p:spPr>
          <a:xfrm xmlns:a="http://schemas.openxmlformats.org/drawingml/2006/main">
            <a:off x="742950" y="2019300"/>
            <a:ext cx="10477500" cy="723900"/>
          </a:xfrm>
          <a:prstGeom xmlns:a="http://schemas.openxmlformats.org/drawingml/2006/main" prst="roundRect">
            <a:avLst>
              <a:gd name="adj" fmla="val 18421"/>
            </a:avLst>
          </a:prstGeom>
          <a:solidFill xmlns:a="http://schemas.openxmlformats.org/drawingml/2006/main">
            <a:srgbClr val="F6F3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C89AC33-B52A-4D7A-82E0-E87F91688002}"/>
              </a:ext>
            </a:extLst>
          </p:cNvPr>
          <p:cNvSpPr>
            <a:spLocks xmlns:a="http://schemas.openxmlformats.org/drawingml/2006/main" noGrp="1"/>
          </p:cNvSpPr>
          <p:nvPr/>
        </p:nvSpPr>
        <p:spPr>
          <a:xfrm xmlns:a="http://schemas.openxmlformats.org/drawingml/2006/main">
            <a:off x="1009650" y="2228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7A1F5C"/>
                </a:solidFill>
              </a:defRPr>
            </a:pPr>
            <a:r>
              <a:rPr sz="975" b="1">
                <a:solidFill>
                  <a:srgbClr val="7A1F5C"/>
                </a:solidFill>
              </a:rPr>
              <a:t>DPDP ACT 2023</a:t>
            </a:r>
          </a:p>
        </p:txBody>
      </p:sp>
      <p:sp>
        <p:nvSpPr>
          <p:cNvPr id="9" name="">
            <a:extLst xmlns:a="http://schemas.openxmlformats.org/drawingml/2006/main">
              <a:ext uri="{FF2B5EF4-FFF2-40B4-BE49-F238E27FC236}">
                <a16:creationId xmlns:a16="http://schemas.microsoft.com/office/drawing/2014/main" id="{714ADB5A-19D7-442D-BA0B-5F2CD24A1110}"/>
              </a:ext>
            </a:extLst>
          </p:cNvPr>
          <p:cNvSpPr>
            <a:spLocks xmlns:a="http://schemas.openxmlformats.org/drawingml/2006/main" noGrp="1"/>
          </p:cNvSpPr>
          <p:nvPr/>
        </p:nvSpPr>
        <p:spPr>
          <a:xfrm xmlns:a="http://schemas.openxmlformats.org/drawingml/2006/main">
            <a:off x="3657600" y="217170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11C27"/>
                </a:solidFill>
              </a:defRPr>
            </a:pPr>
            <a:r>
              <a:rPr sz="1275" b="1">
                <a:solidFill>
                  <a:srgbClr val="211C27"/>
                </a:solidFill>
              </a:rPr>
              <a:t>Digital personal-data obligations and accountable processing baseline.</a:t>
            </a:r>
          </a:p>
        </p:txBody>
      </p:sp>
      <p:sp>
        <p:nvSpPr>
          <p:cNvPr id="10" name="">
            <a:extLst xmlns:a="http://schemas.openxmlformats.org/drawingml/2006/main">
              <a:ext uri="{FF2B5EF4-FFF2-40B4-BE49-F238E27FC236}">
                <a16:creationId xmlns:a16="http://schemas.microsoft.com/office/drawing/2014/main" id="{C65A9B45-2582-4F4C-9D53-643AEA9B0C3D}"/>
              </a:ext>
            </a:extLst>
          </p:cNvPr>
          <p:cNvSpPr>
            <a:spLocks xmlns:a="http://schemas.openxmlformats.org/drawingml/2006/main" noGrp="1"/>
          </p:cNvSpPr>
          <p:nvPr/>
        </p:nvSpPr>
        <p:spPr>
          <a:xfrm xmlns:a="http://schemas.openxmlformats.org/drawingml/2006/main">
            <a:off x="742950" y="2895600"/>
            <a:ext cx="10477500" cy="723900"/>
          </a:xfrm>
          <a:prstGeom xmlns:a="http://schemas.openxmlformats.org/drawingml/2006/main" prst="roundRect">
            <a:avLst>
              <a:gd name="adj" fmla="val 18421"/>
            </a:avLst>
          </a:prstGeom>
          <a:solidFill xmlns:a="http://schemas.openxmlformats.org/drawingml/2006/main">
            <a:srgbClr val="F6F3F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8B6BCC1-DE33-4B92-9FDF-593FECBB270A}"/>
              </a:ext>
            </a:extLst>
          </p:cNvPr>
          <p:cNvSpPr>
            <a:spLocks xmlns:a="http://schemas.openxmlformats.org/drawingml/2006/main" noGrp="1"/>
          </p:cNvSpPr>
          <p:nvPr/>
        </p:nvSpPr>
        <p:spPr>
          <a:xfrm xmlns:a="http://schemas.openxmlformats.org/drawingml/2006/main">
            <a:off x="1009650" y="31051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7A1F5C"/>
                </a:solidFill>
              </a:defRPr>
            </a:pPr>
            <a:r>
              <a:rPr sz="975" b="1">
                <a:solidFill>
                  <a:srgbClr val="7A1F5C"/>
                </a:solidFill>
              </a:rPr>
              <a:t>DPDP RULES 2025</a:t>
            </a:r>
          </a:p>
        </p:txBody>
      </p:sp>
      <p:sp>
        <p:nvSpPr>
          <p:cNvPr id="12" name="">
            <a:extLst xmlns:a="http://schemas.openxmlformats.org/drawingml/2006/main">
              <a:ext uri="{FF2B5EF4-FFF2-40B4-BE49-F238E27FC236}">
                <a16:creationId xmlns:a16="http://schemas.microsoft.com/office/drawing/2014/main" id="{1D244E0F-5BDA-4417-AF5E-9871DA08A817}"/>
              </a:ext>
            </a:extLst>
          </p:cNvPr>
          <p:cNvSpPr>
            <a:spLocks xmlns:a="http://schemas.openxmlformats.org/drawingml/2006/main" noGrp="1"/>
          </p:cNvSpPr>
          <p:nvPr/>
        </p:nvSpPr>
        <p:spPr>
          <a:xfrm xmlns:a="http://schemas.openxmlformats.org/drawingml/2006/main">
            <a:off x="3657600" y="304800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11C27"/>
                </a:solidFill>
              </a:defRPr>
            </a:pPr>
            <a:r>
              <a:rPr sz="1275" b="1">
                <a:solidFill>
                  <a:srgbClr val="211C27"/>
                </a:solidFill>
              </a:rPr>
              <a:t>Phased commencement; re-verify current obligations before deployment.</a:t>
            </a:r>
          </a:p>
        </p:txBody>
      </p:sp>
      <p:sp>
        <p:nvSpPr>
          <p:cNvPr id="13" name="">
            <a:extLst xmlns:a="http://schemas.openxmlformats.org/drawingml/2006/main">
              <a:ext uri="{FF2B5EF4-FFF2-40B4-BE49-F238E27FC236}">
                <a16:creationId xmlns:a16="http://schemas.microsoft.com/office/drawing/2014/main" id="{4186B6BD-471C-4FCC-B7DC-83E9672D7F51}"/>
              </a:ext>
            </a:extLst>
          </p:cNvPr>
          <p:cNvSpPr>
            <a:spLocks xmlns:a="http://schemas.openxmlformats.org/drawingml/2006/main" noGrp="1"/>
          </p:cNvSpPr>
          <p:nvPr/>
        </p:nvSpPr>
        <p:spPr>
          <a:xfrm xmlns:a="http://schemas.openxmlformats.org/drawingml/2006/main">
            <a:off x="742950" y="3771900"/>
            <a:ext cx="10477500" cy="723900"/>
          </a:xfrm>
          <a:prstGeom xmlns:a="http://schemas.openxmlformats.org/drawingml/2006/main" prst="roundRect">
            <a:avLst>
              <a:gd name="adj" fmla="val 18421"/>
            </a:avLst>
          </a:prstGeom>
          <a:solidFill xmlns:a="http://schemas.openxmlformats.org/drawingml/2006/main">
            <a:srgbClr val="F6F3F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D421E55-FB64-4258-808C-38F3A1D9B42E}"/>
              </a:ext>
            </a:extLst>
          </p:cNvPr>
          <p:cNvSpPr>
            <a:spLocks xmlns:a="http://schemas.openxmlformats.org/drawingml/2006/main" noGrp="1"/>
          </p:cNvSpPr>
          <p:nvPr/>
        </p:nvSpPr>
        <p:spPr>
          <a:xfrm xmlns:a="http://schemas.openxmlformats.org/drawingml/2006/main">
            <a:off x="1009650" y="39814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7A1F5C"/>
                </a:solidFill>
              </a:defRPr>
            </a:pPr>
            <a:r>
              <a:rPr sz="975" b="1">
                <a:solidFill>
                  <a:srgbClr val="7A1F5C"/>
                </a:solidFill>
              </a:rPr>
              <a:t>ABDM HDM POLICY</a:t>
            </a:r>
          </a:p>
        </p:txBody>
      </p:sp>
      <p:sp>
        <p:nvSpPr>
          <p:cNvPr id="15" name="">
            <a:extLst xmlns:a="http://schemas.openxmlformats.org/drawingml/2006/main">
              <a:ext uri="{FF2B5EF4-FFF2-40B4-BE49-F238E27FC236}">
                <a16:creationId xmlns:a16="http://schemas.microsoft.com/office/drawing/2014/main" id="{62519893-44F9-4BE6-905A-32A3D095DC31}"/>
              </a:ext>
            </a:extLst>
          </p:cNvPr>
          <p:cNvSpPr>
            <a:spLocks xmlns:a="http://schemas.openxmlformats.org/drawingml/2006/main" noGrp="1"/>
          </p:cNvSpPr>
          <p:nvPr/>
        </p:nvSpPr>
        <p:spPr>
          <a:xfrm xmlns:a="http://schemas.openxmlformats.org/drawingml/2006/main">
            <a:off x="3657600" y="392430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11C27"/>
                </a:solidFill>
              </a:defRPr>
            </a:pPr>
            <a:r>
              <a:rPr sz="1275" b="1">
                <a:solidFill>
                  <a:srgbClr val="211C27"/>
                </a:solidFill>
              </a:rPr>
              <a:t>Privacy/security by design, consent concepts and federated architecture.</a:t>
            </a:r>
          </a:p>
        </p:txBody>
      </p:sp>
      <p:sp>
        <p:nvSpPr>
          <p:cNvPr id="16" name="">
            <a:extLst xmlns:a="http://schemas.openxmlformats.org/drawingml/2006/main">
              <a:ext uri="{FF2B5EF4-FFF2-40B4-BE49-F238E27FC236}">
                <a16:creationId xmlns:a16="http://schemas.microsoft.com/office/drawing/2014/main" id="{E32DC5B8-E085-4561-BFF3-D0BD97F116B4}"/>
              </a:ext>
            </a:extLst>
          </p:cNvPr>
          <p:cNvSpPr>
            <a:spLocks xmlns:a="http://schemas.openxmlformats.org/drawingml/2006/main" noGrp="1"/>
          </p:cNvSpPr>
          <p:nvPr/>
        </p:nvSpPr>
        <p:spPr>
          <a:xfrm xmlns:a="http://schemas.openxmlformats.org/drawingml/2006/main">
            <a:off x="742950" y="4648200"/>
            <a:ext cx="10477500" cy="723900"/>
          </a:xfrm>
          <a:prstGeom xmlns:a="http://schemas.openxmlformats.org/drawingml/2006/main" prst="roundRect">
            <a:avLst>
              <a:gd name="adj" fmla="val 18421"/>
            </a:avLst>
          </a:prstGeom>
          <a:solidFill xmlns:a="http://schemas.openxmlformats.org/drawingml/2006/main">
            <a:srgbClr val="F6F3F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70F9DF0-7DE2-49AF-B4FD-9AB9D7224C80}"/>
              </a:ext>
            </a:extLst>
          </p:cNvPr>
          <p:cNvSpPr>
            <a:spLocks xmlns:a="http://schemas.openxmlformats.org/drawingml/2006/main" noGrp="1"/>
          </p:cNvSpPr>
          <p:nvPr/>
        </p:nvSpPr>
        <p:spPr>
          <a:xfrm xmlns:a="http://schemas.openxmlformats.org/drawingml/2006/main">
            <a:off x="1009650" y="48577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7A1F5C"/>
                </a:solidFill>
              </a:defRPr>
            </a:pPr>
            <a:r>
              <a:rPr sz="975" b="1">
                <a:solidFill>
                  <a:srgbClr val="7A1F5C"/>
                </a:solidFill>
              </a:rPr>
              <a:t>EHR STANDARDS INDIA</a:t>
            </a:r>
          </a:p>
        </p:txBody>
      </p:sp>
      <p:sp>
        <p:nvSpPr>
          <p:cNvPr id="18" name="">
            <a:extLst xmlns:a="http://schemas.openxmlformats.org/drawingml/2006/main">
              <a:ext uri="{FF2B5EF4-FFF2-40B4-BE49-F238E27FC236}">
                <a16:creationId xmlns:a16="http://schemas.microsoft.com/office/drawing/2014/main" id="{0794AC32-0315-4375-9566-F24E9757895A}"/>
              </a:ext>
            </a:extLst>
          </p:cNvPr>
          <p:cNvSpPr>
            <a:spLocks xmlns:a="http://schemas.openxmlformats.org/drawingml/2006/main" noGrp="1"/>
          </p:cNvSpPr>
          <p:nvPr/>
        </p:nvSpPr>
        <p:spPr>
          <a:xfrm xmlns:a="http://schemas.openxmlformats.org/drawingml/2006/main">
            <a:off x="3657600" y="480060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11C27"/>
                </a:solidFill>
              </a:defRPr>
            </a:pPr>
            <a:r>
              <a:rPr sz="1275" b="1">
                <a:solidFill>
                  <a:srgbClr val="211C27"/>
                </a:solidFill>
              </a:rPr>
              <a:t>Interoperability, access control and audit expectations.</a:t>
            </a:r>
          </a:p>
        </p:txBody>
      </p:sp>
      <p:sp>
        <p:nvSpPr>
          <p:cNvPr id="19" name="">
            <a:extLst xmlns:a="http://schemas.openxmlformats.org/drawingml/2006/main">
              <a:ext uri="{FF2B5EF4-FFF2-40B4-BE49-F238E27FC236}">
                <a16:creationId xmlns:a16="http://schemas.microsoft.com/office/drawing/2014/main" id="{A55AFE70-1764-4CEA-98B7-90C1A731D543}"/>
              </a:ext>
            </a:extLst>
          </p:cNvPr>
          <p:cNvSpPr>
            <a:spLocks xmlns:a="http://schemas.openxmlformats.org/drawingml/2006/main" noGrp="1"/>
          </p:cNvSpPr>
          <p:nvPr/>
        </p:nvSpPr>
        <p:spPr>
          <a:xfrm xmlns:a="http://schemas.openxmlformats.org/drawingml/2006/main">
            <a:off x="2076450" y="5695950"/>
            <a:ext cx="8039100" cy="457200"/>
          </a:xfrm>
          <a:prstGeom xmlns:a="http://schemas.openxmlformats.org/drawingml/2006/main" prst="roundRect">
            <a:avLst>
              <a:gd name="adj" fmla="val 25000"/>
            </a:avLst>
          </a:prstGeom>
          <a:solidFill xmlns:a="http://schemas.openxmlformats.org/drawingml/2006/main">
            <a:srgbClr val="FEECE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3EE914A-CF99-48C6-9C1E-68DFE8A96D16}"/>
              </a:ext>
            </a:extLst>
          </p:cNvPr>
          <p:cNvSpPr>
            <a:spLocks xmlns:a="http://schemas.openxmlformats.org/drawingml/2006/main" noGrp="1"/>
          </p:cNvSpPr>
          <p:nvPr/>
        </p:nvSpPr>
        <p:spPr>
          <a:xfrm xmlns:a="http://schemas.openxmlformats.org/drawingml/2006/main">
            <a:off x="2305050" y="5829300"/>
            <a:ext cx="7581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75" b="1">
                <a:solidFill>
                  <a:srgbClr val="B42318"/>
                </a:solidFill>
              </a:defRPr>
            </a:pPr>
            <a:r>
              <a:rPr sz="975" b="1">
                <a:solidFill>
                  <a:srgbClr val="B42318"/>
                </a:solidFill>
              </a:rPr>
              <a:t>REFERENCE ≠ COMPLIANCE CERTIFICATION OR REGULATORY APPROVAL</a:t>
            </a:r>
          </a:p>
        </p:txBody>
      </p:sp>
    </p:spTree>
    <p:extLst>
      <p:ext uri="{BB962C8B-B14F-4D97-AF65-F5344CB8AC3E}">
        <p14:creationId xmlns:p14="http://schemas.microsoft.com/office/powerpoint/2010/main" val="149798339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308BB285-AC34-4A92-AE94-A619745FD02D}"/>
              </a:ext>
            </a:extLst>
          </p:cNvPr>
          <p:cNvSpPr>
            <a:spLocks xmlns:a="http://schemas.openxmlformats.org/drawingml/2006/main" noGrp="1"/>
          </p:cNvSpPr>
          <p:nvPr/>
        </p:nvSpPr>
        <p:spPr>
          <a:xfrm xmlns:a="http://schemas.openxmlformats.org/drawingml/2006/main">
            <a:off x="609600" y="34290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7A1F5C"/>
                </a:solidFill>
              </a:defRPr>
            </a:pPr>
            <a:r>
              <a:rPr sz="825" b="1">
                <a:solidFill>
                  <a:srgbClr val="7A1F5C"/>
                </a:solidFill>
              </a:rPr>
              <a:t>APPENDIX</a:t>
            </a:r>
          </a:p>
        </p:txBody>
      </p:sp>
      <p:sp>
        <p:nvSpPr>
          <p:cNvPr id="2" name="">
            <a:extLst xmlns:a="http://schemas.openxmlformats.org/drawingml/2006/main">
              <a:ext uri="{FF2B5EF4-FFF2-40B4-BE49-F238E27FC236}">
                <a16:creationId xmlns:a16="http://schemas.microsoft.com/office/drawing/2014/main" id="{DEAEFD78-D176-40F0-A1B9-B889482D6D0D}"/>
              </a:ext>
            </a:extLst>
          </p:cNvPr>
          <p:cNvSpPr>
            <a:spLocks xmlns:a="http://schemas.openxmlformats.org/drawingml/2006/main" noGrp="1"/>
          </p:cNvSpPr>
          <p:nvPr/>
        </p:nvSpPr>
        <p:spPr>
          <a:xfrm xmlns:a="http://schemas.openxmlformats.org/drawingml/2006/main">
            <a:off x="609600" y="62865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211C27"/>
                </a:solidFill>
              </a:defRPr>
            </a:pPr>
            <a:r>
              <a:rPr sz="2550" b="1">
                <a:solidFill>
                  <a:srgbClr val="211C27"/>
                </a:solidFill>
              </a:rPr>
              <a:t>Selected sources</a:t>
            </a:r>
          </a:p>
        </p:txBody>
      </p:sp>
      <p:sp>
        <p:nvSpPr>
          <p:cNvPr id="3" name="">
            <a:extLst xmlns:a="http://schemas.openxmlformats.org/drawingml/2006/main">
              <a:ext uri="{FF2B5EF4-FFF2-40B4-BE49-F238E27FC236}">
                <a16:creationId xmlns:a16="http://schemas.microsoft.com/office/drawing/2014/main" id="{1C992771-A5F3-4314-9A45-1A9DF555311C}"/>
              </a:ext>
            </a:extLst>
          </p:cNvPr>
          <p:cNvSpPr>
            <a:spLocks xmlns:a="http://schemas.openxmlformats.org/drawingml/2006/main" noGrp="1"/>
          </p:cNvSpPr>
          <p:nvPr/>
        </p:nvSpPr>
        <p:spPr>
          <a:xfrm xmlns:a="http://schemas.openxmlformats.org/drawingml/2006/main">
            <a:off x="609600" y="12192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625B67"/>
                </a:solidFill>
              </a:defRPr>
            </a:pPr>
            <a:r>
              <a:rPr sz="1275" b="0">
                <a:solidFill>
                  <a:srgbClr val="625B67"/>
                </a:solidFill>
              </a:rPr>
              <a:t>Related work prevents novelty overclaim and supports the cross-domain design rationale.</a:t>
            </a:r>
          </a:p>
        </p:txBody>
      </p:sp>
      <p:sp>
        <p:nvSpPr>
          <p:cNvPr id="4" name="">
            <a:extLst xmlns:a="http://schemas.openxmlformats.org/drawingml/2006/main">
              <a:ext uri="{FF2B5EF4-FFF2-40B4-BE49-F238E27FC236}">
                <a16:creationId xmlns:a16="http://schemas.microsoft.com/office/drawing/2014/main" id="{8453592D-4BE4-4AC6-BEDC-6CA4E8DCC479}"/>
              </a:ext>
            </a:extLst>
          </p:cNvPr>
          <p:cNvSpPr>
            <a:spLocks xmlns:a="http://schemas.openxmlformats.org/drawingml/2006/main" noGrp="1"/>
          </p:cNvSpPr>
          <p:nvPr/>
        </p:nvSpPr>
        <p:spPr>
          <a:xfrm xmlns:a="http://schemas.openxmlformats.org/drawingml/2006/main">
            <a:off x="609600" y="6515100"/>
            <a:ext cx="109728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5" name="">
            <a:extLst xmlns:a="http://schemas.openxmlformats.org/drawingml/2006/main">
              <a:ext uri="{FF2B5EF4-FFF2-40B4-BE49-F238E27FC236}">
                <a16:creationId xmlns:a16="http://schemas.microsoft.com/office/drawing/2014/main" id="{ADC4D466-EE77-431C-9B97-EBEF55C1C8F3}"/>
              </a:ext>
            </a:extLst>
          </p:cNvPr>
          <p:cNvSpPr>
            <a:spLocks xmlns:a="http://schemas.openxmlformats.org/drawingml/2006/main" noGrp="1"/>
          </p:cNvSpPr>
          <p:nvPr/>
        </p:nvSpPr>
        <p:spPr>
          <a:xfrm xmlns:a="http://schemas.openxmlformats.org/drawingml/2006/main">
            <a:off x="609600" y="6581775"/>
            <a:ext cx="723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675" b="0">
                <a:solidFill>
                  <a:srgbClr val="625B67"/>
                </a:solidFill>
              </a:defRPr>
            </a:pPr>
            <a:r>
              <a:rPr sz="675" b="0">
                <a:solidFill>
                  <a:srgbClr val="625B67"/>
                </a:solidFill>
              </a:rPr>
              <a:t>Synthetic decision-support prototype — not validated for clinical use</a:t>
            </a:r>
          </a:p>
        </p:txBody>
      </p:sp>
      <p:sp>
        <p:nvSpPr>
          <p:cNvPr id="6" name="">
            <a:extLst xmlns:a="http://schemas.openxmlformats.org/drawingml/2006/main">
              <a:ext uri="{FF2B5EF4-FFF2-40B4-BE49-F238E27FC236}">
                <a16:creationId xmlns:a16="http://schemas.microsoft.com/office/drawing/2014/main" id="{2C47248F-9E13-4E19-AA04-ECA5521F5528}"/>
              </a:ext>
            </a:extLst>
          </p:cNvPr>
          <p:cNvSpPr>
            <a:spLocks xmlns:a="http://schemas.openxmlformats.org/drawingml/2006/main" noGrp="1"/>
          </p:cNvSpPr>
          <p:nvPr/>
        </p:nvSpPr>
        <p:spPr>
          <a:xfrm xmlns:a="http://schemas.openxmlformats.org/drawingml/2006/main">
            <a:off x="11144250" y="65627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750" b="1">
                <a:solidFill>
                  <a:srgbClr val="625B67"/>
                </a:solidFill>
              </a:defRPr>
            </a:pPr>
            <a:r>
              <a:rPr sz="750" b="1">
                <a:solidFill>
                  <a:srgbClr val="625B67"/>
                </a:solidFill>
              </a:rPr>
              <a:t>19</a:t>
            </a:r>
          </a:p>
        </p:txBody>
      </p:sp>
      <p:sp>
        <p:nvSpPr>
          <p:cNvPr id="7" name="">
            <a:extLst xmlns:a="http://schemas.openxmlformats.org/drawingml/2006/main">
              <a:ext uri="{FF2B5EF4-FFF2-40B4-BE49-F238E27FC236}">
                <a16:creationId xmlns:a16="http://schemas.microsoft.com/office/drawing/2014/main" id="{049289AA-6E3D-4EC2-9013-8975C153F7AE}"/>
              </a:ext>
            </a:extLst>
          </p:cNvPr>
          <p:cNvSpPr>
            <a:spLocks xmlns:a="http://schemas.openxmlformats.org/drawingml/2006/main" noGrp="1"/>
          </p:cNvSpPr>
          <p:nvPr/>
        </p:nvSpPr>
        <p:spPr>
          <a:xfrm xmlns:a="http://schemas.openxmlformats.org/drawingml/2006/main">
            <a:off x="742950" y="1809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11C27"/>
                </a:solidFill>
              </a:defRPr>
            </a:pPr>
            <a:r>
              <a:rPr sz="1125" b="1">
                <a:solidFill>
                  <a:srgbClr val="211C27"/>
                </a:solidFill>
              </a:rPr>
              <a:t>Repeated vital signs</a:t>
            </a:r>
          </a:p>
        </p:txBody>
      </p:sp>
      <p:sp>
        <p:nvSpPr>
          <p:cNvPr id="8" name="">
            <a:extLst xmlns:a="http://schemas.openxmlformats.org/drawingml/2006/main">
              <a:ext uri="{FF2B5EF4-FFF2-40B4-BE49-F238E27FC236}">
                <a16:creationId xmlns:a16="http://schemas.microsoft.com/office/drawing/2014/main" id="{4BAF3E2C-0E3B-4E47-B5E5-31E07ECFDB8A}"/>
              </a:ext>
            </a:extLst>
          </p:cNvPr>
          <p:cNvSpPr>
            <a:spLocks xmlns:a="http://schemas.openxmlformats.org/drawingml/2006/main" noGrp="1"/>
          </p:cNvSpPr>
          <p:nvPr/>
        </p:nvSpPr>
        <p:spPr>
          <a:xfrm xmlns:a="http://schemas.openxmlformats.org/drawingml/2006/main">
            <a:off x="742950" y="20859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A1F5C"/>
                </a:solidFill>
              </a:defRPr>
            </a:pPr>
            <a:r>
              <a:rPr sz="900" b="0">
                <a:solidFill>
                  <a:srgbClr val="7A1F5C"/>
                </a:solidFill>
              </a:rPr>
              <a:t>pubmed.ncbi.nlm.nih.gov/30005671</a:t>
            </a:r>
          </a:p>
        </p:txBody>
      </p:sp>
      <p:sp>
        <p:nvSpPr>
          <p:cNvPr id="9" name="">
            <a:extLst xmlns:a="http://schemas.openxmlformats.org/drawingml/2006/main">
              <a:ext uri="{FF2B5EF4-FFF2-40B4-BE49-F238E27FC236}">
                <a16:creationId xmlns:a16="http://schemas.microsoft.com/office/drawing/2014/main" id="{C34F4F61-FB04-4BE2-A29D-7974DD955B3B}"/>
              </a:ext>
            </a:extLst>
          </p:cNvPr>
          <p:cNvSpPr>
            <a:spLocks xmlns:a="http://schemas.openxmlformats.org/drawingml/2006/main" noGrp="1"/>
          </p:cNvSpPr>
          <p:nvPr/>
        </p:nvSpPr>
        <p:spPr>
          <a:xfrm xmlns:a="http://schemas.openxmlformats.org/drawingml/2006/main">
            <a:off x="742950" y="2400300"/>
            <a:ext cx="47625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10" name="">
            <a:extLst xmlns:a="http://schemas.openxmlformats.org/drawingml/2006/main">
              <a:ext uri="{FF2B5EF4-FFF2-40B4-BE49-F238E27FC236}">
                <a16:creationId xmlns:a16="http://schemas.microsoft.com/office/drawing/2014/main" id="{7C9B23C3-B5F0-4F48-B428-822EC77E0AB9}"/>
              </a:ext>
            </a:extLst>
          </p:cNvPr>
          <p:cNvSpPr>
            <a:spLocks xmlns:a="http://schemas.openxmlformats.org/drawingml/2006/main" noGrp="1"/>
          </p:cNvSpPr>
          <p:nvPr/>
        </p:nvSpPr>
        <p:spPr>
          <a:xfrm xmlns:a="http://schemas.openxmlformats.org/drawingml/2006/main">
            <a:off x="6267450" y="1809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11C27"/>
                </a:solidFill>
              </a:defRPr>
            </a:pPr>
            <a:r>
              <a:rPr sz="1125" b="1">
                <a:solidFill>
                  <a:srgbClr val="211C27"/>
                </a:solidFill>
              </a:rPr>
              <a:t>Dynamic deterioration modeling</a:t>
            </a:r>
          </a:p>
        </p:txBody>
      </p:sp>
      <p:sp>
        <p:nvSpPr>
          <p:cNvPr id="11" name="">
            <a:extLst xmlns:a="http://schemas.openxmlformats.org/drawingml/2006/main">
              <a:ext uri="{FF2B5EF4-FFF2-40B4-BE49-F238E27FC236}">
                <a16:creationId xmlns:a16="http://schemas.microsoft.com/office/drawing/2014/main" id="{C5E191FA-5854-4775-8181-90EC2C8A1537}"/>
              </a:ext>
            </a:extLst>
          </p:cNvPr>
          <p:cNvSpPr>
            <a:spLocks xmlns:a="http://schemas.openxmlformats.org/drawingml/2006/main" noGrp="1"/>
          </p:cNvSpPr>
          <p:nvPr/>
        </p:nvSpPr>
        <p:spPr>
          <a:xfrm xmlns:a="http://schemas.openxmlformats.org/drawingml/2006/main">
            <a:off x="6267450" y="20859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A1F5C"/>
                </a:solidFill>
              </a:defRPr>
            </a:pPr>
            <a:r>
              <a:rPr sz="900" b="0">
                <a:solidFill>
                  <a:srgbClr val="7A1F5C"/>
                </a:solidFill>
              </a:rPr>
              <a:t>pubmed.ncbi.nlm.nih.gov/41827109</a:t>
            </a:r>
          </a:p>
        </p:txBody>
      </p:sp>
      <p:sp>
        <p:nvSpPr>
          <p:cNvPr id="12" name="">
            <a:extLst xmlns:a="http://schemas.openxmlformats.org/drawingml/2006/main">
              <a:ext uri="{FF2B5EF4-FFF2-40B4-BE49-F238E27FC236}">
                <a16:creationId xmlns:a16="http://schemas.microsoft.com/office/drawing/2014/main" id="{D5153250-E303-456A-ACBF-032B8483E978}"/>
              </a:ext>
            </a:extLst>
          </p:cNvPr>
          <p:cNvSpPr>
            <a:spLocks xmlns:a="http://schemas.openxmlformats.org/drawingml/2006/main" noGrp="1"/>
          </p:cNvSpPr>
          <p:nvPr/>
        </p:nvSpPr>
        <p:spPr>
          <a:xfrm xmlns:a="http://schemas.openxmlformats.org/drawingml/2006/main">
            <a:off x="6267450" y="2400300"/>
            <a:ext cx="47625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13" name="">
            <a:extLst xmlns:a="http://schemas.openxmlformats.org/drawingml/2006/main">
              <a:ext uri="{FF2B5EF4-FFF2-40B4-BE49-F238E27FC236}">
                <a16:creationId xmlns:a16="http://schemas.microsoft.com/office/drawing/2014/main" id="{6F290790-80AF-46BC-9C8D-173BE4BB9894}"/>
              </a:ext>
            </a:extLst>
          </p:cNvPr>
          <p:cNvSpPr>
            <a:spLocks xmlns:a="http://schemas.openxmlformats.org/drawingml/2006/main" noGrp="1"/>
          </p:cNvSpPr>
          <p:nvPr/>
        </p:nvSpPr>
        <p:spPr>
          <a:xfrm xmlns:a="http://schemas.openxmlformats.org/drawingml/2006/main">
            <a:off x="742950" y="25908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11C27"/>
                </a:solidFill>
              </a:defRPr>
            </a:pPr>
            <a:r>
              <a:rPr sz="1125" b="1">
                <a:solidFill>
                  <a:srgbClr val="211C27"/>
                </a:solidFill>
              </a:rPr>
              <a:t>Prognosis-informed prioritisation</a:t>
            </a:r>
          </a:p>
        </p:txBody>
      </p:sp>
      <p:sp>
        <p:nvSpPr>
          <p:cNvPr id="14" name="">
            <a:extLst xmlns:a="http://schemas.openxmlformats.org/drawingml/2006/main">
              <a:ext uri="{FF2B5EF4-FFF2-40B4-BE49-F238E27FC236}">
                <a16:creationId xmlns:a16="http://schemas.microsoft.com/office/drawing/2014/main" id="{799D66D8-4F4A-44EB-947C-E1CE48FCB5B2}"/>
              </a:ext>
            </a:extLst>
          </p:cNvPr>
          <p:cNvSpPr>
            <a:spLocks xmlns:a="http://schemas.openxmlformats.org/drawingml/2006/main" noGrp="1"/>
          </p:cNvSpPr>
          <p:nvPr/>
        </p:nvSpPr>
        <p:spPr>
          <a:xfrm xmlns:a="http://schemas.openxmlformats.org/drawingml/2006/main">
            <a:off x="742950" y="28670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A1F5C"/>
                </a:solidFill>
              </a:defRPr>
            </a:pPr>
            <a:r>
              <a:rPr sz="900" b="0">
                <a:solidFill>
                  <a:srgbClr val="7A1F5C"/>
                </a:solidFill>
              </a:rPr>
              <a:t>pubmed.ncbi.nlm.nih.gov/37318826</a:t>
            </a:r>
          </a:p>
        </p:txBody>
      </p:sp>
      <p:sp>
        <p:nvSpPr>
          <p:cNvPr id="15" name="">
            <a:extLst xmlns:a="http://schemas.openxmlformats.org/drawingml/2006/main">
              <a:ext uri="{FF2B5EF4-FFF2-40B4-BE49-F238E27FC236}">
                <a16:creationId xmlns:a16="http://schemas.microsoft.com/office/drawing/2014/main" id="{2F2716CE-62D9-41B9-9111-5CD62D98CE17}"/>
              </a:ext>
            </a:extLst>
          </p:cNvPr>
          <p:cNvSpPr>
            <a:spLocks xmlns:a="http://schemas.openxmlformats.org/drawingml/2006/main" noGrp="1"/>
          </p:cNvSpPr>
          <p:nvPr/>
        </p:nvSpPr>
        <p:spPr>
          <a:xfrm xmlns:a="http://schemas.openxmlformats.org/drawingml/2006/main">
            <a:off x="742950" y="3181350"/>
            <a:ext cx="47625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16" name="">
            <a:extLst xmlns:a="http://schemas.openxmlformats.org/drawingml/2006/main">
              <a:ext uri="{FF2B5EF4-FFF2-40B4-BE49-F238E27FC236}">
                <a16:creationId xmlns:a16="http://schemas.microsoft.com/office/drawing/2014/main" id="{898E2D5F-66C3-48F8-A5E1-CD8FD6046539}"/>
              </a:ext>
            </a:extLst>
          </p:cNvPr>
          <p:cNvSpPr>
            <a:spLocks xmlns:a="http://schemas.openxmlformats.org/drawingml/2006/main" noGrp="1"/>
          </p:cNvSpPr>
          <p:nvPr/>
        </p:nvSpPr>
        <p:spPr>
          <a:xfrm xmlns:a="http://schemas.openxmlformats.org/drawingml/2006/main">
            <a:off x="6267450" y="25908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11C27"/>
                </a:solidFill>
              </a:defRPr>
            </a:pPr>
            <a:r>
              <a:rPr sz="1125" b="1">
                <a:solidFill>
                  <a:srgbClr val="211C27"/>
                </a:solidFill>
              </a:rPr>
              <a:t>Conformal ED ‘I don't know’ (PMID 40318497)</a:t>
            </a:r>
          </a:p>
        </p:txBody>
      </p:sp>
      <p:sp>
        <p:nvSpPr>
          <p:cNvPr id="17" name="">
            <a:extLst xmlns:a="http://schemas.openxmlformats.org/drawingml/2006/main">
              <a:ext uri="{FF2B5EF4-FFF2-40B4-BE49-F238E27FC236}">
                <a16:creationId xmlns:a16="http://schemas.microsoft.com/office/drawing/2014/main" id="{25B3E400-CBE6-4EEA-9A52-9165DF00FF1D}"/>
              </a:ext>
            </a:extLst>
          </p:cNvPr>
          <p:cNvSpPr>
            <a:spLocks xmlns:a="http://schemas.openxmlformats.org/drawingml/2006/main" noGrp="1"/>
          </p:cNvSpPr>
          <p:nvPr/>
        </p:nvSpPr>
        <p:spPr>
          <a:xfrm xmlns:a="http://schemas.openxmlformats.org/drawingml/2006/main">
            <a:off x="6267450" y="28670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A1F5C"/>
                </a:solidFill>
              </a:defRPr>
            </a:pPr>
            <a:r>
              <a:rPr sz="900" b="0">
                <a:solidFill>
                  <a:srgbClr val="7A1F5C"/>
                </a:solidFill>
              </a:rPr>
              <a:t>pubmed.ncbi.nlm.nih.gov/40318497</a:t>
            </a:r>
          </a:p>
        </p:txBody>
      </p:sp>
      <p:sp>
        <p:nvSpPr>
          <p:cNvPr id="18" name="">
            <a:extLst xmlns:a="http://schemas.openxmlformats.org/drawingml/2006/main">
              <a:ext uri="{FF2B5EF4-FFF2-40B4-BE49-F238E27FC236}">
                <a16:creationId xmlns:a16="http://schemas.microsoft.com/office/drawing/2014/main" id="{F4E08C9A-F061-46E8-B435-05B450B8542B}"/>
              </a:ext>
            </a:extLst>
          </p:cNvPr>
          <p:cNvSpPr>
            <a:spLocks xmlns:a="http://schemas.openxmlformats.org/drawingml/2006/main" noGrp="1"/>
          </p:cNvSpPr>
          <p:nvPr/>
        </p:nvSpPr>
        <p:spPr>
          <a:xfrm xmlns:a="http://schemas.openxmlformats.org/drawingml/2006/main">
            <a:off x="6267450" y="3181350"/>
            <a:ext cx="47625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19" name="">
            <a:extLst xmlns:a="http://schemas.openxmlformats.org/drawingml/2006/main">
              <a:ext uri="{FF2B5EF4-FFF2-40B4-BE49-F238E27FC236}">
                <a16:creationId xmlns:a16="http://schemas.microsoft.com/office/drawing/2014/main" id="{7E6ADB04-44F9-4659-B38E-1178B5CB935D}"/>
              </a:ext>
            </a:extLst>
          </p:cNvPr>
          <p:cNvSpPr>
            <a:spLocks xmlns:a="http://schemas.openxmlformats.org/drawingml/2006/main" noGrp="1"/>
          </p:cNvSpPr>
          <p:nvPr/>
        </p:nvSpPr>
        <p:spPr>
          <a:xfrm xmlns:a="http://schemas.openxmlformats.org/drawingml/2006/main">
            <a:off x="742950" y="3371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11C27"/>
                </a:solidFill>
              </a:defRPr>
            </a:pPr>
            <a:r>
              <a:rPr sz="1125" b="1">
                <a:solidFill>
                  <a:srgbClr val="211C27"/>
                </a:solidFill>
              </a:rPr>
              <a:t>WHO triage tools</a:t>
            </a:r>
          </a:p>
        </p:txBody>
      </p:sp>
      <p:sp>
        <p:nvSpPr>
          <p:cNvPr id="20" name="">
            <a:extLst xmlns:a="http://schemas.openxmlformats.org/drawingml/2006/main">
              <a:ext uri="{FF2B5EF4-FFF2-40B4-BE49-F238E27FC236}">
                <a16:creationId xmlns:a16="http://schemas.microsoft.com/office/drawing/2014/main" id="{0A7C6470-5C32-40D8-A9B4-F523EBADD022}"/>
              </a:ext>
            </a:extLst>
          </p:cNvPr>
          <p:cNvSpPr>
            <a:spLocks xmlns:a="http://schemas.openxmlformats.org/drawingml/2006/main" noGrp="1"/>
          </p:cNvSpPr>
          <p:nvPr/>
        </p:nvSpPr>
        <p:spPr>
          <a:xfrm xmlns:a="http://schemas.openxmlformats.org/drawingml/2006/main">
            <a:off x="742950" y="36480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A1F5C"/>
                </a:solidFill>
              </a:defRPr>
            </a:pPr>
            <a:r>
              <a:rPr sz="900" b="0">
                <a:solidFill>
                  <a:srgbClr val="7A1F5C"/>
                </a:solidFill>
              </a:rPr>
              <a:t>who.int/tools/triage</a:t>
            </a:r>
          </a:p>
        </p:txBody>
      </p:sp>
      <p:sp>
        <p:nvSpPr>
          <p:cNvPr id="21" name="">
            <a:extLst xmlns:a="http://schemas.openxmlformats.org/drawingml/2006/main">
              <a:ext uri="{FF2B5EF4-FFF2-40B4-BE49-F238E27FC236}">
                <a16:creationId xmlns:a16="http://schemas.microsoft.com/office/drawing/2014/main" id="{DEF45F3B-37C5-45D5-93BD-1F05D5A10EBA}"/>
              </a:ext>
            </a:extLst>
          </p:cNvPr>
          <p:cNvSpPr>
            <a:spLocks xmlns:a="http://schemas.openxmlformats.org/drawingml/2006/main" noGrp="1"/>
          </p:cNvSpPr>
          <p:nvPr/>
        </p:nvSpPr>
        <p:spPr>
          <a:xfrm xmlns:a="http://schemas.openxmlformats.org/drawingml/2006/main">
            <a:off x="742950" y="3962400"/>
            <a:ext cx="47625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22" name="">
            <a:extLst xmlns:a="http://schemas.openxmlformats.org/drawingml/2006/main">
              <a:ext uri="{FF2B5EF4-FFF2-40B4-BE49-F238E27FC236}">
                <a16:creationId xmlns:a16="http://schemas.microsoft.com/office/drawing/2014/main" id="{B6B8C223-4D4E-47F7-9FD9-8ABC8EB6722B}"/>
              </a:ext>
            </a:extLst>
          </p:cNvPr>
          <p:cNvSpPr>
            <a:spLocks xmlns:a="http://schemas.openxmlformats.org/drawingml/2006/main" noGrp="1"/>
          </p:cNvSpPr>
          <p:nvPr/>
        </p:nvSpPr>
        <p:spPr>
          <a:xfrm xmlns:a="http://schemas.openxmlformats.org/drawingml/2006/main">
            <a:off x="6267450" y="3371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11C27"/>
                </a:solidFill>
              </a:defRPr>
            </a:pPr>
            <a:r>
              <a:rPr sz="1125" b="1">
                <a:solidFill>
                  <a:srgbClr val="211C27"/>
                </a:solidFill>
              </a:rPr>
              <a:t>Deadline / laxity scheduling</a:t>
            </a:r>
          </a:p>
        </p:txBody>
      </p:sp>
      <p:sp>
        <p:nvSpPr>
          <p:cNvPr id="23" name="">
            <a:extLst xmlns:a="http://schemas.openxmlformats.org/drawingml/2006/main">
              <a:ext uri="{FF2B5EF4-FFF2-40B4-BE49-F238E27FC236}">
                <a16:creationId xmlns:a16="http://schemas.microsoft.com/office/drawing/2014/main" id="{BA445C86-5ED1-4957-AF4E-A367B0F3EAA9}"/>
              </a:ext>
            </a:extLst>
          </p:cNvPr>
          <p:cNvSpPr>
            <a:spLocks xmlns:a="http://schemas.openxmlformats.org/drawingml/2006/main" noGrp="1"/>
          </p:cNvSpPr>
          <p:nvPr/>
        </p:nvSpPr>
        <p:spPr>
          <a:xfrm xmlns:a="http://schemas.openxmlformats.org/drawingml/2006/main">
            <a:off x="6267450" y="36480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A1F5C"/>
                </a:solidFill>
              </a:defRPr>
            </a:pPr>
            <a:r>
              <a:rPr sz="900" b="0">
                <a:solidFill>
                  <a:srgbClr val="7A1F5C"/>
                </a:solidFill>
              </a:rPr>
              <a:t>people.eecs.berkeley.edu/.../lec11-Scheduling.pdf</a:t>
            </a:r>
          </a:p>
        </p:txBody>
      </p:sp>
      <p:sp>
        <p:nvSpPr>
          <p:cNvPr id="24" name="">
            <a:extLst xmlns:a="http://schemas.openxmlformats.org/drawingml/2006/main">
              <a:ext uri="{FF2B5EF4-FFF2-40B4-BE49-F238E27FC236}">
                <a16:creationId xmlns:a16="http://schemas.microsoft.com/office/drawing/2014/main" id="{472B3DC9-E02D-46BB-8A65-EBE2A916D9A8}"/>
              </a:ext>
            </a:extLst>
          </p:cNvPr>
          <p:cNvSpPr>
            <a:spLocks xmlns:a="http://schemas.openxmlformats.org/drawingml/2006/main" noGrp="1"/>
          </p:cNvSpPr>
          <p:nvPr/>
        </p:nvSpPr>
        <p:spPr>
          <a:xfrm xmlns:a="http://schemas.openxmlformats.org/drawingml/2006/main">
            <a:off x="6267450" y="3962400"/>
            <a:ext cx="47625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25" name="">
            <a:extLst xmlns:a="http://schemas.openxmlformats.org/drawingml/2006/main">
              <a:ext uri="{FF2B5EF4-FFF2-40B4-BE49-F238E27FC236}">
                <a16:creationId xmlns:a16="http://schemas.microsoft.com/office/drawing/2014/main" id="{FA657012-346A-43C9-B377-803CBFA06639}"/>
              </a:ext>
            </a:extLst>
          </p:cNvPr>
          <p:cNvSpPr>
            <a:spLocks xmlns:a="http://schemas.openxmlformats.org/drawingml/2006/main" noGrp="1"/>
          </p:cNvSpPr>
          <p:nvPr/>
        </p:nvSpPr>
        <p:spPr>
          <a:xfrm xmlns:a="http://schemas.openxmlformats.org/drawingml/2006/main">
            <a:off x="742950" y="41529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11C27"/>
                </a:solidFill>
              </a:defRPr>
            </a:pPr>
            <a:r>
              <a:rPr sz="1125" b="1">
                <a:solidFill>
                  <a:srgbClr val="211C27"/>
                </a:solidFill>
              </a:rPr>
              <a:t>Predictive maintenance / RUL</a:t>
            </a:r>
          </a:p>
        </p:txBody>
      </p:sp>
      <p:sp>
        <p:nvSpPr>
          <p:cNvPr id="26" name="">
            <a:extLst xmlns:a="http://schemas.openxmlformats.org/drawingml/2006/main">
              <a:ext uri="{FF2B5EF4-FFF2-40B4-BE49-F238E27FC236}">
                <a16:creationId xmlns:a16="http://schemas.microsoft.com/office/drawing/2014/main" id="{D73C165D-DAFC-4D82-9212-F0D3216527F1}"/>
              </a:ext>
            </a:extLst>
          </p:cNvPr>
          <p:cNvSpPr>
            <a:spLocks xmlns:a="http://schemas.openxmlformats.org/drawingml/2006/main" noGrp="1"/>
          </p:cNvSpPr>
          <p:nvPr/>
        </p:nvSpPr>
        <p:spPr>
          <a:xfrm xmlns:a="http://schemas.openxmlformats.org/drawingml/2006/main">
            <a:off x="742950" y="44291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A1F5C"/>
                </a:solidFill>
              </a:defRPr>
            </a:pPr>
            <a:r>
              <a:rPr sz="900" b="0">
                <a:solidFill>
                  <a:srgbClr val="7A1F5C"/>
                </a:solidFill>
              </a:rPr>
              <a:t>ntrs.nasa.gov/citations/20140010623</a:t>
            </a:r>
          </a:p>
        </p:txBody>
      </p:sp>
      <p:sp>
        <p:nvSpPr>
          <p:cNvPr id="27" name="">
            <a:extLst xmlns:a="http://schemas.openxmlformats.org/drawingml/2006/main">
              <a:ext uri="{FF2B5EF4-FFF2-40B4-BE49-F238E27FC236}">
                <a16:creationId xmlns:a16="http://schemas.microsoft.com/office/drawing/2014/main" id="{62D9B214-B1A7-4726-AE51-312CD9A6F0C2}"/>
              </a:ext>
            </a:extLst>
          </p:cNvPr>
          <p:cNvSpPr>
            <a:spLocks xmlns:a="http://schemas.openxmlformats.org/drawingml/2006/main" noGrp="1"/>
          </p:cNvSpPr>
          <p:nvPr/>
        </p:nvSpPr>
        <p:spPr>
          <a:xfrm xmlns:a="http://schemas.openxmlformats.org/drawingml/2006/main">
            <a:off x="742950" y="4743450"/>
            <a:ext cx="47625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28" name="">
            <a:extLst xmlns:a="http://schemas.openxmlformats.org/drawingml/2006/main">
              <a:ext uri="{FF2B5EF4-FFF2-40B4-BE49-F238E27FC236}">
                <a16:creationId xmlns:a16="http://schemas.microsoft.com/office/drawing/2014/main" id="{9D6AD9DD-708E-452B-BA15-C595C0655BDC}"/>
              </a:ext>
            </a:extLst>
          </p:cNvPr>
          <p:cNvSpPr>
            <a:spLocks xmlns:a="http://schemas.openxmlformats.org/drawingml/2006/main" noGrp="1"/>
          </p:cNvSpPr>
          <p:nvPr/>
        </p:nvSpPr>
        <p:spPr>
          <a:xfrm xmlns:a="http://schemas.openxmlformats.org/drawingml/2006/main">
            <a:off x="6267450" y="41529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11C27"/>
                </a:solidFill>
              </a:defRPr>
            </a:pPr>
            <a:r>
              <a:rPr sz="1125" b="1">
                <a:solidFill>
                  <a:srgbClr val="211C27"/>
                </a:solidFill>
              </a:rPr>
              <a:t>Active feature acquisition</a:t>
            </a:r>
          </a:p>
        </p:txBody>
      </p:sp>
      <p:sp>
        <p:nvSpPr>
          <p:cNvPr id="29" name="">
            <a:extLst xmlns:a="http://schemas.openxmlformats.org/drawingml/2006/main">
              <a:ext uri="{FF2B5EF4-FFF2-40B4-BE49-F238E27FC236}">
                <a16:creationId xmlns:a16="http://schemas.microsoft.com/office/drawing/2014/main" id="{D6656141-1DE8-4F71-BDE8-62405E9D8C43}"/>
              </a:ext>
            </a:extLst>
          </p:cNvPr>
          <p:cNvSpPr>
            <a:spLocks xmlns:a="http://schemas.openxmlformats.org/drawingml/2006/main" noGrp="1"/>
          </p:cNvSpPr>
          <p:nvPr/>
        </p:nvSpPr>
        <p:spPr>
          <a:xfrm xmlns:a="http://schemas.openxmlformats.org/drawingml/2006/main">
            <a:off x="6267450" y="44291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A1F5C"/>
                </a:solidFill>
              </a:defRPr>
            </a:pPr>
            <a:r>
              <a:rPr sz="900" b="0">
                <a:solidFill>
                  <a:srgbClr val="7A1F5C"/>
                </a:solidFill>
              </a:rPr>
              <a:t>research.ibm.com/projects/active-feature-acquisition</a:t>
            </a:r>
          </a:p>
        </p:txBody>
      </p:sp>
      <p:sp>
        <p:nvSpPr>
          <p:cNvPr id="30" name="">
            <a:extLst xmlns:a="http://schemas.openxmlformats.org/drawingml/2006/main">
              <a:ext uri="{FF2B5EF4-FFF2-40B4-BE49-F238E27FC236}">
                <a16:creationId xmlns:a16="http://schemas.microsoft.com/office/drawing/2014/main" id="{4FA24B2B-99C2-4651-85C2-D51DD52DABF6}"/>
              </a:ext>
            </a:extLst>
          </p:cNvPr>
          <p:cNvSpPr>
            <a:spLocks xmlns:a="http://schemas.openxmlformats.org/drawingml/2006/main" noGrp="1"/>
          </p:cNvSpPr>
          <p:nvPr/>
        </p:nvSpPr>
        <p:spPr>
          <a:xfrm xmlns:a="http://schemas.openxmlformats.org/drawingml/2006/main">
            <a:off x="6267450" y="4743450"/>
            <a:ext cx="47625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31" name="">
            <a:extLst xmlns:a="http://schemas.openxmlformats.org/drawingml/2006/main">
              <a:ext uri="{FF2B5EF4-FFF2-40B4-BE49-F238E27FC236}">
                <a16:creationId xmlns:a16="http://schemas.microsoft.com/office/drawing/2014/main" id="{FF89CBF7-4197-4D4B-AB34-985C997088DB}"/>
              </a:ext>
            </a:extLst>
          </p:cNvPr>
          <p:cNvSpPr>
            <a:spLocks xmlns:a="http://schemas.openxmlformats.org/drawingml/2006/main" noGrp="1"/>
          </p:cNvSpPr>
          <p:nvPr/>
        </p:nvSpPr>
        <p:spPr>
          <a:xfrm xmlns:a="http://schemas.openxmlformats.org/drawingml/2006/main">
            <a:off x="742950" y="49339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11C27"/>
                </a:solidFill>
              </a:defRPr>
            </a:pPr>
            <a:r>
              <a:rPr sz="1125" b="1">
                <a:solidFill>
                  <a:srgbClr val="211C27"/>
                </a:solidFill>
              </a:rPr>
              <a:t>MIMIC-IV demo</a:t>
            </a:r>
          </a:p>
        </p:txBody>
      </p:sp>
      <p:sp>
        <p:nvSpPr>
          <p:cNvPr id="32" name="">
            <a:extLst xmlns:a="http://schemas.openxmlformats.org/drawingml/2006/main">
              <a:ext uri="{FF2B5EF4-FFF2-40B4-BE49-F238E27FC236}">
                <a16:creationId xmlns:a16="http://schemas.microsoft.com/office/drawing/2014/main" id="{807FE5F7-C9B0-4EA2-A87B-AC0B9E2DFE19}"/>
              </a:ext>
            </a:extLst>
          </p:cNvPr>
          <p:cNvSpPr>
            <a:spLocks xmlns:a="http://schemas.openxmlformats.org/drawingml/2006/main" noGrp="1"/>
          </p:cNvSpPr>
          <p:nvPr/>
        </p:nvSpPr>
        <p:spPr>
          <a:xfrm xmlns:a="http://schemas.openxmlformats.org/drawingml/2006/main">
            <a:off x="742950" y="52101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A1F5C"/>
                </a:solidFill>
              </a:defRPr>
            </a:pPr>
            <a:r>
              <a:rPr sz="900" b="0">
                <a:solidFill>
                  <a:srgbClr val="7A1F5C"/>
                </a:solidFill>
              </a:rPr>
              <a:t>physionet.org/content/mimic-iv-demo/2.2</a:t>
            </a:r>
          </a:p>
        </p:txBody>
      </p:sp>
      <p:sp>
        <p:nvSpPr>
          <p:cNvPr id="33" name="">
            <a:extLst xmlns:a="http://schemas.openxmlformats.org/drawingml/2006/main">
              <a:ext uri="{FF2B5EF4-FFF2-40B4-BE49-F238E27FC236}">
                <a16:creationId xmlns:a16="http://schemas.microsoft.com/office/drawing/2014/main" id="{AFCDB1FC-784F-4A59-82FA-164532A26A7D}"/>
              </a:ext>
            </a:extLst>
          </p:cNvPr>
          <p:cNvSpPr>
            <a:spLocks xmlns:a="http://schemas.openxmlformats.org/drawingml/2006/main" noGrp="1"/>
          </p:cNvSpPr>
          <p:nvPr/>
        </p:nvSpPr>
        <p:spPr>
          <a:xfrm xmlns:a="http://schemas.openxmlformats.org/drawingml/2006/main">
            <a:off x="742950" y="5524500"/>
            <a:ext cx="47625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
        <p:nvSpPr>
          <p:cNvPr id="34" name="">
            <a:extLst xmlns:a="http://schemas.openxmlformats.org/drawingml/2006/main">
              <a:ext uri="{FF2B5EF4-FFF2-40B4-BE49-F238E27FC236}">
                <a16:creationId xmlns:a16="http://schemas.microsoft.com/office/drawing/2014/main" id="{77AED25B-AC1D-44E5-A20F-A6E527C6C83C}"/>
              </a:ext>
            </a:extLst>
          </p:cNvPr>
          <p:cNvSpPr>
            <a:spLocks xmlns:a="http://schemas.openxmlformats.org/drawingml/2006/main" noGrp="1"/>
          </p:cNvSpPr>
          <p:nvPr/>
        </p:nvSpPr>
        <p:spPr>
          <a:xfrm xmlns:a="http://schemas.openxmlformats.org/drawingml/2006/main">
            <a:off x="6267450" y="49339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211C27"/>
                </a:solidFill>
              </a:defRPr>
            </a:pPr>
            <a:r>
              <a:rPr sz="1125" b="1">
                <a:solidFill>
                  <a:srgbClr val="211C27"/>
                </a:solidFill>
              </a:rPr>
              <a:t>Official competition page</a:t>
            </a:r>
          </a:p>
        </p:txBody>
      </p:sp>
      <p:sp>
        <p:nvSpPr>
          <p:cNvPr id="35" name="">
            <a:extLst xmlns:a="http://schemas.openxmlformats.org/drawingml/2006/main">
              <a:ext uri="{FF2B5EF4-FFF2-40B4-BE49-F238E27FC236}">
                <a16:creationId xmlns:a16="http://schemas.microsoft.com/office/drawing/2014/main" id="{DC539CD7-1ECC-479D-B5CB-FE14B49ACFAA}"/>
              </a:ext>
            </a:extLst>
          </p:cNvPr>
          <p:cNvSpPr>
            <a:spLocks xmlns:a="http://schemas.openxmlformats.org/drawingml/2006/main" noGrp="1"/>
          </p:cNvSpPr>
          <p:nvPr/>
        </p:nvSpPr>
        <p:spPr>
          <a:xfrm xmlns:a="http://schemas.openxmlformats.org/drawingml/2006/main">
            <a:off x="6267450" y="52101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7A1F5C"/>
                </a:solidFill>
              </a:defRPr>
            </a:pPr>
            <a:r>
              <a:rPr sz="900" b="0">
                <a:solidFill>
                  <a:srgbClr val="7A1F5C"/>
                </a:solidFill>
              </a:rPr>
              <a:t>unstop.com/.../accenture-innovation-challenge-2026...</a:t>
            </a:r>
          </a:p>
        </p:txBody>
      </p:sp>
      <p:sp>
        <p:nvSpPr>
          <p:cNvPr id="36" name="">
            <a:extLst xmlns:a="http://schemas.openxmlformats.org/drawingml/2006/main">
              <a:ext uri="{FF2B5EF4-FFF2-40B4-BE49-F238E27FC236}">
                <a16:creationId xmlns:a16="http://schemas.microsoft.com/office/drawing/2014/main" id="{138A5D2C-4723-4375-89A6-338B7C87449D}"/>
              </a:ext>
            </a:extLst>
          </p:cNvPr>
          <p:cNvSpPr>
            <a:spLocks xmlns:a="http://schemas.openxmlformats.org/drawingml/2006/main" noGrp="1"/>
          </p:cNvSpPr>
          <p:nvPr/>
        </p:nvSpPr>
        <p:spPr>
          <a:xfrm xmlns:a="http://schemas.openxmlformats.org/drawingml/2006/main">
            <a:off x="6267450" y="5524500"/>
            <a:ext cx="4762500" cy="0"/>
          </a:xfrm>
          <a:prstGeom xmlns:a="http://schemas.openxmlformats.org/drawingml/2006/main" prst="line">
            <a:avLst/>
          </a:prstGeom>
          <a:noFill xmlns:a="http://schemas.openxmlformats.org/drawingml/2006/main"/>
          <a:ln xmlns:a="http://schemas.openxmlformats.org/drawingml/2006/main" w="9525">
            <a:solidFill>
              <a:srgbClr val="E5DFE5"/>
            </a:solidFill>
            <a:prstDash val="solid"/>
          </a:ln>
        </p:spPr>
      </p:sp>
    </p:spTree>
    <p:extLst>
      <p:ext uri="{BB962C8B-B14F-4D97-AF65-F5344CB8AC3E}">
        <p14:creationId xmlns:p14="http://schemas.microsoft.com/office/powerpoint/2010/main" val="518977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2026-08-22T08:11:48.7430000Z</dcterms:created>
  <dcterms:modified xsi:type="dcterms:W3CDTF">2026-08-22T08:11:48.7440000Z</dcterms:modified>
</coreProperties>
</file>